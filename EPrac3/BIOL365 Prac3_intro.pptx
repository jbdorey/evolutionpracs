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419" r:id="rId2"/>
    <p:sldId id="429" r:id="rId3"/>
    <p:sldId id="420" r:id="rId4"/>
    <p:sldId id="421" r:id="rId5"/>
    <p:sldId id="422" r:id="rId6"/>
    <p:sldId id="423" r:id="rId7"/>
    <p:sldId id="424" r:id="rId8"/>
    <p:sldId id="425" r:id="rId9"/>
    <p:sldId id="426" r:id="rId10"/>
    <p:sldId id="427" r:id="rId11"/>
    <p:sldId id="428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B21F"/>
    <a:srgbClr val="BDA0E7"/>
    <a:srgbClr val="E3F3D1"/>
    <a:srgbClr val="F2D8BC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3" autoAdjust="0"/>
    <p:restoredTop sz="93562" autoAdjust="0"/>
  </p:normalViewPr>
  <p:slideViewPr>
    <p:cSldViewPr>
      <p:cViewPr varScale="1">
        <p:scale>
          <a:sx n="119" d="100"/>
          <a:sy n="119" d="100"/>
        </p:scale>
        <p:origin x="195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E3E860-F498-4C2D-BF82-4BB6A34F4482}" type="datetimeFigureOut">
              <a:rPr lang="en-AU" smtClean="0"/>
              <a:pPr/>
              <a:t>15/8/2025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A4A7FC-93D4-471E-AF44-B8576D30FAFC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35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BF1ACB0-3C65-F547-8B15-5A68E23AECEB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A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601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DF9C9-A483-8000-FCF3-6D19336C88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1045029"/>
          </a:xfrm>
          <a:gradFill>
            <a:gsLst>
              <a:gs pos="100000">
                <a:schemeClr val="bg1"/>
              </a:gs>
              <a:gs pos="73000">
                <a:schemeClr val="bg1">
                  <a:lumMod val="95000"/>
                </a:schemeClr>
              </a:gs>
            </a:gsLst>
            <a:lin ang="5400000" scaled="1"/>
          </a:gradFill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83FEE1-9FA9-43C8-0361-4A4389F5B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1282536"/>
            <a:ext cx="6858000" cy="1045029"/>
          </a:xfrm>
        </p:spPr>
        <p:txBody>
          <a:bodyPr>
            <a:normAutofit/>
          </a:bodyPr>
          <a:lstStyle>
            <a:lvl1pPr marL="0" indent="0" algn="ctr">
              <a:buNone/>
              <a:defRPr sz="33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5D074-8FEB-6FD9-370A-3CE65B9B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81D84-477D-E7C4-06DA-580D6A82C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5224F6-AFB9-C22C-E5B3-CAA382A5F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891629-96AF-DE34-AF93-C8E3F5ADA180}"/>
              </a:ext>
            </a:extLst>
          </p:cNvPr>
          <p:cNvSpPr txBox="1"/>
          <p:nvPr userDrawn="1"/>
        </p:nvSpPr>
        <p:spPr>
          <a:xfrm>
            <a:off x="2686050" y="5355771"/>
            <a:ext cx="37719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100" dirty="0"/>
              <a:t>Dr James Dorey</a:t>
            </a:r>
          </a:p>
        </p:txBody>
      </p:sp>
    </p:spTree>
    <p:extLst>
      <p:ext uri="{BB962C8B-B14F-4D97-AF65-F5344CB8AC3E}">
        <p14:creationId xmlns:p14="http://schemas.microsoft.com/office/powerpoint/2010/main" val="426018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E600F-1D0E-64FA-CB94-D8DA7D417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5EDEF-C97C-77A3-A3E6-7CE10CA5D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40EE7-792A-F6C4-7493-2FE7D9F3A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E9998-974E-D8AD-81C5-4482B4232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6A1F-D2DE-343F-ECAD-5A9A15D68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3043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D344A-1493-3ADA-D704-D0788E40F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6E5CE-3620-C57A-21F5-4A0F78188D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2F182-08AF-8BBF-2B3E-8DC91FCB3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87F78-3A7B-A6B1-6D48-000730EF8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03750-D14F-86D7-2DFA-7D7DFC8E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511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C98C4-98EE-A15A-1BDD-E37A7965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1EF52-C0C5-F6A9-319F-275348884F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4905D-68EB-DFC3-C2C7-5F676C049B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F5BD9-1D81-EC3D-62DD-9EFFE196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C4DD7-C57E-F6C6-FD17-0BB82596A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92267-857E-B2E5-AD88-AB11396FB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8990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5E627-DE1F-8A6E-13D6-95D46A490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13B15-4B1F-957D-0960-4F74078C7B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55CDD3-4F3F-8252-E3D1-7EF449C9D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9CF13E-C5A3-0270-73CF-A1F37407FD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C3340F-403E-9A36-7D19-104AFBE3F6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421B93-4814-28B5-3ACC-1F500CC31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CDC5F9-0A25-61DE-CEA4-3C7CEE425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CA25C4-3352-A451-4B3C-0A074A0FE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5080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DF222-FC80-AD82-4C69-6445AFE6F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03087F-C0BB-DA74-6102-C34973A03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1B2FCF-1271-3A09-41A4-F28A87527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4931C-A30F-0D87-0E41-F8AA77C75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6975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ED6194-A6A8-6D85-A927-CCCBD84A3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31830-E2E4-0486-78AA-CD331D10A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CC9C7-A171-282C-A071-9CE4D28DB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31683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FE9EF-D566-E38C-C8BA-FC4429EBF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B433C-C21F-1164-0A8E-45500B339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AB22ED-679E-1AE2-75C6-A6FF613A83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5B5E69-74E8-6456-2A40-E88D9CBBA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AAC898-4656-9007-2717-770B78BA3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F363A-2F33-9662-5CD8-AF0778C92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3489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3B445-CF30-FFAA-3CAD-0ABD2C7F9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581D7-FE45-31C3-8359-889F0FA48F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520484-C4B2-9053-159A-AC28BCF09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AB345-FFFB-4407-6179-B0216786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4334C-A258-3F0C-8434-0D9658996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F2953A-E046-48A7-7E5A-49452714B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5740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69427-D8D5-E26D-FAB8-6EDC56B47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989954-23B8-49ED-E59A-D57C908C8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8CB85-2C64-0E54-381F-89BAD677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375B0-98F3-9D7F-3A90-2F42022D0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4BCF1-A4DC-9470-DE00-9C5F435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9331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8B2892-251A-96A8-BEA9-F24F4166B8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FFD8B7-279E-BC01-64DF-F4F382CB5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7E3AB-4FD5-3D2D-5228-272D71061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6E4D0-0083-5082-B4F3-A27A1E5F0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45CC8-AF07-A4C8-CA56-764CAEA77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616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&amp; image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55922" y="2537640"/>
            <a:ext cx="4010526" cy="3900593"/>
          </a:xfrm>
        </p:spPr>
        <p:txBody>
          <a:bodyPr>
            <a:normAutofit/>
          </a:bodyPr>
          <a:lstStyle>
            <a:lvl1pPr>
              <a:defRPr sz="1200">
                <a:solidFill>
                  <a:schemeClr val="accent3"/>
                </a:solidFill>
              </a:defRPr>
            </a:lvl1pPr>
            <a:lvl2pPr>
              <a:defRPr sz="1200">
                <a:solidFill>
                  <a:schemeClr val="accent3"/>
                </a:solidFill>
              </a:defRPr>
            </a:lvl2pPr>
            <a:lvl3pPr>
              <a:defRPr sz="1200">
                <a:solidFill>
                  <a:schemeClr val="accent3"/>
                </a:solidFill>
              </a:defRPr>
            </a:lvl3pPr>
            <a:lvl4pPr>
              <a:defRPr sz="1200">
                <a:solidFill>
                  <a:schemeClr val="accent3"/>
                </a:solidFill>
              </a:defRPr>
            </a:lvl4pPr>
            <a:lvl5pPr>
              <a:defRPr sz="1200">
                <a:solidFill>
                  <a:schemeClr val="accent3"/>
                </a:solidFill>
              </a:defRPr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55921" y="457202"/>
            <a:ext cx="8160621" cy="783389"/>
          </a:xfrm>
        </p:spPr>
        <p:txBody>
          <a:bodyPr anchor="b">
            <a:normAutofit/>
          </a:bodyPr>
          <a:lstStyle>
            <a:lvl1pPr>
              <a:defRPr sz="21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3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355921" y="1262145"/>
            <a:ext cx="8160620" cy="781552"/>
          </a:xfrm>
        </p:spPr>
        <p:txBody>
          <a:bodyPr>
            <a:normAutofit/>
          </a:bodyPr>
          <a:lstStyle>
            <a:lvl1pPr marL="0" indent="0">
              <a:buNone/>
              <a:defRPr sz="1050" b="1">
                <a:solidFill>
                  <a:schemeClr val="accent1"/>
                </a:solidFill>
              </a:defRPr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50719949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727970-D282-B9A9-602B-3A3B1C3DE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256"/>
            <a:ext cx="7886700" cy="1145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46B0AD-AD7F-1DE3-03B6-761E210C2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7D071-9066-31B8-0905-D0C7A410CB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85FED-E5C6-2640-857E-7DCFF39350D1}" type="datetimeFigureOut">
              <a:rPr lang="en-AU" smtClean="0"/>
              <a:t>15/8/2025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69345-1EDC-7506-8E6A-F698587ED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4A4FD-5724-EF9B-5F6A-49C7873D9F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62B4D-0541-7043-9EA4-25F1D3BAEAE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2452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9579B9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rgbClr val="AF90D8"/>
        </a:buClr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5DC184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F7D684"/>
        </a:buClr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8F798D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51810B-DC30-3BB9-1C03-7900884A04F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9143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5AFE40-84D2-8688-B940-274FAF8AE4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214"/>
            <a:ext cx="9144000" cy="783772"/>
          </a:xfrm>
          <a:solidFill>
            <a:schemeClr val="tx1">
              <a:alpha val="52597"/>
            </a:schemeClr>
          </a:solidFill>
        </p:spPr>
        <p:txBody>
          <a:bodyPr>
            <a:normAutofit fontScale="90000"/>
          </a:bodyPr>
          <a:lstStyle/>
          <a:p>
            <a:r>
              <a:rPr lang="en-AU" b="1" dirty="0">
                <a:solidFill>
                  <a:schemeClr val="bg1"/>
                </a:solidFill>
              </a:rPr>
              <a:t>BIOL365: Marine and Terrestrial Ecology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886DAD-D7A2-C7B1-6D84-AD445B741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47" y="838772"/>
            <a:ext cx="7686303" cy="1011300"/>
          </a:xfrm>
          <a:prstGeom prst="roundRect">
            <a:avLst/>
          </a:prstGeom>
          <a:solidFill>
            <a:schemeClr val="bg1">
              <a:alpha val="62056"/>
            </a:schemeClr>
          </a:solidFill>
        </p:spPr>
        <p:txBody>
          <a:bodyPr>
            <a:noAutofit/>
          </a:bodyPr>
          <a:lstStyle/>
          <a:p>
            <a:r>
              <a:rPr lang="en-AU" b="1" dirty="0"/>
              <a:t>Practical 3: Genetic alignments and phylogenies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83DBAC-8D4D-001B-D417-2BE34F1BB7DD}"/>
              </a:ext>
            </a:extLst>
          </p:cNvPr>
          <p:cNvSpPr txBox="1"/>
          <p:nvPr/>
        </p:nvSpPr>
        <p:spPr>
          <a:xfrm>
            <a:off x="1547662" y="5880460"/>
            <a:ext cx="6048672" cy="459700"/>
          </a:xfrm>
          <a:prstGeom prst="round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 defTabSz="685800"/>
            <a:r>
              <a:rPr lang="en-AU" sz="2100" b="1" dirty="0">
                <a:solidFill>
                  <a:prstClr val="black"/>
                </a:solidFill>
                <a:latin typeface="Aptos" panose="02110004020202020204"/>
              </a:rPr>
              <a:t>James Dorey, Damien </a:t>
            </a:r>
            <a:r>
              <a:rPr lang="en-AU" sz="2100" b="1" dirty="0" err="1">
                <a:solidFill>
                  <a:prstClr val="black"/>
                </a:solidFill>
                <a:latin typeface="Aptos" panose="02110004020202020204"/>
              </a:rPr>
              <a:t>Esquerré</a:t>
            </a:r>
            <a:r>
              <a:rPr lang="en-AU" sz="2100" b="1" dirty="0">
                <a:solidFill>
                  <a:prstClr val="black"/>
                </a:solidFill>
                <a:latin typeface="Aptos" panose="02110004020202020204"/>
              </a:rPr>
              <a:t>, and Phil Byrne</a:t>
            </a:r>
          </a:p>
        </p:txBody>
      </p:sp>
    </p:spTree>
    <p:extLst>
      <p:ext uri="{BB962C8B-B14F-4D97-AF65-F5344CB8AC3E}">
        <p14:creationId xmlns:p14="http://schemas.microsoft.com/office/powerpoint/2010/main" val="577447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746F7-38B4-6580-4599-8CEA2DCD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39E0F-7830-0572-77F0-0040927BA1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a — 10%</a:t>
            </a:r>
          </a:p>
          <a:p>
            <a:r>
              <a:rPr lang="en-US" dirty="0"/>
              <a:t>Part b — 10%</a:t>
            </a:r>
          </a:p>
          <a:p>
            <a:r>
              <a:rPr lang="en-US" dirty="0"/>
              <a:t>Sorry about the different on the Subject Outline, please disregard that.</a:t>
            </a:r>
          </a:p>
          <a:p>
            <a:r>
              <a:rPr lang="en-US" dirty="0"/>
              <a:t>Week extension for part a — Friday 5</a:t>
            </a:r>
            <a:r>
              <a:rPr lang="en-US" baseline="30000" dirty="0"/>
              <a:t>th</a:t>
            </a:r>
            <a:r>
              <a:rPr lang="en-US" dirty="0"/>
              <a:t> of September (NOT 29</a:t>
            </a:r>
            <a:r>
              <a:rPr lang="en-US" baseline="30000" dirty="0"/>
              <a:t>th</a:t>
            </a:r>
            <a:r>
              <a:rPr lang="en-US" dirty="0"/>
              <a:t> of August)</a:t>
            </a:r>
          </a:p>
        </p:txBody>
      </p:sp>
    </p:spTree>
    <p:extLst>
      <p:ext uri="{BB962C8B-B14F-4D97-AF65-F5344CB8AC3E}">
        <p14:creationId xmlns:p14="http://schemas.microsoft.com/office/powerpoint/2010/main" val="2881217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flower&#10;&#10;Description automatically generated">
            <a:extLst>
              <a:ext uri="{FF2B5EF4-FFF2-40B4-BE49-F238E27FC236}">
                <a16:creationId xmlns:a16="http://schemas.microsoft.com/office/drawing/2014/main" id="{8521709B-8B3C-565C-D4A4-BDB0AA9FC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9812" y="2996952"/>
            <a:ext cx="5764188" cy="38427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89310C-5262-F021-43BA-A42867577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to expect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4919E-AFAF-C324-8610-1D0C3106F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AU" dirty="0"/>
              <a:t>Script preparation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Prepare GenBank data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Filter sequences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Align sequences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Make a phylogeny</a:t>
            </a:r>
          </a:p>
          <a:p>
            <a:pPr marL="457200" indent="-457200">
              <a:buFont typeface="+mj-lt"/>
              <a:buAutoNum type="arabicPeriod"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839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Script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Usually, you will do this every time you open a project</a:t>
            </a:r>
          </a:p>
          <a:p>
            <a:r>
              <a:rPr lang="en-AU" dirty="0"/>
              <a:t>Consider good practice and what’s easiest in the long run</a:t>
            </a:r>
          </a:p>
          <a:p>
            <a:pPr lvl="1"/>
            <a:r>
              <a:rPr lang="en-AU" dirty="0"/>
              <a:t>Questions about HOW you set your working directory</a:t>
            </a:r>
          </a:p>
          <a:p>
            <a:endParaRPr lang="en-AU" dirty="0"/>
          </a:p>
        </p:txBody>
      </p:sp>
      <p:pic>
        <p:nvPicPr>
          <p:cNvPr id="5" name="Picture 4" descr="A yellow and black butterfly&#10;&#10;Description automatically generated">
            <a:extLst>
              <a:ext uri="{FF2B5EF4-FFF2-40B4-BE49-F238E27FC236}">
                <a16:creationId xmlns:a16="http://schemas.microsoft.com/office/drawing/2014/main" id="{9DFB0B9B-5FBA-3E34-BD46-F15CB7334A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3238602"/>
            <a:ext cx="5429096" cy="3619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54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rown and white butterfly&#10;&#10;Description automatically generated">
            <a:extLst>
              <a:ext uri="{FF2B5EF4-FFF2-40B4-BE49-F238E27FC236}">
                <a16:creationId xmlns:a16="http://schemas.microsoft.com/office/drawing/2014/main" id="{B33BB728-E4E5-354A-1CB1-99052BCB7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90070">
            <a:off x="5239146" y="3934864"/>
            <a:ext cx="4784576" cy="31897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GenBank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You will use my finch data version from Website or Moodle</a:t>
            </a:r>
          </a:p>
          <a:p>
            <a:pPr lvl="1"/>
            <a:r>
              <a:rPr lang="en-AU" dirty="0"/>
              <a:t>We will also download an </a:t>
            </a:r>
            <a:r>
              <a:rPr lang="en-AU" b="1" dirty="0"/>
              <a:t>OUTGROUP </a:t>
            </a:r>
            <a:r>
              <a:rPr lang="en-AU" dirty="0"/>
              <a:t>species </a:t>
            </a:r>
          </a:p>
          <a:p>
            <a:pPr lvl="1"/>
            <a:r>
              <a:rPr lang="en-AU" dirty="0"/>
              <a:t>This helps us “root” our phylogenetic tree and better-determine the relationships within our clade of interest</a:t>
            </a:r>
          </a:p>
        </p:txBody>
      </p:sp>
    </p:spTree>
    <p:extLst>
      <p:ext uri="{BB962C8B-B14F-4D97-AF65-F5344CB8AC3E}">
        <p14:creationId xmlns:p14="http://schemas.microsoft.com/office/powerpoint/2010/main" val="248914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butterfly&#10;&#10;Description automatically generated">
            <a:extLst>
              <a:ext uri="{FF2B5EF4-FFF2-40B4-BE49-F238E27FC236}">
                <a16:creationId xmlns:a16="http://schemas.microsoft.com/office/drawing/2014/main" id="{50690F56-1A1B-7251-39E5-E373E2C09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70726">
            <a:off x="-491454" y="4311366"/>
            <a:ext cx="4712568" cy="314171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Filter 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Filter sequences to simplify our analyses (one individual per species)</a:t>
            </a:r>
          </a:p>
          <a:p>
            <a:pPr lvl="1"/>
            <a:r>
              <a:rPr lang="en-AU" dirty="0"/>
              <a:t>There will be data management along the way</a:t>
            </a:r>
          </a:p>
          <a:p>
            <a:pPr lvl="1"/>
            <a:r>
              <a:rPr lang="en-AU" dirty="0"/>
              <a:t>You can almost read </a:t>
            </a:r>
            <a:r>
              <a:rPr lang="en-AU" i="1" dirty="0" err="1"/>
              <a:t>tidyverse</a:t>
            </a:r>
            <a:r>
              <a:rPr lang="en-AU" dirty="0"/>
              <a:t> code like a flowing sentence</a:t>
            </a:r>
          </a:p>
          <a:p>
            <a:pPr lvl="1"/>
            <a:r>
              <a:rPr lang="en-AU" dirty="0"/>
              <a:t>Much of this code is useful, but you should remember WHAT you can do and decide if you want to use if for your assignment </a:t>
            </a:r>
          </a:p>
          <a:p>
            <a:pPr lvl="1"/>
            <a:endParaRPr lang="en-AU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B1F08A-F2E8-A17A-7DC5-6FF81D13B3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2603" y="5859077"/>
            <a:ext cx="4788746" cy="9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622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butterfly&#10;&#10;Description automatically generated">
            <a:extLst>
              <a:ext uri="{FF2B5EF4-FFF2-40B4-BE49-F238E27FC236}">
                <a16:creationId xmlns:a16="http://schemas.microsoft.com/office/drawing/2014/main" id="{356E4AAA-E568-2625-E0B4-0B206EF6D3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5512">
            <a:off x="-199895" y="4496036"/>
            <a:ext cx="3056907" cy="20379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0630DE-6BC6-42DD-4C6C-58BECC48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Align 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535E6-C39A-E5A1-3B13-4929813B8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Sequences don’t come aligned so that they are identical by descent (</a:t>
            </a:r>
            <a:r>
              <a:rPr lang="en-AU" b="1" dirty="0"/>
              <a:t>homologous</a:t>
            </a:r>
            <a:r>
              <a:rPr lang="en-AU" dirty="0"/>
              <a:t>)</a:t>
            </a:r>
          </a:p>
          <a:p>
            <a:pPr lvl="1"/>
            <a:r>
              <a:rPr lang="en-AU" dirty="0"/>
              <a:t>Most geneticists have fancy programs for this… we’ll be simple (and cheap)</a:t>
            </a:r>
          </a:p>
          <a:p>
            <a:pPr lvl="1"/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1ADC69-A295-162B-401D-3137BBC65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3232569"/>
            <a:ext cx="5652120" cy="362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77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tree&#10;&#10;Description automatically generated">
            <a:extLst>
              <a:ext uri="{FF2B5EF4-FFF2-40B4-BE49-F238E27FC236}">
                <a16:creationId xmlns:a16="http://schemas.microsoft.com/office/drawing/2014/main" id="{19E134D0-EAE0-8B0A-27DE-063E7A337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088" y="2204864"/>
            <a:ext cx="3517900" cy="4495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F223FF-9723-3B55-2E32-AC9A12A78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Make a phylogeny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D5C8529-2269-C1CC-DFD0-3ECFC28E3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Use genetic data to examine the patterns of relatedness between individuals</a:t>
            </a:r>
          </a:p>
          <a:p>
            <a:r>
              <a:rPr lang="en-AU" dirty="0"/>
              <a:t>We will use two methods today:</a:t>
            </a:r>
          </a:p>
          <a:p>
            <a:pPr lvl="1"/>
            <a:r>
              <a:rPr lang="en-AU" dirty="0"/>
              <a:t>Distance tree (very simple)</a:t>
            </a:r>
          </a:p>
          <a:p>
            <a:pPr lvl="1"/>
            <a:r>
              <a:rPr lang="en-AU" dirty="0"/>
              <a:t>Maximum likelihood (much more complex)</a:t>
            </a:r>
          </a:p>
          <a:p>
            <a:r>
              <a:rPr lang="en-AU" dirty="0"/>
              <a:t>Model testing (for models of evolution)</a:t>
            </a:r>
          </a:p>
          <a:p>
            <a:r>
              <a:rPr lang="en-AU" dirty="0"/>
              <a:t>Rooting the tree</a:t>
            </a:r>
          </a:p>
        </p:txBody>
      </p:sp>
    </p:spTree>
    <p:extLst>
      <p:ext uri="{BB962C8B-B14F-4D97-AF65-F5344CB8AC3E}">
        <p14:creationId xmlns:p14="http://schemas.microsoft.com/office/powerpoint/2010/main" val="2296980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23FF-9723-3B55-2E32-AC9A12A78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Make a phylogeny</a:t>
            </a:r>
          </a:p>
        </p:txBody>
      </p:sp>
      <p:pic>
        <p:nvPicPr>
          <p:cNvPr id="5" name="Content Placeholder 4" descr="A diagram of a geospatial structure&#10;&#10;Description automatically generated">
            <a:extLst>
              <a:ext uri="{FF2B5EF4-FFF2-40B4-BE49-F238E27FC236}">
                <a16:creationId xmlns:a16="http://schemas.microsoft.com/office/drawing/2014/main" id="{A9474A1D-5336-2A7D-A72D-65362B112C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6603" y="1863595"/>
            <a:ext cx="5563388" cy="4351338"/>
          </a:xfrm>
        </p:spPr>
      </p:pic>
      <p:pic>
        <p:nvPicPr>
          <p:cNvPr id="11" name="Picture 10" descr="A diagram of a tree&#10;&#10;Description automatically generated">
            <a:extLst>
              <a:ext uri="{FF2B5EF4-FFF2-40B4-BE49-F238E27FC236}">
                <a16:creationId xmlns:a16="http://schemas.microsoft.com/office/drawing/2014/main" id="{19E134D0-EAE0-8B0A-27DE-063E7A3377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73" y="1844968"/>
            <a:ext cx="3340694" cy="4269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900C39-53CE-4DB7-13DA-E0593E65EDA7}"/>
              </a:ext>
            </a:extLst>
          </p:cNvPr>
          <p:cNvSpPr txBox="1"/>
          <p:nvPr/>
        </p:nvSpPr>
        <p:spPr>
          <a:xfrm>
            <a:off x="1331640" y="1423686"/>
            <a:ext cx="1285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This week: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343CFF-C264-FB35-5116-65DCA042D9E4}"/>
              </a:ext>
            </a:extLst>
          </p:cNvPr>
          <p:cNvSpPr txBox="1"/>
          <p:nvPr/>
        </p:nvSpPr>
        <p:spPr>
          <a:xfrm>
            <a:off x="5856506" y="1423686"/>
            <a:ext cx="1341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Next week:</a:t>
            </a:r>
          </a:p>
        </p:txBody>
      </p:sp>
    </p:spTree>
    <p:extLst>
      <p:ext uri="{BB962C8B-B14F-4D97-AF65-F5344CB8AC3E}">
        <p14:creationId xmlns:p14="http://schemas.microsoft.com/office/powerpoint/2010/main" val="770546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223FF-9723-3B55-2E32-AC9A12A78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Make a phylogeny</a:t>
            </a:r>
          </a:p>
        </p:txBody>
      </p:sp>
      <p:pic>
        <p:nvPicPr>
          <p:cNvPr id="11" name="Picture 10" descr="A diagram of a tree&#10;&#10;Description automatically generated">
            <a:extLst>
              <a:ext uri="{FF2B5EF4-FFF2-40B4-BE49-F238E27FC236}">
                <a16:creationId xmlns:a16="http://schemas.microsoft.com/office/drawing/2014/main" id="{19E134D0-EAE0-8B0A-27DE-063E7A337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73" y="1844968"/>
            <a:ext cx="3340694" cy="4269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900C39-53CE-4DB7-13DA-E0593E65EDA7}"/>
              </a:ext>
            </a:extLst>
          </p:cNvPr>
          <p:cNvSpPr txBox="1"/>
          <p:nvPr/>
        </p:nvSpPr>
        <p:spPr>
          <a:xfrm>
            <a:off x="1331640" y="1423686"/>
            <a:ext cx="1285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This week: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343CFF-C264-FB35-5116-65DCA042D9E4}"/>
              </a:ext>
            </a:extLst>
          </p:cNvPr>
          <p:cNvSpPr txBox="1"/>
          <p:nvPr/>
        </p:nvSpPr>
        <p:spPr>
          <a:xfrm>
            <a:off x="5856506" y="1423686"/>
            <a:ext cx="1341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Next week:</a:t>
            </a:r>
          </a:p>
        </p:txBody>
      </p:sp>
      <p:pic>
        <p:nvPicPr>
          <p:cNvPr id="9" name="Content Placeholder 8" descr="A diagram of a tree&#10;&#10;Description automatically generated">
            <a:extLst>
              <a:ext uri="{FF2B5EF4-FFF2-40B4-BE49-F238E27FC236}">
                <a16:creationId xmlns:a16="http://schemas.microsoft.com/office/drawing/2014/main" id="{98827668-66ED-B074-D404-B8010E7C91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543" y="1844967"/>
            <a:ext cx="5391259" cy="4269335"/>
          </a:xfrm>
        </p:spPr>
      </p:pic>
    </p:spTree>
    <p:extLst>
      <p:ext uri="{BB962C8B-B14F-4D97-AF65-F5344CB8AC3E}">
        <p14:creationId xmlns:p14="http://schemas.microsoft.com/office/powerpoint/2010/main" val="2625065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494A8-F3D2-EC2B-BFE3-F5FCA9E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Did you finish early?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1057E-205F-833F-A65C-B7BA262FD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AU" dirty="0"/>
              <a:t>Help your neighbour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Get your answers checked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Work on your assignment and seek help or advice (keeping in mind that others doing the </a:t>
            </a:r>
            <a:r>
              <a:rPr lang="en-AU" dirty="0" err="1"/>
              <a:t>prac</a:t>
            </a:r>
            <a:r>
              <a:rPr lang="en-AU" dirty="0"/>
              <a:t> might need more help)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???</a:t>
            </a:r>
          </a:p>
          <a:p>
            <a:pPr marL="457200" indent="-457200">
              <a:buFont typeface="+mj-lt"/>
              <a:buAutoNum type="arabicPeriod"/>
            </a:pPr>
            <a:r>
              <a:rPr lang="en-AU" dirty="0"/>
              <a:t>Okay, fine you can go</a:t>
            </a:r>
          </a:p>
        </p:txBody>
      </p:sp>
      <p:pic>
        <p:nvPicPr>
          <p:cNvPr id="4" name="Picture 3" descr="A close up of a butterfly&#10;&#10;Description automatically generated">
            <a:extLst>
              <a:ext uri="{FF2B5EF4-FFF2-40B4-BE49-F238E27FC236}">
                <a16:creationId xmlns:a16="http://schemas.microsoft.com/office/drawing/2014/main" id="{B797DF5B-6A52-4F31-699A-585269316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5512">
            <a:off x="-199895" y="4496036"/>
            <a:ext cx="3056907" cy="2037938"/>
          </a:xfrm>
          <a:prstGeom prst="rect">
            <a:avLst/>
          </a:prstGeom>
        </p:spPr>
      </p:pic>
      <p:pic>
        <p:nvPicPr>
          <p:cNvPr id="5" name="Picture 4" descr="A brown and white butterfly&#10;&#10;Description automatically generated">
            <a:extLst>
              <a:ext uri="{FF2B5EF4-FFF2-40B4-BE49-F238E27FC236}">
                <a16:creationId xmlns:a16="http://schemas.microsoft.com/office/drawing/2014/main" id="{7396A666-07C9-6E08-8C36-E61DF6B2E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090070">
            <a:off x="5664080" y="4431068"/>
            <a:ext cx="3945429" cy="263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58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loTemplate" id="{47EAE3C8-EEF7-B44B-AA90-67D3BA9F8622}" vid="{075996EB-0C29-FE42-AD65-7D372753E31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6812</TotalTime>
  <Words>346</Words>
  <Application>Microsoft Macintosh PowerPoint</Application>
  <PresentationFormat>On-screen Show (4:3)</PresentationFormat>
  <Paragraphs>50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1_Office Theme</vt:lpstr>
      <vt:lpstr>BIOL365: Marine and Terrestrial Ecology</vt:lpstr>
      <vt:lpstr>Assignment 1 </vt:lpstr>
      <vt:lpstr>What to expect today</vt:lpstr>
      <vt:lpstr>Script preparation</vt:lpstr>
      <vt:lpstr>Prepare GenBank data</vt:lpstr>
      <vt:lpstr>Filter sequences</vt:lpstr>
      <vt:lpstr>Align sequences</vt:lpstr>
      <vt:lpstr>Make a phylogeny</vt:lpstr>
      <vt:lpstr>Make a phylogeny</vt:lpstr>
      <vt:lpstr>Make a phylogeny</vt:lpstr>
      <vt:lpstr>Did you finish early?</vt:lpstr>
    </vt:vector>
  </TitlesOfParts>
  <Company>University of Wollongong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pbyrne</dc:creator>
  <cp:lastModifiedBy>James Dorey</cp:lastModifiedBy>
  <cp:revision>768</cp:revision>
  <dcterms:created xsi:type="dcterms:W3CDTF">2011-05-31T01:37:10Z</dcterms:created>
  <dcterms:modified xsi:type="dcterms:W3CDTF">2025-08-14T22:45:56Z</dcterms:modified>
</cp:coreProperties>
</file>