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5"/>
  </p:notesMasterIdLst>
  <p:sldIdLst>
    <p:sldId id="419" r:id="rId3"/>
    <p:sldId id="256" r:id="rId4"/>
    <p:sldId id="407" r:id="rId5"/>
    <p:sldId id="409" r:id="rId6"/>
    <p:sldId id="410" r:id="rId7"/>
    <p:sldId id="411" r:id="rId8"/>
    <p:sldId id="412" r:id="rId9"/>
    <p:sldId id="415" r:id="rId10"/>
    <p:sldId id="413" r:id="rId11"/>
    <p:sldId id="414" r:id="rId12"/>
    <p:sldId id="416" r:id="rId13"/>
    <p:sldId id="417" r:id="rId14"/>
    <p:sldId id="420" r:id="rId15"/>
    <p:sldId id="408" r:id="rId16"/>
    <p:sldId id="381" r:id="rId17"/>
    <p:sldId id="382" r:id="rId18"/>
    <p:sldId id="385" r:id="rId19"/>
    <p:sldId id="386" r:id="rId20"/>
    <p:sldId id="387" r:id="rId21"/>
    <p:sldId id="388" r:id="rId22"/>
    <p:sldId id="406" r:id="rId23"/>
    <p:sldId id="389" r:id="rId24"/>
    <p:sldId id="390" r:id="rId25"/>
    <p:sldId id="391" r:id="rId26"/>
    <p:sldId id="392" r:id="rId27"/>
    <p:sldId id="393" r:id="rId28"/>
    <p:sldId id="394" r:id="rId29"/>
    <p:sldId id="395" r:id="rId30"/>
    <p:sldId id="421" r:id="rId31"/>
    <p:sldId id="423" r:id="rId32"/>
    <p:sldId id="422" r:id="rId33"/>
    <p:sldId id="400"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F3D1"/>
    <a:srgbClr val="F2D8BC"/>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23" autoAdjust="0"/>
    <p:restoredTop sz="80548" autoAdjust="0"/>
  </p:normalViewPr>
  <p:slideViewPr>
    <p:cSldViewPr>
      <p:cViewPr varScale="1">
        <p:scale>
          <a:sx n="101" d="100"/>
          <a:sy n="101" d="100"/>
        </p:scale>
        <p:origin x="2512"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FE3E860-F498-4C2D-BF82-4BB6A34F4482}" type="datetimeFigureOut">
              <a:rPr lang="en-AU" smtClean="0"/>
              <a:pPr/>
              <a:t>28/7/2026</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4A4A7FC-93D4-471E-AF44-B8576D30FAFC}" type="slidenum">
              <a:rPr lang="en-AU" smtClean="0"/>
              <a:pPr/>
              <a:t>‹#›</a:t>
            </a:fld>
            <a:endParaRPr lang="en-AU"/>
          </a:p>
        </p:txBody>
      </p:sp>
    </p:spTree>
    <p:extLst>
      <p:ext uri="{BB962C8B-B14F-4D97-AF65-F5344CB8AC3E}">
        <p14:creationId xmlns:p14="http://schemas.microsoft.com/office/powerpoint/2010/main" val="394356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F1ACB0-3C65-F547-8B15-5A68E23AECEB}"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6013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We used genetics to describe new species of Fijian </a:t>
            </a:r>
            <a:r>
              <a:rPr lang="en-AU" dirty="0" err="1"/>
              <a:t>Lasiolgossum</a:t>
            </a:r>
            <a:r>
              <a:rPr lang="en-AU" dirty="0"/>
              <a:t> bees that were otherwise cryptic and incredibly difficult to tell apart morphologically</a:t>
            </a:r>
          </a:p>
        </p:txBody>
      </p:sp>
      <p:sp>
        <p:nvSpPr>
          <p:cNvPr id="4" name="Slide Number Placeholder 3"/>
          <p:cNvSpPr>
            <a:spLocks noGrp="1"/>
          </p:cNvSpPr>
          <p:nvPr>
            <p:ph type="sldNum" sz="quarter" idx="5"/>
          </p:nvPr>
        </p:nvSpPr>
        <p:spPr/>
        <p:txBody>
          <a:bodyPr/>
          <a:lstStyle/>
          <a:p>
            <a:fld id="{34A4A7FC-93D4-471E-AF44-B8576D30FAFC}" type="slidenum">
              <a:rPr lang="en-AU" smtClean="0"/>
              <a:pPr/>
              <a:t>6</a:t>
            </a:fld>
            <a:endParaRPr lang="en-AU"/>
          </a:p>
        </p:txBody>
      </p:sp>
    </p:spTree>
    <p:extLst>
      <p:ext uri="{BB962C8B-B14F-4D97-AF65-F5344CB8AC3E}">
        <p14:creationId xmlns:p14="http://schemas.microsoft.com/office/powerpoint/2010/main" val="11067791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We could also use genetics to build phylogenies that showed the relationships between species and then we can use those phylogenies to examine how traits have evolved. In this case, we used geographic location as a </a:t>
            </a:r>
            <a:r>
              <a:rPr lang="en-AU" dirty="0" err="1"/>
              <a:t>triat</a:t>
            </a:r>
            <a:r>
              <a:rPr lang="en-AU" dirty="0"/>
              <a:t> to see where the group might have come from.</a:t>
            </a:r>
          </a:p>
        </p:txBody>
      </p:sp>
      <p:sp>
        <p:nvSpPr>
          <p:cNvPr id="4" name="Slide Number Placeholder 3"/>
          <p:cNvSpPr>
            <a:spLocks noGrp="1"/>
          </p:cNvSpPr>
          <p:nvPr>
            <p:ph type="sldNum" sz="quarter" idx="5"/>
          </p:nvPr>
        </p:nvSpPr>
        <p:spPr/>
        <p:txBody>
          <a:bodyPr/>
          <a:lstStyle/>
          <a:p>
            <a:fld id="{34A4A7FC-93D4-471E-AF44-B8576D30FAFC}" type="slidenum">
              <a:rPr lang="en-AU" smtClean="0"/>
              <a:pPr/>
              <a:t>7</a:t>
            </a:fld>
            <a:endParaRPr lang="en-AU"/>
          </a:p>
        </p:txBody>
      </p:sp>
    </p:spTree>
    <p:extLst>
      <p:ext uri="{BB962C8B-B14F-4D97-AF65-F5344CB8AC3E}">
        <p14:creationId xmlns:p14="http://schemas.microsoft.com/office/powerpoint/2010/main" val="4219641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Similarly with a climatic trait… or using elevation as a proxy for a climatic trait. Showing how the original Fijian Lasioglossum bee is actually a highland specialist and most species have retained that same ancestral trait of thousands of years of evolution.</a:t>
            </a:r>
          </a:p>
        </p:txBody>
      </p:sp>
      <p:sp>
        <p:nvSpPr>
          <p:cNvPr id="4" name="Slide Number Placeholder 3"/>
          <p:cNvSpPr>
            <a:spLocks noGrp="1"/>
          </p:cNvSpPr>
          <p:nvPr>
            <p:ph type="sldNum" sz="quarter" idx="5"/>
          </p:nvPr>
        </p:nvSpPr>
        <p:spPr/>
        <p:txBody>
          <a:bodyPr/>
          <a:lstStyle/>
          <a:p>
            <a:fld id="{34A4A7FC-93D4-471E-AF44-B8576D30FAFC}" type="slidenum">
              <a:rPr lang="en-AU" smtClean="0"/>
              <a:pPr/>
              <a:t>8</a:t>
            </a:fld>
            <a:endParaRPr lang="en-AU"/>
          </a:p>
        </p:txBody>
      </p:sp>
    </p:spTree>
    <p:extLst>
      <p:ext uri="{BB962C8B-B14F-4D97-AF65-F5344CB8AC3E}">
        <p14:creationId xmlns:p14="http://schemas.microsoft.com/office/powerpoint/2010/main" val="18977318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We can also use genetics and phylogenetics to infer how population sizes have changed I </a:t>
            </a:r>
            <a:r>
              <a:rPr lang="en-AU" dirty="0" err="1"/>
              <a:t>nthe</a:t>
            </a:r>
            <a:r>
              <a:rPr lang="en-AU" dirty="0"/>
              <a:t> past. This is extremely powerful as there is no way that we could do this using modern samples and modern ecological methods. We were also able to support our genetic evidence by comparing two islands, Viti </a:t>
            </a:r>
            <a:r>
              <a:rPr lang="en-AU" dirty="0" err="1"/>
              <a:t>Levu</a:t>
            </a:r>
            <a:r>
              <a:rPr lang="en-AU" dirty="0"/>
              <a:t> on the left had lots of ancient human-clearing in the last 3,000 years, whereas Kadavu did not! We can see that population sizes changed in Viti </a:t>
            </a:r>
            <a:r>
              <a:rPr lang="en-AU" dirty="0" err="1"/>
              <a:t>Levu</a:t>
            </a:r>
            <a:r>
              <a:rPr lang="en-AU" dirty="0"/>
              <a:t>, but not in Kadavu.</a:t>
            </a:r>
          </a:p>
        </p:txBody>
      </p:sp>
      <p:sp>
        <p:nvSpPr>
          <p:cNvPr id="4" name="Slide Number Placeholder 3"/>
          <p:cNvSpPr>
            <a:spLocks noGrp="1"/>
          </p:cNvSpPr>
          <p:nvPr>
            <p:ph type="sldNum" sz="quarter" idx="5"/>
          </p:nvPr>
        </p:nvSpPr>
        <p:spPr/>
        <p:txBody>
          <a:bodyPr/>
          <a:lstStyle/>
          <a:p>
            <a:fld id="{34A4A7FC-93D4-471E-AF44-B8576D30FAFC}" type="slidenum">
              <a:rPr lang="en-AU" smtClean="0"/>
              <a:pPr/>
              <a:t>9</a:t>
            </a:fld>
            <a:endParaRPr lang="en-AU"/>
          </a:p>
        </p:txBody>
      </p:sp>
    </p:spTree>
    <p:extLst>
      <p:ext uri="{BB962C8B-B14F-4D97-AF65-F5344CB8AC3E}">
        <p14:creationId xmlns:p14="http://schemas.microsoft.com/office/powerpoint/2010/main" val="3444569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5E54E8A4-552B-4E06-8CBF-D7F5DBFD49F6}" type="datetimeFigureOut">
              <a:rPr lang="en-AU" smtClean="0"/>
              <a:pPr/>
              <a:t>28/7/2026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538D9E0-DFDE-4DB8-973D-24A4997ED404}" type="slidenum">
              <a:rPr lang="en-AU" smtClean="0"/>
              <a:pPr/>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5E54E8A4-552B-4E06-8CBF-D7F5DBFD49F6}" type="datetimeFigureOut">
              <a:rPr lang="en-AU" smtClean="0"/>
              <a:pPr/>
              <a:t>28/7/2026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538D9E0-DFDE-4DB8-973D-24A4997ED404}" type="slidenum">
              <a:rPr lang="en-AU" smtClean="0"/>
              <a:pPr/>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54E8A4-552B-4E06-8CBF-D7F5DBFD49F6}" type="datetimeFigureOut">
              <a:rPr lang="en-AU" smtClean="0"/>
              <a:pPr/>
              <a:t>28/7/2026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538D9E0-DFDE-4DB8-973D-24A4997ED404}" type="slidenum">
              <a:rPr lang="en-AU" smtClean="0"/>
              <a:pPr/>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5E54E8A4-552B-4E06-8CBF-D7F5DBFD49F6}" type="datetimeFigureOut">
              <a:rPr lang="en-AU" smtClean="0"/>
              <a:pPr/>
              <a:t>28/7/2026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4538D9E0-DFDE-4DB8-973D-24A4997ED404}" type="slidenum">
              <a:rPr lang="en-AU" smtClean="0"/>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5E54E8A4-552B-4E06-8CBF-D7F5DBFD49F6}" type="datetimeFigureOut">
              <a:rPr lang="en-AU" smtClean="0"/>
              <a:pPr/>
              <a:t>28/7/2026</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4538D9E0-DFDE-4DB8-973D-24A4997ED404}" type="slidenum">
              <a:rPr lang="en-AU" smtClean="0"/>
              <a:pPr/>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5E54E8A4-552B-4E06-8CBF-D7F5DBFD49F6}" type="datetimeFigureOut">
              <a:rPr lang="en-AU" smtClean="0"/>
              <a:pPr/>
              <a:t>28/7/2026</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4538D9E0-DFDE-4DB8-973D-24A4997ED404}" type="slidenum">
              <a:rPr lang="en-AU" smtClean="0"/>
              <a:pPr/>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54E8A4-552B-4E06-8CBF-D7F5DBFD49F6}" type="datetimeFigureOut">
              <a:rPr lang="en-AU" smtClean="0"/>
              <a:pPr/>
              <a:t>28/7/2026</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4538D9E0-DFDE-4DB8-973D-24A4997ED404}" type="slidenum">
              <a:rPr lang="en-AU" smtClean="0"/>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54E8A4-552B-4E06-8CBF-D7F5DBFD49F6}" type="datetimeFigureOut">
              <a:rPr lang="en-AU" smtClean="0"/>
              <a:pPr/>
              <a:t>28/7/2026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4538D9E0-DFDE-4DB8-973D-24A4997ED404}" type="slidenum">
              <a:rPr lang="en-AU" smtClean="0"/>
              <a:pPr/>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54E8A4-552B-4E06-8CBF-D7F5DBFD49F6}" type="datetimeFigureOut">
              <a:rPr lang="en-AU" smtClean="0"/>
              <a:pPr/>
              <a:t>28/7/2026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4538D9E0-DFDE-4DB8-973D-24A4997ED404}" type="slidenum">
              <a:rPr lang="en-AU" smtClean="0"/>
              <a:pPr/>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5E54E8A4-552B-4E06-8CBF-D7F5DBFD49F6}" type="datetimeFigureOut">
              <a:rPr lang="en-AU" smtClean="0"/>
              <a:pPr/>
              <a:t>28/7/2026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538D9E0-DFDE-4DB8-973D-24A4997ED404}" type="slidenum">
              <a:rPr lang="en-AU" smtClean="0"/>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5E54E8A4-552B-4E06-8CBF-D7F5DBFD49F6}" type="datetimeFigureOut">
              <a:rPr lang="en-AU" smtClean="0"/>
              <a:pPr/>
              <a:t>28/7/2026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538D9E0-DFDE-4DB8-973D-24A4997ED404}" type="slidenum">
              <a:rPr lang="en-AU" smtClean="0"/>
              <a:pPr/>
              <a:t>‹#›</a:t>
            </a:fld>
            <a:endParaRPr lang="en-A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DF9C9-A483-8000-FCF3-6D19336C882A}"/>
              </a:ext>
            </a:extLst>
          </p:cNvPr>
          <p:cNvSpPr>
            <a:spLocks noGrp="1"/>
          </p:cNvSpPr>
          <p:nvPr>
            <p:ph type="ctrTitle"/>
          </p:nvPr>
        </p:nvSpPr>
        <p:spPr>
          <a:xfrm>
            <a:off x="0" y="1"/>
            <a:ext cx="9144000" cy="1045029"/>
          </a:xfrm>
          <a:gradFill>
            <a:gsLst>
              <a:gs pos="100000">
                <a:schemeClr val="bg1"/>
              </a:gs>
              <a:gs pos="73000">
                <a:schemeClr val="bg1">
                  <a:lumMod val="95000"/>
                </a:schemeClr>
              </a:gs>
            </a:gsLst>
            <a:lin ang="5400000" scaled="1"/>
          </a:gradFill>
        </p:spPr>
        <p:txBody>
          <a:bodyPr anchor="b"/>
          <a:lstStyle>
            <a:lvl1pPr algn="ctr">
              <a:defRPr sz="4500"/>
            </a:lvl1pPr>
          </a:lstStyle>
          <a:p>
            <a:r>
              <a:rPr lang="en-GB" dirty="0"/>
              <a:t>Click to edit Master title style</a:t>
            </a:r>
            <a:endParaRPr lang="en-AU" dirty="0"/>
          </a:p>
        </p:txBody>
      </p:sp>
      <p:sp>
        <p:nvSpPr>
          <p:cNvPr id="3" name="Subtitle 2">
            <a:extLst>
              <a:ext uri="{FF2B5EF4-FFF2-40B4-BE49-F238E27FC236}">
                <a16:creationId xmlns:a16="http://schemas.microsoft.com/office/drawing/2014/main" id="{6783FEE1-9FA9-43C8-0361-4A4389F5B254}"/>
              </a:ext>
            </a:extLst>
          </p:cNvPr>
          <p:cNvSpPr>
            <a:spLocks noGrp="1"/>
          </p:cNvSpPr>
          <p:nvPr>
            <p:ph type="subTitle" idx="1"/>
          </p:nvPr>
        </p:nvSpPr>
        <p:spPr>
          <a:xfrm>
            <a:off x="1143000" y="1282536"/>
            <a:ext cx="6858000" cy="1045029"/>
          </a:xfrm>
        </p:spPr>
        <p:txBody>
          <a:bodyPr>
            <a:normAutofit/>
          </a:bodyPr>
          <a:lstStyle>
            <a:lvl1pPr marL="0" indent="0" algn="ctr">
              <a:buNone/>
              <a:defRPr sz="33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a:t>
            </a:r>
            <a:endParaRPr lang="en-AU" dirty="0"/>
          </a:p>
        </p:txBody>
      </p:sp>
      <p:sp>
        <p:nvSpPr>
          <p:cNvPr id="4" name="Date Placeholder 3">
            <a:extLst>
              <a:ext uri="{FF2B5EF4-FFF2-40B4-BE49-F238E27FC236}">
                <a16:creationId xmlns:a16="http://schemas.microsoft.com/office/drawing/2014/main" id="{FD05D074-8FEB-6FD9-370A-3CE65B9BDD45}"/>
              </a:ext>
            </a:extLst>
          </p:cNvPr>
          <p:cNvSpPr>
            <a:spLocks noGrp="1"/>
          </p:cNvSpPr>
          <p:nvPr>
            <p:ph type="dt" sz="half" idx="10"/>
          </p:nvPr>
        </p:nvSpPr>
        <p:spPr/>
        <p:txBody>
          <a:bodyPr/>
          <a:lstStyle/>
          <a:p>
            <a:fld id="{E3D85FED-E5C6-2640-857E-7DCFF39350D1}" type="datetimeFigureOut">
              <a:rPr lang="en-AU" smtClean="0"/>
              <a:t>28/7/2026</a:t>
            </a:fld>
            <a:endParaRPr lang="en-AU"/>
          </a:p>
        </p:txBody>
      </p:sp>
      <p:sp>
        <p:nvSpPr>
          <p:cNvPr id="5" name="Footer Placeholder 4">
            <a:extLst>
              <a:ext uri="{FF2B5EF4-FFF2-40B4-BE49-F238E27FC236}">
                <a16:creationId xmlns:a16="http://schemas.microsoft.com/office/drawing/2014/main" id="{3B081D84-477D-E7C4-06DA-580D6A82CC5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F5224F6-AFB9-C22C-E5B3-CAA382A5F329}"/>
              </a:ext>
            </a:extLst>
          </p:cNvPr>
          <p:cNvSpPr>
            <a:spLocks noGrp="1"/>
          </p:cNvSpPr>
          <p:nvPr>
            <p:ph type="sldNum" sz="quarter" idx="12"/>
          </p:nvPr>
        </p:nvSpPr>
        <p:spPr/>
        <p:txBody>
          <a:bodyPr/>
          <a:lstStyle/>
          <a:p>
            <a:fld id="{DF762B4D-0541-7043-9EA4-25F1D3BAEAE8}" type="slidenum">
              <a:rPr lang="en-AU" smtClean="0"/>
              <a:t>‹#›</a:t>
            </a:fld>
            <a:endParaRPr lang="en-AU"/>
          </a:p>
        </p:txBody>
      </p:sp>
      <p:sp>
        <p:nvSpPr>
          <p:cNvPr id="7" name="TextBox 6">
            <a:extLst>
              <a:ext uri="{FF2B5EF4-FFF2-40B4-BE49-F238E27FC236}">
                <a16:creationId xmlns:a16="http://schemas.microsoft.com/office/drawing/2014/main" id="{57891629-96AF-DE34-AF93-C8E3F5ADA180}"/>
              </a:ext>
            </a:extLst>
          </p:cNvPr>
          <p:cNvSpPr txBox="1"/>
          <p:nvPr userDrawn="1"/>
        </p:nvSpPr>
        <p:spPr>
          <a:xfrm>
            <a:off x="2686050" y="5355771"/>
            <a:ext cx="3771900" cy="415498"/>
          </a:xfrm>
          <a:prstGeom prst="rect">
            <a:avLst/>
          </a:prstGeom>
          <a:noFill/>
        </p:spPr>
        <p:txBody>
          <a:bodyPr wrap="square" rtlCol="0">
            <a:spAutoFit/>
          </a:bodyPr>
          <a:lstStyle/>
          <a:p>
            <a:pPr algn="ctr"/>
            <a:r>
              <a:rPr lang="en-AU" sz="2100" dirty="0"/>
              <a:t>Dr James Dorey</a:t>
            </a:r>
          </a:p>
        </p:txBody>
      </p:sp>
    </p:spTree>
    <p:extLst>
      <p:ext uri="{BB962C8B-B14F-4D97-AF65-F5344CB8AC3E}">
        <p14:creationId xmlns:p14="http://schemas.microsoft.com/office/powerpoint/2010/main" val="4260186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E600F-1D0E-64FA-CB94-D8DA7D41711A}"/>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E695EDEF-C97C-77A3-A3E6-7CE10CA5DD3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FCC40EE7-792A-F6C4-7493-2FE7D9F3ABD1}"/>
              </a:ext>
            </a:extLst>
          </p:cNvPr>
          <p:cNvSpPr>
            <a:spLocks noGrp="1"/>
          </p:cNvSpPr>
          <p:nvPr>
            <p:ph type="dt" sz="half" idx="10"/>
          </p:nvPr>
        </p:nvSpPr>
        <p:spPr/>
        <p:txBody>
          <a:bodyPr/>
          <a:lstStyle/>
          <a:p>
            <a:fld id="{E3D85FED-E5C6-2640-857E-7DCFF39350D1}" type="datetimeFigureOut">
              <a:rPr lang="en-AU" smtClean="0"/>
              <a:t>28/7/2026</a:t>
            </a:fld>
            <a:endParaRPr lang="en-AU"/>
          </a:p>
        </p:txBody>
      </p:sp>
      <p:sp>
        <p:nvSpPr>
          <p:cNvPr id="5" name="Footer Placeholder 4">
            <a:extLst>
              <a:ext uri="{FF2B5EF4-FFF2-40B4-BE49-F238E27FC236}">
                <a16:creationId xmlns:a16="http://schemas.microsoft.com/office/drawing/2014/main" id="{F98E9998-974E-D8AD-81C5-4482B423228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D3B6A1F-D2DE-343F-ECAD-5A9A15D689F3}"/>
              </a:ext>
            </a:extLst>
          </p:cNvPr>
          <p:cNvSpPr>
            <a:spLocks noGrp="1"/>
          </p:cNvSpPr>
          <p:nvPr>
            <p:ph type="sldNum" sz="quarter" idx="12"/>
          </p:nvPr>
        </p:nvSpPr>
        <p:spPr/>
        <p:txBody>
          <a:bodyPr/>
          <a:lstStyle/>
          <a:p>
            <a:fld id="{DF762B4D-0541-7043-9EA4-25F1D3BAEAE8}" type="slidenum">
              <a:rPr lang="en-AU" smtClean="0"/>
              <a:t>‹#›</a:t>
            </a:fld>
            <a:endParaRPr lang="en-AU"/>
          </a:p>
        </p:txBody>
      </p:sp>
    </p:spTree>
    <p:extLst>
      <p:ext uri="{BB962C8B-B14F-4D97-AF65-F5344CB8AC3E}">
        <p14:creationId xmlns:p14="http://schemas.microsoft.com/office/powerpoint/2010/main" val="3063043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D344A-1493-3ADA-D704-D0788E40F367}"/>
              </a:ext>
            </a:extLst>
          </p:cNvPr>
          <p:cNvSpPr>
            <a:spLocks noGrp="1"/>
          </p:cNvSpPr>
          <p:nvPr>
            <p:ph type="title"/>
          </p:nvPr>
        </p:nvSpPr>
        <p:spPr>
          <a:xfrm>
            <a:off x="623888" y="1709739"/>
            <a:ext cx="7886700" cy="2852737"/>
          </a:xfrm>
        </p:spPr>
        <p:txBody>
          <a:bodyPr anchor="b"/>
          <a:lstStyle>
            <a:lvl1pPr>
              <a:defRPr sz="45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9A16E5CE-3620-C57A-21F5-4A0F78188D09}"/>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F92F182-08AF-8BBF-2B3E-8DC91FCB3F2D}"/>
              </a:ext>
            </a:extLst>
          </p:cNvPr>
          <p:cNvSpPr>
            <a:spLocks noGrp="1"/>
          </p:cNvSpPr>
          <p:nvPr>
            <p:ph type="dt" sz="half" idx="10"/>
          </p:nvPr>
        </p:nvSpPr>
        <p:spPr/>
        <p:txBody>
          <a:bodyPr/>
          <a:lstStyle/>
          <a:p>
            <a:fld id="{E3D85FED-E5C6-2640-857E-7DCFF39350D1}" type="datetimeFigureOut">
              <a:rPr lang="en-AU" smtClean="0"/>
              <a:t>28/7/2026</a:t>
            </a:fld>
            <a:endParaRPr lang="en-AU"/>
          </a:p>
        </p:txBody>
      </p:sp>
      <p:sp>
        <p:nvSpPr>
          <p:cNvPr id="5" name="Footer Placeholder 4">
            <a:extLst>
              <a:ext uri="{FF2B5EF4-FFF2-40B4-BE49-F238E27FC236}">
                <a16:creationId xmlns:a16="http://schemas.microsoft.com/office/drawing/2014/main" id="{A9387F78-3A7B-A6B1-6D48-000730EF887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6603750-D14F-86D7-2DFA-7D7DFC8E0532}"/>
              </a:ext>
            </a:extLst>
          </p:cNvPr>
          <p:cNvSpPr>
            <a:spLocks noGrp="1"/>
          </p:cNvSpPr>
          <p:nvPr>
            <p:ph type="sldNum" sz="quarter" idx="12"/>
          </p:nvPr>
        </p:nvSpPr>
        <p:spPr/>
        <p:txBody>
          <a:bodyPr/>
          <a:lstStyle/>
          <a:p>
            <a:fld id="{DF762B4D-0541-7043-9EA4-25F1D3BAEAE8}" type="slidenum">
              <a:rPr lang="en-AU" smtClean="0"/>
              <a:t>‹#›</a:t>
            </a:fld>
            <a:endParaRPr lang="en-AU"/>
          </a:p>
        </p:txBody>
      </p:sp>
    </p:spTree>
    <p:extLst>
      <p:ext uri="{BB962C8B-B14F-4D97-AF65-F5344CB8AC3E}">
        <p14:creationId xmlns:p14="http://schemas.microsoft.com/office/powerpoint/2010/main" val="35251183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C98C4-98EE-A15A-1BDD-E37A7965CB08}"/>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80E1EF52-C0C5-F6A9-319F-275348884F97}"/>
              </a:ext>
            </a:extLst>
          </p:cNvPr>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58D4905D-68EB-DFC3-C2C7-5F676C049BEF}"/>
              </a:ext>
            </a:extLst>
          </p:cNvPr>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Date Placeholder 4">
            <a:extLst>
              <a:ext uri="{FF2B5EF4-FFF2-40B4-BE49-F238E27FC236}">
                <a16:creationId xmlns:a16="http://schemas.microsoft.com/office/drawing/2014/main" id="{D6DF5BD9-1D81-EC3D-62DD-9EFFE19644F1}"/>
              </a:ext>
            </a:extLst>
          </p:cNvPr>
          <p:cNvSpPr>
            <a:spLocks noGrp="1"/>
          </p:cNvSpPr>
          <p:nvPr>
            <p:ph type="dt" sz="half" idx="10"/>
          </p:nvPr>
        </p:nvSpPr>
        <p:spPr/>
        <p:txBody>
          <a:bodyPr/>
          <a:lstStyle/>
          <a:p>
            <a:fld id="{E3D85FED-E5C6-2640-857E-7DCFF39350D1}" type="datetimeFigureOut">
              <a:rPr lang="en-AU" smtClean="0"/>
              <a:t>28/7/2026</a:t>
            </a:fld>
            <a:endParaRPr lang="en-AU"/>
          </a:p>
        </p:txBody>
      </p:sp>
      <p:sp>
        <p:nvSpPr>
          <p:cNvPr id="6" name="Footer Placeholder 5">
            <a:extLst>
              <a:ext uri="{FF2B5EF4-FFF2-40B4-BE49-F238E27FC236}">
                <a16:creationId xmlns:a16="http://schemas.microsoft.com/office/drawing/2014/main" id="{39BC4DD7-C57E-F6C6-FD17-0BB82596A35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3F92267-857E-B2E5-AD88-AB11396FB070}"/>
              </a:ext>
            </a:extLst>
          </p:cNvPr>
          <p:cNvSpPr>
            <a:spLocks noGrp="1"/>
          </p:cNvSpPr>
          <p:nvPr>
            <p:ph type="sldNum" sz="quarter" idx="12"/>
          </p:nvPr>
        </p:nvSpPr>
        <p:spPr/>
        <p:txBody>
          <a:bodyPr/>
          <a:lstStyle/>
          <a:p>
            <a:fld id="{DF762B4D-0541-7043-9EA4-25F1D3BAEAE8}" type="slidenum">
              <a:rPr lang="en-AU" smtClean="0"/>
              <a:t>‹#›</a:t>
            </a:fld>
            <a:endParaRPr lang="en-AU"/>
          </a:p>
        </p:txBody>
      </p:sp>
    </p:spTree>
    <p:extLst>
      <p:ext uri="{BB962C8B-B14F-4D97-AF65-F5344CB8AC3E}">
        <p14:creationId xmlns:p14="http://schemas.microsoft.com/office/powerpoint/2010/main" val="15689900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5E627-DE1F-8A6E-13D6-95D46A490A44}"/>
              </a:ext>
            </a:extLst>
          </p:cNvPr>
          <p:cNvSpPr>
            <a:spLocks noGrp="1"/>
          </p:cNvSpPr>
          <p:nvPr>
            <p:ph type="title"/>
          </p:nvPr>
        </p:nvSpPr>
        <p:spPr>
          <a:xfrm>
            <a:off x="629841" y="365126"/>
            <a:ext cx="78867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D6D13B15-4B1F-957D-0960-4F74078C7BD9}"/>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E155CDD3-4F3F-8252-E3D1-7EF449C9DE84}"/>
              </a:ext>
            </a:extLst>
          </p:cNvPr>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579CF13E-C5A3-0270-73CF-A1F37407FD79}"/>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93C3340F-403E-9A36-7D19-104AFBE3F67C}"/>
              </a:ext>
            </a:extLst>
          </p:cNvPr>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7" name="Date Placeholder 6">
            <a:extLst>
              <a:ext uri="{FF2B5EF4-FFF2-40B4-BE49-F238E27FC236}">
                <a16:creationId xmlns:a16="http://schemas.microsoft.com/office/drawing/2014/main" id="{C2421B93-4814-28B5-3ACC-1F500CC31753}"/>
              </a:ext>
            </a:extLst>
          </p:cNvPr>
          <p:cNvSpPr>
            <a:spLocks noGrp="1"/>
          </p:cNvSpPr>
          <p:nvPr>
            <p:ph type="dt" sz="half" idx="10"/>
          </p:nvPr>
        </p:nvSpPr>
        <p:spPr/>
        <p:txBody>
          <a:bodyPr/>
          <a:lstStyle/>
          <a:p>
            <a:fld id="{E3D85FED-E5C6-2640-857E-7DCFF39350D1}" type="datetimeFigureOut">
              <a:rPr lang="en-AU" smtClean="0"/>
              <a:t>28/7/2026</a:t>
            </a:fld>
            <a:endParaRPr lang="en-AU"/>
          </a:p>
        </p:txBody>
      </p:sp>
      <p:sp>
        <p:nvSpPr>
          <p:cNvPr id="8" name="Footer Placeholder 7">
            <a:extLst>
              <a:ext uri="{FF2B5EF4-FFF2-40B4-BE49-F238E27FC236}">
                <a16:creationId xmlns:a16="http://schemas.microsoft.com/office/drawing/2014/main" id="{82CDC5F9-0A25-61DE-CEA4-3C7CEE4250CF}"/>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E9CA25C4-3352-A451-4B3C-0A074A0FEECB}"/>
              </a:ext>
            </a:extLst>
          </p:cNvPr>
          <p:cNvSpPr>
            <a:spLocks noGrp="1"/>
          </p:cNvSpPr>
          <p:nvPr>
            <p:ph type="sldNum" sz="quarter" idx="12"/>
          </p:nvPr>
        </p:nvSpPr>
        <p:spPr/>
        <p:txBody>
          <a:bodyPr/>
          <a:lstStyle/>
          <a:p>
            <a:fld id="{DF762B4D-0541-7043-9EA4-25F1D3BAEAE8}" type="slidenum">
              <a:rPr lang="en-AU" smtClean="0"/>
              <a:t>‹#›</a:t>
            </a:fld>
            <a:endParaRPr lang="en-AU"/>
          </a:p>
        </p:txBody>
      </p:sp>
    </p:spTree>
    <p:extLst>
      <p:ext uri="{BB962C8B-B14F-4D97-AF65-F5344CB8AC3E}">
        <p14:creationId xmlns:p14="http://schemas.microsoft.com/office/powerpoint/2010/main" val="16150805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DF222-FC80-AD82-4C69-6445AFE6F706}"/>
              </a:ext>
            </a:extLst>
          </p:cNvPr>
          <p:cNvSpPr>
            <a:spLocks noGrp="1"/>
          </p:cNvSpPr>
          <p:nvPr>
            <p:ph type="title"/>
          </p:nvPr>
        </p:nvSpPr>
        <p:spPr/>
        <p:txBody>
          <a:bodyPr/>
          <a:lstStyle/>
          <a:p>
            <a:r>
              <a:rPr lang="en-GB"/>
              <a:t>Click to edit Master title style</a:t>
            </a:r>
            <a:endParaRPr lang="en-AU"/>
          </a:p>
        </p:txBody>
      </p:sp>
      <p:sp>
        <p:nvSpPr>
          <p:cNvPr id="3" name="Date Placeholder 2">
            <a:extLst>
              <a:ext uri="{FF2B5EF4-FFF2-40B4-BE49-F238E27FC236}">
                <a16:creationId xmlns:a16="http://schemas.microsoft.com/office/drawing/2014/main" id="{BE03087F-C0BB-DA74-6102-C34973A03EAD}"/>
              </a:ext>
            </a:extLst>
          </p:cNvPr>
          <p:cNvSpPr>
            <a:spLocks noGrp="1"/>
          </p:cNvSpPr>
          <p:nvPr>
            <p:ph type="dt" sz="half" idx="10"/>
          </p:nvPr>
        </p:nvSpPr>
        <p:spPr/>
        <p:txBody>
          <a:bodyPr/>
          <a:lstStyle/>
          <a:p>
            <a:fld id="{E3D85FED-E5C6-2640-857E-7DCFF39350D1}" type="datetimeFigureOut">
              <a:rPr lang="en-AU" smtClean="0"/>
              <a:t>28/7/2026</a:t>
            </a:fld>
            <a:endParaRPr lang="en-AU"/>
          </a:p>
        </p:txBody>
      </p:sp>
      <p:sp>
        <p:nvSpPr>
          <p:cNvPr id="4" name="Footer Placeholder 3">
            <a:extLst>
              <a:ext uri="{FF2B5EF4-FFF2-40B4-BE49-F238E27FC236}">
                <a16:creationId xmlns:a16="http://schemas.microsoft.com/office/drawing/2014/main" id="{8C1B2FCF-1271-3A09-41A4-F28A8752715A}"/>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0704931C-A30F-0D87-0E41-F8AA77C7570D}"/>
              </a:ext>
            </a:extLst>
          </p:cNvPr>
          <p:cNvSpPr>
            <a:spLocks noGrp="1"/>
          </p:cNvSpPr>
          <p:nvPr>
            <p:ph type="sldNum" sz="quarter" idx="12"/>
          </p:nvPr>
        </p:nvSpPr>
        <p:spPr/>
        <p:txBody>
          <a:bodyPr/>
          <a:lstStyle/>
          <a:p>
            <a:fld id="{DF762B4D-0541-7043-9EA4-25F1D3BAEAE8}" type="slidenum">
              <a:rPr lang="en-AU" smtClean="0"/>
              <a:t>‹#›</a:t>
            </a:fld>
            <a:endParaRPr lang="en-AU"/>
          </a:p>
        </p:txBody>
      </p:sp>
    </p:spTree>
    <p:extLst>
      <p:ext uri="{BB962C8B-B14F-4D97-AF65-F5344CB8AC3E}">
        <p14:creationId xmlns:p14="http://schemas.microsoft.com/office/powerpoint/2010/main" val="37369752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ED6194-A6A8-6D85-A927-CCCBD84A3709}"/>
              </a:ext>
            </a:extLst>
          </p:cNvPr>
          <p:cNvSpPr>
            <a:spLocks noGrp="1"/>
          </p:cNvSpPr>
          <p:nvPr>
            <p:ph type="dt" sz="half" idx="10"/>
          </p:nvPr>
        </p:nvSpPr>
        <p:spPr/>
        <p:txBody>
          <a:bodyPr/>
          <a:lstStyle/>
          <a:p>
            <a:fld id="{E3D85FED-E5C6-2640-857E-7DCFF39350D1}" type="datetimeFigureOut">
              <a:rPr lang="en-AU" smtClean="0"/>
              <a:t>28/7/2026</a:t>
            </a:fld>
            <a:endParaRPr lang="en-AU"/>
          </a:p>
        </p:txBody>
      </p:sp>
      <p:sp>
        <p:nvSpPr>
          <p:cNvPr id="3" name="Footer Placeholder 2">
            <a:extLst>
              <a:ext uri="{FF2B5EF4-FFF2-40B4-BE49-F238E27FC236}">
                <a16:creationId xmlns:a16="http://schemas.microsoft.com/office/drawing/2014/main" id="{45231830-E2E4-0486-78AA-CD331D10ABAF}"/>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95DCC9C7-A171-282C-A071-9CE4D28DBB9E}"/>
              </a:ext>
            </a:extLst>
          </p:cNvPr>
          <p:cNvSpPr>
            <a:spLocks noGrp="1"/>
          </p:cNvSpPr>
          <p:nvPr>
            <p:ph type="sldNum" sz="quarter" idx="12"/>
          </p:nvPr>
        </p:nvSpPr>
        <p:spPr/>
        <p:txBody>
          <a:bodyPr/>
          <a:lstStyle/>
          <a:p>
            <a:fld id="{DF762B4D-0541-7043-9EA4-25F1D3BAEAE8}" type="slidenum">
              <a:rPr lang="en-AU" smtClean="0"/>
              <a:t>‹#›</a:t>
            </a:fld>
            <a:endParaRPr lang="en-AU"/>
          </a:p>
        </p:txBody>
      </p:sp>
    </p:spTree>
    <p:extLst>
      <p:ext uri="{BB962C8B-B14F-4D97-AF65-F5344CB8AC3E}">
        <p14:creationId xmlns:p14="http://schemas.microsoft.com/office/powerpoint/2010/main" val="8316835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FE9EF-D566-E38C-C8BA-FC4429EBF118}"/>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E95B433C-C21F-1164-0A8E-45500B339348}"/>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19AB22ED-679E-1AE2-75C6-A6FF613A838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E75B5E69-74E8-6456-2A40-E88D9CBBAEC6}"/>
              </a:ext>
            </a:extLst>
          </p:cNvPr>
          <p:cNvSpPr>
            <a:spLocks noGrp="1"/>
          </p:cNvSpPr>
          <p:nvPr>
            <p:ph type="dt" sz="half" idx="10"/>
          </p:nvPr>
        </p:nvSpPr>
        <p:spPr/>
        <p:txBody>
          <a:bodyPr/>
          <a:lstStyle/>
          <a:p>
            <a:fld id="{E3D85FED-E5C6-2640-857E-7DCFF39350D1}" type="datetimeFigureOut">
              <a:rPr lang="en-AU" smtClean="0"/>
              <a:t>28/7/2026</a:t>
            </a:fld>
            <a:endParaRPr lang="en-AU"/>
          </a:p>
        </p:txBody>
      </p:sp>
      <p:sp>
        <p:nvSpPr>
          <p:cNvPr id="6" name="Footer Placeholder 5">
            <a:extLst>
              <a:ext uri="{FF2B5EF4-FFF2-40B4-BE49-F238E27FC236}">
                <a16:creationId xmlns:a16="http://schemas.microsoft.com/office/drawing/2014/main" id="{80AAC898-4656-9007-2717-770B78BA3EC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2EF363A-2F33-9662-5CD8-AF0778C92660}"/>
              </a:ext>
            </a:extLst>
          </p:cNvPr>
          <p:cNvSpPr>
            <a:spLocks noGrp="1"/>
          </p:cNvSpPr>
          <p:nvPr>
            <p:ph type="sldNum" sz="quarter" idx="12"/>
          </p:nvPr>
        </p:nvSpPr>
        <p:spPr/>
        <p:txBody>
          <a:bodyPr/>
          <a:lstStyle/>
          <a:p>
            <a:fld id="{DF762B4D-0541-7043-9EA4-25F1D3BAEAE8}" type="slidenum">
              <a:rPr lang="en-AU" smtClean="0"/>
              <a:t>‹#›</a:t>
            </a:fld>
            <a:endParaRPr lang="en-AU"/>
          </a:p>
        </p:txBody>
      </p:sp>
    </p:spTree>
    <p:extLst>
      <p:ext uri="{BB962C8B-B14F-4D97-AF65-F5344CB8AC3E}">
        <p14:creationId xmlns:p14="http://schemas.microsoft.com/office/powerpoint/2010/main" val="34334896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3B445-CF30-FFAA-3CAD-0ABD2C7F9E5C}"/>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51B581D7-FE45-31C3-8359-889F0FA48F94}"/>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AU"/>
          </a:p>
        </p:txBody>
      </p:sp>
      <p:sp>
        <p:nvSpPr>
          <p:cNvPr id="4" name="Text Placeholder 3">
            <a:extLst>
              <a:ext uri="{FF2B5EF4-FFF2-40B4-BE49-F238E27FC236}">
                <a16:creationId xmlns:a16="http://schemas.microsoft.com/office/drawing/2014/main" id="{FD520484-C4B2-9053-159A-AC28BCF0924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A94AB345-FFFB-4407-6179-B0216786B8B6}"/>
              </a:ext>
            </a:extLst>
          </p:cNvPr>
          <p:cNvSpPr>
            <a:spLocks noGrp="1"/>
          </p:cNvSpPr>
          <p:nvPr>
            <p:ph type="dt" sz="half" idx="10"/>
          </p:nvPr>
        </p:nvSpPr>
        <p:spPr/>
        <p:txBody>
          <a:bodyPr/>
          <a:lstStyle/>
          <a:p>
            <a:fld id="{E3D85FED-E5C6-2640-857E-7DCFF39350D1}" type="datetimeFigureOut">
              <a:rPr lang="en-AU" smtClean="0"/>
              <a:t>28/7/2026</a:t>
            </a:fld>
            <a:endParaRPr lang="en-AU"/>
          </a:p>
        </p:txBody>
      </p:sp>
      <p:sp>
        <p:nvSpPr>
          <p:cNvPr id="6" name="Footer Placeholder 5">
            <a:extLst>
              <a:ext uri="{FF2B5EF4-FFF2-40B4-BE49-F238E27FC236}">
                <a16:creationId xmlns:a16="http://schemas.microsoft.com/office/drawing/2014/main" id="{0774334C-A258-3F0C-8434-0D9658996DB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0F2953A-E046-48A7-7E5A-49452714B447}"/>
              </a:ext>
            </a:extLst>
          </p:cNvPr>
          <p:cNvSpPr>
            <a:spLocks noGrp="1"/>
          </p:cNvSpPr>
          <p:nvPr>
            <p:ph type="sldNum" sz="quarter" idx="12"/>
          </p:nvPr>
        </p:nvSpPr>
        <p:spPr/>
        <p:txBody>
          <a:bodyPr/>
          <a:lstStyle/>
          <a:p>
            <a:fld id="{DF762B4D-0541-7043-9EA4-25F1D3BAEAE8}" type="slidenum">
              <a:rPr lang="en-AU" smtClean="0"/>
              <a:t>‹#›</a:t>
            </a:fld>
            <a:endParaRPr lang="en-AU"/>
          </a:p>
        </p:txBody>
      </p:sp>
    </p:spTree>
    <p:extLst>
      <p:ext uri="{BB962C8B-B14F-4D97-AF65-F5344CB8AC3E}">
        <p14:creationId xmlns:p14="http://schemas.microsoft.com/office/powerpoint/2010/main" val="42857404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69427-D8D5-E26D-FAB8-6EDC56B478F1}"/>
              </a:ext>
            </a:extLst>
          </p:cNvPr>
          <p:cNvSpPr>
            <a:spLocks noGrp="1"/>
          </p:cNvSpPr>
          <p:nvPr>
            <p:ph type="title"/>
          </p:nvPr>
        </p:nvSpPr>
        <p:spPr/>
        <p:txBody>
          <a:bodyPr/>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FF989954-23B8-49ED-E59A-D57C908C8B6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2468CB85-2C64-0E54-381F-89BAD677DEF0}"/>
              </a:ext>
            </a:extLst>
          </p:cNvPr>
          <p:cNvSpPr>
            <a:spLocks noGrp="1"/>
          </p:cNvSpPr>
          <p:nvPr>
            <p:ph type="dt" sz="half" idx="10"/>
          </p:nvPr>
        </p:nvSpPr>
        <p:spPr/>
        <p:txBody>
          <a:bodyPr/>
          <a:lstStyle/>
          <a:p>
            <a:fld id="{E3D85FED-E5C6-2640-857E-7DCFF39350D1}" type="datetimeFigureOut">
              <a:rPr lang="en-AU" smtClean="0"/>
              <a:t>28/7/2026</a:t>
            </a:fld>
            <a:endParaRPr lang="en-AU"/>
          </a:p>
        </p:txBody>
      </p:sp>
      <p:sp>
        <p:nvSpPr>
          <p:cNvPr id="5" name="Footer Placeholder 4">
            <a:extLst>
              <a:ext uri="{FF2B5EF4-FFF2-40B4-BE49-F238E27FC236}">
                <a16:creationId xmlns:a16="http://schemas.microsoft.com/office/drawing/2014/main" id="{E0E375B0-98F3-9D7F-3A90-2F42022D096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124BCF1-A4DC-9470-DE00-9C5F4358E175}"/>
              </a:ext>
            </a:extLst>
          </p:cNvPr>
          <p:cNvSpPr>
            <a:spLocks noGrp="1"/>
          </p:cNvSpPr>
          <p:nvPr>
            <p:ph type="sldNum" sz="quarter" idx="12"/>
          </p:nvPr>
        </p:nvSpPr>
        <p:spPr/>
        <p:txBody>
          <a:bodyPr/>
          <a:lstStyle/>
          <a:p>
            <a:fld id="{DF762B4D-0541-7043-9EA4-25F1D3BAEAE8}" type="slidenum">
              <a:rPr lang="en-AU" smtClean="0"/>
              <a:t>‹#›</a:t>
            </a:fld>
            <a:endParaRPr lang="en-AU"/>
          </a:p>
        </p:txBody>
      </p:sp>
    </p:spTree>
    <p:extLst>
      <p:ext uri="{BB962C8B-B14F-4D97-AF65-F5344CB8AC3E}">
        <p14:creationId xmlns:p14="http://schemas.microsoft.com/office/powerpoint/2010/main" val="24693316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8B2892-251A-96A8-BEA9-F24F4166B866}"/>
              </a:ext>
            </a:extLst>
          </p:cNvPr>
          <p:cNvSpPr>
            <a:spLocks noGrp="1"/>
          </p:cNvSpPr>
          <p:nvPr>
            <p:ph type="title" orient="vert"/>
          </p:nvPr>
        </p:nvSpPr>
        <p:spPr>
          <a:xfrm>
            <a:off x="6543675" y="365125"/>
            <a:ext cx="1971675" cy="5811838"/>
          </a:xfrm>
        </p:spPr>
        <p:txBody>
          <a:bodyPr vert="eaVert"/>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A9FFD8B7-279E-BC01-64DF-F4F382CB52ED}"/>
              </a:ext>
            </a:extLst>
          </p:cNvPr>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F6A7E3AB-4FD5-3D2D-5228-272D71061031}"/>
              </a:ext>
            </a:extLst>
          </p:cNvPr>
          <p:cNvSpPr>
            <a:spLocks noGrp="1"/>
          </p:cNvSpPr>
          <p:nvPr>
            <p:ph type="dt" sz="half" idx="10"/>
          </p:nvPr>
        </p:nvSpPr>
        <p:spPr/>
        <p:txBody>
          <a:bodyPr/>
          <a:lstStyle/>
          <a:p>
            <a:fld id="{E3D85FED-E5C6-2640-857E-7DCFF39350D1}" type="datetimeFigureOut">
              <a:rPr lang="en-AU" smtClean="0"/>
              <a:t>28/7/2026</a:t>
            </a:fld>
            <a:endParaRPr lang="en-AU"/>
          </a:p>
        </p:txBody>
      </p:sp>
      <p:sp>
        <p:nvSpPr>
          <p:cNvPr id="5" name="Footer Placeholder 4">
            <a:extLst>
              <a:ext uri="{FF2B5EF4-FFF2-40B4-BE49-F238E27FC236}">
                <a16:creationId xmlns:a16="http://schemas.microsoft.com/office/drawing/2014/main" id="{7FA6E4D0-0083-5082-B4F3-A27A1E5F048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8E45CC8-AF07-A4C8-CA56-764CAEA77592}"/>
              </a:ext>
            </a:extLst>
          </p:cNvPr>
          <p:cNvSpPr>
            <a:spLocks noGrp="1"/>
          </p:cNvSpPr>
          <p:nvPr>
            <p:ph type="sldNum" sz="quarter" idx="12"/>
          </p:nvPr>
        </p:nvSpPr>
        <p:spPr/>
        <p:txBody>
          <a:bodyPr/>
          <a:lstStyle/>
          <a:p>
            <a:fld id="{DF762B4D-0541-7043-9EA4-25F1D3BAEAE8}" type="slidenum">
              <a:rPr lang="en-AU" smtClean="0"/>
              <a:t>‹#›</a:t>
            </a:fld>
            <a:endParaRPr lang="en-AU"/>
          </a:p>
        </p:txBody>
      </p:sp>
    </p:spTree>
    <p:extLst>
      <p:ext uri="{BB962C8B-B14F-4D97-AF65-F5344CB8AC3E}">
        <p14:creationId xmlns:p14="http://schemas.microsoft.com/office/powerpoint/2010/main" val="34861604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ext &amp; image slide (1)">
    <p:spTree>
      <p:nvGrpSpPr>
        <p:cNvPr id="1" name=""/>
        <p:cNvGrpSpPr/>
        <p:nvPr/>
      </p:nvGrpSpPr>
      <p:grpSpPr>
        <a:xfrm>
          <a:off x="0" y="0"/>
          <a:ext cx="0" cy="0"/>
          <a:chOff x="0" y="0"/>
          <a:chExt cx="0" cy="0"/>
        </a:xfrm>
      </p:grpSpPr>
      <p:sp>
        <p:nvSpPr>
          <p:cNvPr id="7" name="Content Placeholder 2"/>
          <p:cNvSpPr>
            <a:spLocks noGrp="1"/>
          </p:cNvSpPr>
          <p:nvPr>
            <p:ph idx="1"/>
          </p:nvPr>
        </p:nvSpPr>
        <p:spPr>
          <a:xfrm>
            <a:off x="355922" y="2537640"/>
            <a:ext cx="4010526" cy="3900593"/>
          </a:xfrm>
        </p:spPr>
        <p:txBody>
          <a:bodyPr>
            <a:normAutofit/>
          </a:bodyPr>
          <a:lstStyle>
            <a:lvl1pPr>
              <a:defRPr sz="1200">
                <a:solidFill>
                  <a:schemeClr val="accent3"/>
                </a:solidFill>
              </a:defRPr>
            </a:lvl1pPr>
            <a:lvl2pPr>
              <a:defRPr sz="1200">
                <a:solidFill>
                  <a:schemeClr val="accent3"/>
                </a:solidFill>
              </a:defRPr>
            </a:lvl2pPr>
            <a:lvl3pPr>
              <a:defRPr sz="1200">
                <a:solidFill>
                  <a:schemeClr val="accent3"/>
                </a:solidFill>
              </a:defRPr>
            </a:lvl3pPr>
            <a:lvl4pPr>
              <a:defRPr sz="1200">
                <a:solidFill>
                  <a:schemeClr val="accent3"/>
                </a:solidFill>
              </a:defRPr>
            </a:lvl4pPr>
            <a:lvl5pPr>
              <a:defRPr sz="1200">
                <a:solidFill>
                  <a:schemeClr val="accent3"/>
                </a:solidFill>
              </a:defRPr>
            </a:lvl5pPr>
            <a:lvl6pPr>
              <a:defRPr sz="1125"/>
            </a:lvl6pPr>
            <a:lvl7pPr>
              <a:defRPr sz="1125"/>
            </a:lvl7pPr>
            <a:lvl8pPr>
              <a:defRPr sz="1125"/>
            </a:lvl8pPr>
            <a:lvl9pPr>
              <a:defRPr sz="1125"/>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12" name="Title 1"/>
          <p:cNvSpPr>
            <a:spLocks noGrp="1"/>
          </p:cNvSpPr>
          <p:nvPr>
            <p:ph type="title"/>
          </p:nvPr>
        </p:nvSpPr>
        <p:spPr>
          <a:xfrm>
            <a:off x="355921" y="457202"/>
            <a:ext cx="8160621" cy="783389"/>
          </a:xfrm>
        </p:spPr>
        <p:txBody>
          <a:bodyPr anchor="b">
            <a:normAutofit/>
          </a:bodyPr>
          <a:lstStyle>
            <a:lvl1pPr>
              <a:defRPr sz="2100">
                <a:solidFill>
                  <a:schemeClr val="accent3"/>
                </a:solidFill>
              </a:defRPr>
            </a:lvl1pPr>
          </a:lstStyle>
          <a:p>
            <a:r>
              <a:rPr lang="en-US" dirty="0"/>
              <a:t>Click to edit Master title style</a:t>
            </a:r>
            <a:endParaRPr lang="en-AU" dirty="0"/>
          </a:p>
        </p:txBody>
      </p:sp>
      <p:sp>
        <p:nvSpPr>
          <p:cNvPr id="13" name="Text Placeholder 3"/>
          <p:cNvSpPr>
            <a:spLocks noGrp="1"/>
          </p:cNvSpPr>
          <p:nvPr>
            <p:ph type="body" sz="half" idx="2" hasCustomPrompt="1"/>
          </p:nvPr>
        </p:nvSpPr>
        <p:spPr>
          <a:xfrm>
            <a:off x="355921" y="1262145"/>
            <a:ext cx="8160620" cy="781552"/>
          </a:xfrm>
        </p:spPr>
        <p:txBody>
          <a:bodyPr>
            <a:normAutofit/>
          </a:bodyPr>
          <a:lstStyle>
            <a:lvl1pPr marL="0" indent="0">
              <a:buNone/>
              <a:defRPr sz="1050" b="1">
                <a:solidFill>
                  <a:schemeClr val="accent1"/>
                </a:solidFill>
              </a:defRPr>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en-US" dirty="0"/>
              <a:t>EDIT MASTER TEXT STYLES</a:t>
            </a:r>
          </a:p>
        </p:txBody>
      </p:sp>
    </p:spTree>
    <p:extLst>
      <p:ext uri="{BB962C8B-B14F-4D97-AF65-F5344CB8AC3E}">
        <p14:creationId xmlns:p14="http://schemas.microsoft.com/office/powerpoint/2010/main" val="1750719949"/>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54E8A4-552B-4E06-8CBF-D7F5DBFD49F6}" type="datetimeFigureOut">
              <a:rPr lang="en-AU" smtClean="0"/>
              <a:pPr/>
              <a:t>28/7/2026</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38D9E0-DFDE-4DB8-973D-24A4997ED404}" type="slidenum">
              <a:rPr lang="en-AU" smtClean="0"/>
              <a:pPr/>
              <a:t>‹#›</a:t>
            </a:fld>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727970-D282-B9A9-602B-3A3B1C3DE24C}"/>
              </a:ext>
            </a:extLst>
          </p:cNvPr>
          <p:cNvSpPr>
            <a:spLocks noGrp="1"/>
          </p:cNvSpPr>
          <p:nvPr>
            <p:ph type="title"/>
          </p:nvPr>
        </p:nvSpPr>
        <p:spPr>
          <a:xfrm>
            <a:off x="628650" y="18256"/>
            <a:ext cx="7886700" cy="1145527"/>
          </a:xfrm>
          <a:prstGeom prst="rect">
            <a:avLst/>
          </a:prstGeom>
        </p:spPr>
        <p:txBody>
          <a:bodyPr vert="horz" lIns="91440" tIns="45720" rIns="91440" bIns="45720" rtlCol="0" anchor="ctr">
            <a:normAutofit/>
          </a:bodyPr>
          <a:lstStyle/>
          <a:p>
            <a:r>
              <a:rPr lang="en-GB" dirty="0"/>
              <a:t>Click to edit Master title style</a:t>
            </a:r>
            <a:endParaRPr lang="en-AU" dirty="0"/>
          </a:p>
        </p:txBody>
      </p:sp>
      <p:sp>
        <p:nvSpPr>
          <p:cNvPr id="3" name="Text Placeholder 2">
            <a:extLst>
              <a:ext uri="{FF2B5EF4-FFF2-40B4-BE49-F238E27FC236}">
                <a16:creationId xmlns:a16="http://schemas.microsoft.com/office/drawing/2014/main" id="{3046B0AD-AD7F-1DE3-03B6-761E210C259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AU" dirty="0"/>
          </a:p>
        </p:txBody>
      </p:sp>
      <p:sp>
        <p:nvSpPr>
          <p:cNvPr id="4" name="Date Placeholder 3">
            <a:extLst>
              <a:ext uri="{FF2B5EF4-FFF2-40B4-BE49-F238E27FC236}">
                <a16:creationId xmlns:a16="http://schemas.microsoft.com/office/drawing/2014/main" id="{D697D071-9066-31B8-0905-D0C7A410CBE5}"/>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E3D85FED-E5C6-2640-857E-7DCFF39350D1}" type="datetimeFigureOut">
              <a:rPr lang="en-AU" smtClean="0"/>
              <a:t>28/7/2026</a:t>
            </a:fld>
            <a:endParaRPr lang="en-AU"/>
          </a:p>
        </p:txBody>
      </p:sp>
      <p:sp>
        <p:nvSpPr>
          <p:cNvPr id="5" name="Footer Placeholder 4">
            <a:extLst>
              <a:ext uri="{FF2B5EF4-FFF2-40B4-BE49-F238E27FC236}">
                <a16:creationId xmlns:a16="http://schemas.microsoft.com/office/drawing/2014/main" id="{3DF69345-1EDC-7506-8E6A-F698587EDBE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AU" dirty="0"/>
          </a:p>
        </p:txBody>
      </p:sp>
      <p:sp>
        <p:nvSpPr>
          <p:cNvPr id="6" name="Slide Number Placeholder 5">
            <a:extLst>
              <a:ext uri="{FF2B5EF4-FFF2-40B4-BE49-F238E27FC236}">
                <a16:creationId xmlns:a16="http://schemas.microsoft.com/office/drawing/2014/main" id="{DB14A4FD-5724-EF9B-5F6A-49C7873D9F9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DF762B4D-0541-7043-9EA4-25F1D3BAEAE8}" type="slidenum">
              <a:rPr lang="en-AU" smtClean="0"/>
              <a:t>‹#›</a:t>
            </a:fld>
            <a:endParaRPr lang="en-AU"/>
          </a:p>
        </p:txBody>
      </p:sp>
    </p:spTree>
    <p:extLst>
      <p:ext uri="{BB962C8B-B14F-4D97-AF65-F5344CB8AC3E}">
        <p14:creationId xmlns:p14="http://schemas.microsoft.com/office/powerpoint/2010/main" val="2824527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685800" rtl="0" eaLnBrk="1" latinLnBrk="0" hangingPunct="1">
        <a:lnSpc>
          <a:spcPct val="90000"/>
        </a:lnSpc>
        <a:spcBef>
          <a:spcPct val="0"/>
        </a:spcBef>
        <a:buNone/>
        <a:defRPr sz="3600" kern="1200">
          <a:solidFill>
            <a:srgbClr val="9579B9"/>
          </a:solidFill>
          <a:latin typeface="+mj-lt"/>
          <a:ea typeface="+mj-ea"/>
          <a:cs typeface="+mj-cs"/>
        </a:defRPr>
      </a:lvl1pPr>
    </p:titleStyle>
    <p:bodyStyle>
      <a:lvl1pPr marL="171450" indent="-171450" algn="l" defTabSz="685800" rtl="0" eaLnBrk="1" latinLnBrk="0" hangingPunct="1">
        <a:lnSpc>
          <a:spcPct val="90000"/>
        </a:lnSpc>
        <a:spcBef>
          <a:spcPts val="750"/>
        </a:spcBef>
        <a:buClr>
          <a:srgbClr val="AF90D8"/>
        </a:buClr>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rgbClr val="5DC184"/>
        </a:buClr>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rgbClr val="F7D684"/>
        </a:buClr>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rgbClr val="8F798D"/>
        </a:buClr>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0.emf"/><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C51810B-DC30-3BB9-1C03-7900884A04FD}"/>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 y="0"/>
            <a:ext cx="9143999" cy="6858000"/>
          </a:xfrm>
          <a:prstGeom prst="rect">
            <a:avLst/>
          </a:prstGeom>
        </p:spPr>
      </p:pic>
      <p:sp>
        <p:nvSpPr>
          <p:cNvPr id="2" name="Title 1">
            <a:extLst>
              <a:ext uri="{FF2B5EF4-FFF2-40B4-BE49-F238E27FC236}">
                <a16:creationId xmlns:a16="http://schemas.microsoft.com/office/drawing/2014/main" id="{8B5AFE40-84D2-8688-B940-274FAF8AE4CC}"/>
              </a:ext>
            </a:extLst>
          </p:cNvPr>
          <p:cNvSpPr>
            <a:spLocks noGrp="1"/>
          </p:cNvSpPr>
          <p:nvPr>
            <p:ph type="ctrTitle"/>
          </p:nvPr>
        </p:nvSpPr>
        <p:spPr>
          <a:xfrm>
            <a:off x="0" y="22214"/>
            <a:ext cx="9144000" cy="783772"/>
          </a:xfrm>
          <a:solidFill>
            <a:schemeClr val="tx1">
              <a:alpha val="52597"/>
            </a:schemeClr>
          </a:solidFill>
        </p:spPr>
        <p:txBody>
          <a:bodyPr>
            <a:normAutofit fontScale="90000"/>
          </a:bodyPr>
          <a:lstStyle/>
          <a:p>
            <a:r>
              <a:rPr lang="en-AU" b="1" dirty="0">
                <a:solidFill>
                  <a:schemeClr val="bg1"/>
                </a:solidFill>
              </a:rPr>
              <a:t>BIOL365: Marine and Terrestrial Ecology </a:t>
            </a:r>
          </a:p>
        </p:txBody>
      </p:sp>
      <p:sp>
        <p:nvSpPr>
          <p:cNvPr id="3" name="Subtitle 2">
            <a:extLst>
              <a:ext uri="{FF2B5EF4-FFF2-40B4-BE49-F238E27FC236}">
                <a16:creationId xmlns:a16="http://schemas.microsoft.com/office/drawing/2014/main" id="{A2886DAD-D7A2-C7B1-6D84-AD445B7417FF}"/>
              </a:ext>
            </a:extLst>
          </p:cNvPr>
          <p:cNvSpPr>
            <a:spLocks noGrp="1"/>
          </p:cNvSpPr>
          <p:nvPr>
            <p:ph type="subTitle" idx="1"/>
          </p:nvPr>
        </p:nvSpPr>
        <p:spPr>
          <a:xfrm>
            <a:off x="728847" y="977540"/>
            <a:ext cx="7686303" cy="534389"/>
          </a:xfrm>
          <a:prstGeom prst="roundRect">
            <a:avLst/>
          </a:prstGeom>
          <a:solidFill>
            <a:schemeClr val="bg1">
              <a:alpha val="62056"/>
            </a:schemeClr>
          </a:solidFill>
        </p:spPr>
        <p:txBody>
          <a:bodyPr>
            <a:noAutofit/>
          </a:bodyPr>
          <a:lstStyle/>
          <a:p>
            <a:r>
              <a:rPr lang="en-AU" b="1" dirty="0"/>
              <a:t>Lecture 1: Practical introduction</a:t>
            </a:r>
          </a:p>
        </p:txBody>
      </p:sp>
      <p:sp>
        <p:nvSpPr>
          <p:cNvPr id="9" name="TextBox 8">
            <a:extLst>
              <a:ext uri="{FF2B5EF4-FFF2-40B4-BE49-F238E27FC236}">
                <a16:creationId xmlns:a16="http://schemas.microsoft.com/office/drawing/2014/main" id="{C283DBAC-8D4D-001B-D417-2BE34F1BB7DD}"/>
              </a:ext>
            </a:extLst>
          </p:cNvPr>
          <p:cNvSpPr txBox="1"/>
          <p:nvPr/>
        </p:nvSpPr>
        <p:spPr>
          <a:xfrm>
            <a:off x="1547662" y="5880460"/>
            <a:ext cx="6048672" cy="459700"/>
          </a:xfrm>
          <a:prstGeom prst="roundRect">
            <a:avLst/>
          </a:prstGeom>
          <a:solidFill>
            <a:schemeClr val="bg1">
              <a:alpha val="62000"/>
            </a:schemeClr>
          </a:solidFill>
        </p:spPr>
        <p:txBody>
          <a:bodyPr wrap="square">
            <a:spAutoFit/>
          </a:bodyPr>
          <a:lstStyle/>
          <a:p>
            <a:pPr algn="ctr" defTabSz="685800"/>
            <a:r>
              <a:rPr lang="en-AU" sz="2100" b="1" dirty="0">
                <a:solidFill>
                  <a:prstClr val="black"/>
                </a:solidFill>
                <a:latin typeface="Aptos" panose="02110004020202020204"/>
              </a:rPr>
              <a:t>James Dorey, Damien </a:t>
            </a:r>
            <a:r>
              <a:rPr lang="en-AU" sz="2100" b="1" dirty="0" err="1">
                <a:solidFill>
                  <a:prstClr val="black"/>
                </a:solidFill>
                <a:latin typeface="Aptos" panose="02110004020202020204"/>
              </a:rPr>
              <a:t>Esquerré</a:t>
            </a:r>
            <a:r>
              <a:rPr lang="en-AU" sz="2100" b="1" dirty="0">
                <a:solidFill>
                  <a:prstClr val="black"/>
                </a:solidFill>
                <a:latin typeface="Aptos" panose="02110004020202020204"/>
              </a:rPr>
              <a:t>, and Phil Byrne</a:t>
            </a:r>
          </a:p>
        </p:txBody>
      </p:sp>
    </p:spTree>
    <p:extLst>
      <p:ext uri="{BB962C8B-B14F-4D97-AF65-F5344CB8AC3E}">
        <p14:creationId xmlns:p14="http://schemas.microsoft.com/office/powerpoint/2010/main" val="577447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0" y="0"/>
            <a:ext cx="9144000" cy="908719"/>
          </a:xfrm>
          <a:prstGeom prst="rect">
            <a:avLst/>
          </a:prstGeom>
          <a:solidFill>
            <a:schemeClr val="accent5">
              <a:lumMod val="40000"/>
              <a:lumOff val="60000"/>
            </a:schemeClr>
          </a:solidFill>
          <a:ln>
            <a:solidFill>
              <a:schemeClr val="tx1"/>
            </a:solidFill>
          </a:ln>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AU" sz="4400" b="0" i="0" u="none" strike="noStrike" kern="1200" cap="none" spc="0" normalizeH="0" baseline="0" noProof="0" dirty="0">
                <a:ln>
                  <a:noFill/>
                </a:ln>
                <a:effectLst/>
                <a:uLnTx/>
                <a:uFillTx/>
                <a:latin typeface="+mj-lt"/>
                <a:ea typeface="+mj-ea"/>
                <a:cs typeface="+mj-cs"/>
              </a:rPr>
              <a:t>Welcome to the BIOL365/971  </a:t>
            </a:r>
          </a:p>
        </p:txBody>
      </p:sp>
      <p:sp>
        <p:nvSpPr>
          <p:cNvPr id="2" name="AutoShape 2" descr="Illawarra Birders Publication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3" name="AutoShape 4" descr="Illawarra Birders Publication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8" name="TextBox 7">
            <a:extLst>
              <a:ext uri="{FF2B5EF4-FFF2-40B4-BE49-F238E27FC236}">
                <a16:creationId xmlns:a16="http://schemas.microsoft.com/office/drawing/2014/main" id="{15EAF8FB-3710-94CF-6BCD-95D9CF751613}"/>
              </a:ext>
            </a:extLst>
          </p:cNvPr>
          <p:cNvSpPr txBox="1"/>
          <p:nvPr/>
        </p:nvSpPr>
        <p:spPr>
          <a:xfrm>
            <a:off x="244351" y="1053182"/>
            <a:ext cx="8655298" cy="1754326"/>
          </a:xfrm>
          <a:prstGeom prst="rect">
            <a:avLst/>
          </a:prstGeom>
          <a:noFill/>
        </p:spPr>
        <p:txBody>
          <a:bodyPr wrap="square">
            <a:spAutoFit/>
          </a:bodyPr>
          <a:lstStyle/>
          <a:p>
            <a:pPr algn="l"/>
            <a:r>
              <a:rPr lang="en-AU" b="0" i="0" dirty="0">
                <a:solidFill>
                  <a:srgbClr val="000000"/>
                </a:solidFill>
                <a:effectLst/>
                <a:latin typeface="Times New Roman" panose="02020603050405020304" pitchFamily="18" charset="0"/>
              </a:rPr>
              <a:t> </a:t>
            </a:r>
          </a:p>
          <a:p>
            <a:pPr algn="l"/>
            <a:r>
              <a:rPr lang="en-AU" b="1" i="0" dirty="0" err="1">
                <a:solidFill>
                  <a:srgbClr val="000000"/>
                </a:solidFill>
                <a:effectLst/>
                <a:latin typeface="Times New Roman" panose="02020603050405020304" pitchFamily="18" charset="0"/>
              </a:rPr>
              <a:t>Prac</a:t>
            </a:r>
            <a:r>
              <a:rPr lang="en-AU" b="1" i="0" dirty="0">
                <a:solidFill>
                  <a:srgbClr val="000000"/>
                </a:solidFill>
                <a:effectLst/>
                <a:latin typeface="Times New Roman" panose="02020603050405020304" pitchFamily="18" charset="0"/>
              </a:rPr>
              <a:t> schedule</a:t>
            </a:r>
          </a:p>
          <a:p>
            <a:pPr algn="l"/>
            <a:endParaRPr lang="en-AU" dirty="0">
              <a:solidFill>
                <a:srgbClr val="000000"/>
              </a:solidFill>
              <a:latin typeface="Times New Roman" panose="02020603050405020304" pitchFamily="18" charset="0"/>
            </a:endParaRPr>
          </a:p>
          <a:p>
            <a:pPr algn="l"/>
            <a:r>
              <a:rPr lang="en-AU" b="0" i="0" dirty="0">
                <a:solidFill>
                  <a:srgbClr val="000000"/>
                </a:solidFill>
                <a:effectLst/>
                <a:latin typeface="Times New Roman" panose="02020603050405020304" pitchFamily="18" charset="0"/>
              </a:rPr>
              <a:t> </a:t>
            </a:r>
          </a:p>
          <a:p>
            <a:pPr algn="l"/>
            <a:r>
              <a:rPr lang="en-AU" b="0" i="0" dirty="0">
                <a:solidFill>
                  <a:srgbClr val="000000"/>
                </a:solidFill>
                <a:effectLst/>
                <a:latin typeface="Times New Roman" panose="02020603050405020304" pitchFamily="18" charset="0"/>
              </a:rPr>
              <a:t> </a:t>
            </a:r>
          </a:p>
          <a:p>
            <a:pPr algn="l"/>
            <a:r>
              <a:rPr lang="en-AU" b="0" i="0" dirty="0">
                <a:solidFill>
                  <a:srgbClr val="000000"/>
                </a:solidFill>
                <a:effectLst/>
                <a:latin typeface="Times New Roman" panose="02020603050405020304" pitchFamily="18" charset="0"/>
              </a:rPr>
              <a:t> </a:t>
            </a:r>
          </a:p>
        </p:txBody>
      </p:sp>
      <p:graphicFrame>
        <p:nvGraphicFramePr>
          <p:cNvPr id="5" name="Table 4">
            <a:extLst>
              <a:ext uri="{FF2B5EF4-FFF2-40B4-BE49-F238E27FC236}">
                <a16:creationId xmlns:a16="http://schemas.microsoft.com/office/drawing/2014/main" id="{F524F1FA-C741-5DA2-D811-F313703CDE87}"/>
              </a:ext>
            </a:extLst>
          </p:cNvPr>
          <p:cNvGraphicFramePr>
            <a:graphicFrameLocks noGrp="1"/>
          </p:cNvGraphicFramePr>
          <p:nvPr>
            <p:extLst>
              <p:ext uri="{D42A27DB-BD31-4B8C-83A1-F6EECF244321}">
                <p14:modId xmlns:p14="http://schemas.microsoft.com/office/powerpoint/2010/main" val="1305774083"/>
              </p:ext>
            </p:extLst>
          </p:nvPr>
        </p:nvGraphicFramePr>
        <p:xfrm>
          <a:off x="1897361" y="980728"/>
          <a:ext cx="7211143" cy="5784399"/>
        </p:xfrm>
        <a:graphic>
          <a:graphicData uri="http://schemas.openxmlformats.org/drawingml/2006/table">
            <a:tbl>
              <a:tblPr firstRow="1" firstCol="1" bandRow="1">
                <a:tableStyleId>{5C22544A-7EE6-4342-B048-85BDC9FD1C3A}</a:tableStyleId>
              </a:tblPr>
              <a:tblGrid>
                <a:gridCol w="1162472">
                  <a:extLst>
                    <a:ext uri="{9D8B030D-6E8A-4147-A177-3AD203B41FA5}">
                      <a16:colId xmlns:a16="http://schemas.microsoft.com/office/drawing/2014/main" val="1148351342"/>
                    </a:ext>
                  </a:extLst>
                </a:gridCol>
                <a:gridCol w="1800200">
                  <a:extLst>
                    <a:ext uri="{9D8B030D-6E8A-4147-A177-3AD203B41FA5}">
                      <a16:colId xmlns:a16="http://schemas.microsoft.com/office/drawing/2014/main" val="1461983139"/>
                    </a:ext>
                  </a:extLst>
                </a:gridCol>
                <a:gridCol w="4248471">
                  <a:extLst>
                    <a:ext uri="{9D8B030D-6E8A-4147-A177-3AD203B41FA5}">
                      <a16:colId xmlns:a16="http://schemas.microsoft.com/office/drawing/2014/main" val="2487162319"/>
                    </a:ext>
                  </a:extLst>
                </a:gridCol>
              </a:tblGrid>
              <a:tr h="245317">
                <a:tc>
                  <a:txBody>
                    <a:bodyPr/>
                    <a:lstStyle/>
                    <a:p>
                      <a:pPr>
                        <a:buNone/>
                      </a:pPr>
                      <a:r>
                        <a:rPr lang="en-AU" sz="1600">
                          <a:effectLst/>
                        </a:rPr>
                        <a:t>Week</a:t>
                      </a:r>
                      <a:endParaRPr lang="en-AU" sz="24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a:buNone/>
                      </a:pPr>
                      <a:r>
                        <a:rPr lang="en-AU" sz="1600">
                          <a:effectLst/>
                        </a:rPr>
                        <a:t>Week Commencing</a:t>
                      </a:r>
                      <a:endParaRPr lang="en-AU" sz="24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a:buNone/>
                      </a:pPr>
                      <a:r>
                        <a:rPr lang="en-AU" sz="1600">
                          <a:effectLst/>
                        </a:rPr>
                        <a:t>Topics Covered</a:t>
                      </a:r>
                      <a:endParaRPr lang="en-AU" sz="2400">
                        <a:effectLst/>
                        <a:latin typeface="Times New Roman" panose="02020603050405020304" pitchFamily="18" charset="0"/>
                        <a:ea typeface="Times New Roman" panose="02020603050405020304" pitchFamily="18" charset="0"/>
                      </a:endParaRPr>
                    </a:p>
                  </a:txBody>
                  <a:tcPr marL="28575" marR="28575" marT="28575" marB="28575" anchor="ctr"/>
                </a:tc>
                <a:extLst>
                  <a:ext uri="{0D108BD9-81ED-4DB2-BD59-A6C34878D82A}">
                    <a16:rowId xmlns:a16="http://schemas.microsoft.com/office/drawing/2014/main" val="2830411312"/>
                  </a:ext>
                </a:extLst>
              </a:tr>
              <a:tr h="423729">
                <a:tc>
                  <a:txBody>
                    <a:bodyPr/>
                    <a:lstStyle/>
                    <a:p>
                      <a:pPr>
                        <a:buNone/>
                      </a:pPr>
                      <a:r>
                        <a:rPr lang="en-AU" sz="1600">
                          <a:effectLst/>
                        </a:rPr>
                        <a:t>1</a:t>
                      </a:r>
                      <a:endParaRPr lang="en-AU" sz="24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a:buNone/>
                      </a:pPr>
                      <a:r>
                        <a:rPr lang="en-AU" sz="1600" dirty="0">
                          <a:effectLst/>
                        </a:rPr>
                        <a:t>27 Jul 2025</a:t>
                      </a:r>
                      <a:endParaRPr lang="en-AU" sz="2400" dirty="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a:buNone/>
                      </a:pPr>
                      <a:r>
                        <a:rPr lang="en-AU" sz="1600">
                          <a:effectLst/>
                        </a:rPr>
                        <a:t>Introduction to the practical schedule of learning</a:t>
                      </a:r>
                      <a:endParaRPr lang="en-AU" sz="1600">
                        <a:effectLst/>
                        <a:latin typeface="Times New Roman" panose="02020603050405020304" pitchFamily="18" charset="0"/>
                        <a:ea typeface="Times New Roman" panose="02020603050405020304" pitchFamily="18" charset="0"/>
                      </a:endParaRPr>
                    </a:p>
                  </a:txBody>
                  <a:tcPr marL="28575" marR="28575" marT="28575" marB="28575" anchor="ctr"/>
                </a:tc>
                <a:extLst>
                  <a:ext uri="{0D108BD9-81ED-4DB2-BD59-A6C34878D82A}">
                    <a16:rowId xmlns:a16="http://schemas.microsoft.com/office/drawing/2014/main" val="2724472881"/>
                  </a:ext>
                </a:extLst>
              </a:tr>
              <a:tr h="245317">
                <a:tc>
                  <a:txBody>
                    <a:bodyPr/>
                    <a:lstStyle/>
                    <a:p>
                      <a:pPr>
                        <a:buNone/>
                      </a:pPr>
                      <a:r>
                        <a:rPr lang="en-AU" sz="1600">
                          <a:effectLst/>
                        </a:rPr>
                        <a:t>2</a:t>
                      </a:r>
                      <a:endParaRPr lang="en-AU" sz="24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a:buNone/>
                      </a:pPr>
                      <a:r>
                        <a:rPr lang="en-AU" sz="1600" dirty="0">
                          <a:effectLst/>
                        </a:rPr>
                        <a:t>03 Aug 2025</a:t>
                      </a:r>
                      <a:endParaRPr lang="en-AU" sz="2400" dirty="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a:buNone/>
                      </a:pPr>
                      <a:r>
                        <a:rPr lang="en-AU" sz="1600">
                          <a:effectLst/>
                        </a:rPr>
                        <a:t>Phylogenetic module</a:t>
                      </a:r>
                      <a:endParaRPr lang="en-AU" sz="1600">
                        <a:effectLst/>
                        <a:latin typeface="Times New Roman" panose="02020603050405020304" pitchFamily="18" charset="0"/>
                        <a:ea typeface="Times New Roman" panose="02020603050405020304" pitchFamily="18" charset="0"/>
                      </a:endParaRPr>
                    </a:p>
                  </a:txBody>
                  <a:tcPr marL="28575" marR="28575" marT="28575" marB="28575" anchor="ctr"/>
                </a:tc>
                <a:extLst>
                  <a:ext uri="{0D108BD9-81ED-4DB2-BD59-A6C34878D82A}">
                    <a16:rowId xmlns:a16="http://schemas.microsoft.com/office/drawing/2014/main" val="875796261"/>
                  </a:ext>
                </a:extLst>
              </a:tr>
              <a:tr h="245317">
                <a:tc>
                  <a:txBody>
                    <a:bodyPr/>
                    <a:lstStyle/>
                    <a:p>
                      <a:pPr>
                        <a:buNone/>
                      </a:pPr>
                      <a:r>
                        <a:rPr lang="en-AU" sz="1600">
                          <a:effectLst/>
                        </a:rPr>
                        <a:t>3</a:t>
                      </a:r>
                      <a:endParaRPr lang="en-AU" sz="24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a:buNone/>
                      </a:pPr>
                      <a:r>
                        <a:rPr lang="en-AU" sz="1600" dirty="0">
                          <a:effectLst/>
                        </a:rPr>
                        <a:t>10 Aug 2025</a:t>
                      </a:r>
                      <a:endParaRPr lang="en-AU" sz="2400" dirty="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a:buNone/>
                      </a:pPr>
                      <a:r>
                        <a:rPr lang="en-AU" sz="1600">
                          <a:effectLst/>
                        </a:rPr>
                        <a:t>Phylogenetic module</a:t>
                      </a:r>
                      <a:endParaRPr lang="en-AU" sz="1600">
                        <a:effectLst/>
                        <a:latin typeface="Times New Roman" panose="02020603050405020304" pitchFamily="18" charset="0"/>
                        <a:ea typeface="Times New Roman" panose="02020603050405020304" pitchFamily="18" charset="0"/>
                      </a:endParaRPr>
                    </a:p>
                  </a:txBody>
                  <a:tcPr marL="28575" marR="28575" marT="28575" marB="28575" anchor="ctr"/>
                </a:tc>
                <a:extLst>
                  <a:ext uri="{0D108BD9-81ED-4DB2-BD59-A6C34878D82A}">
                    <a16:rowId xmlns:a16="http://schemas.microsoft.com/office/drawing/2014/main" val="2167852418"/>
                  </a:ext>
                </a:extLst>
              </a:tr>
              <a:tr h="245317">
                <a:tc>
                  <a:txBody>
                    <a:bodyPr/>
                    <a:lstStyle/>
                    <a:p>
                      <a:pPr>
                        <a:buNone/>
                      </a:pPr>
                      <a:r>
                        <a:rPr lang="en-AU" sz="1600">
                          <a:effectLst/>
                        </a:rPr>
                        <a:t>4</a:t>
                      </a:r>
                      <a:endParaRPr lang="en-AU" sz="24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a:buNone/>
                      </a:pPr>
                      <a:r>
                        <a:rPr lang="en-AU" sz="1600" dirty="0">
                          <a:effectLst/>
                        </a:rPr>
                        <a:t>17 Aug 2025</a:t>
                      </a:r>
                      <a:endParaRPr lang="en-AU" sz="2400" dirty="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a:buNone/>
                      </a:pPr>
                      <a:r>
                        <a:rPr lang="en-AU" sz="1600">
                          <a:effectLst/>
                        </a:rPr>
                        <a:t>Phylogenetic module</a:t>
                      </a:r>
                      <a:endParaRPr lang="en-AU" sz="1600">
                        <a:effectLst/>
                        <a:latin typeface="Times New Roman" panose="02020603050405020304" pitchFamily="18" charset="0"/>
                        <a:ea typeface="Times New Roman" panose="02020603050405020304" pitchFamily="18" charset="0"/>
                      </a:endParaRPr>
                    </a:p>
                  </a:txBody>
                  <a:tcPr marL="28575" marR="28575" marT="28575" marB="28575" anchor="ctr"/>
                </a:tc>
                <a:extLst>
                  <a:ext uri="{0D108BD9-81ED-4DB2-BD59-A6C34878D82A}">
                    <a16:rowId xmlns:a16="http://schemas.microsoft.com/office/drawing/2014/main" val="3629734125"/>
                  </a:ext>
                </a:extLst>
              </a:tr>
              <a:tr h="245317">
                <a:tc>
                  <a:txBody>
                    <a:bodyPr/>
                    <a:lstStyle/>
                    <a:p>
                      <a:pPr>
                        <a:buNone/>
                      </a:pPr>
                      <a:r>
                        <a:rPr lang="en-AU" sz="1600">
                          <a:effectLst/>
                        </a:rPr>
                        <a:t>5</a:t>
                      </a:r>
                      <a:endParaRPr lang="en-AU" sz="24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a:buNone/>
                      </a:pPr>
                      <a:r>
                        <a:rPr lang="en-AU" sz="1600" dirty="0">
                          <a:effectLst/>
                        </a:rPr>
                        <a:t>24 Aug 2025</a:t>
                      </a:r>
                      <a:endParaRPr lang="en-AU" sz="2400" dirty="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a:buNone/>
                      </a:pPr>
                      <a:r>
                        <a:rPr lang="en-AU" sz="1600">
                          <a:effectLst/>
                        </a:rPr>
                        <a:t>Phylogenetic module</a:t>
                      </a:r>
                      <a:endParaRPr lang="en-AU" sz="1600">
                        <a:effectLst/>
                        <a:latin typeface="Times New Roman" panose="02020603050405020304" pitchFamily="18" charset="0"/>
                        <a:ea typeface="Times New Roman" panose="02020603050405020304" pitchFamily="18" charset="0"/>
                      </a:endParaRPr>
                    </a:p>
                  </a:txBody>
                  <a:tcPr marL="28575" marR="28575" marT="28575" marB="28575" anchor="ctr"/>
                </a:tc>
                <a:extLst>
                  <a:ext uri="{0D108BD9-81ED-4DB2-BD59-A6C34878D82A}">
                    <a16:rowId xmlns:a16="http://schemas.microsoft.com/office/drawing/2014/main" val="3450603441"/>
                  </a:ext>
                </a:extLst>
              </a:tr>
              <a:tr h="245317">
                <a:tc>
                  <a:txBody>
                    <a:bodyPr/>
                    <a:lstStyle/>
                    <a:p>
                      <a:pPr>
                        <a:buNone/>
                      </a:pPr>
                      <a:r>
                        <a:rPr lang="en-AU" sz="1600">
                          <a:effectLst/>
                        </a:rPr>
                        <a:t>6</a:t>
                      </a:r>
                      <a:endParaRPr lang="en-AU" sz="24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a:buNone/>
                      </a:pPr>
                      <a:r>
                        <a:rPr lang="en-AU" sz="1600" dirty="0">
                          <a:effectLst/>
                        </a:rPr>
                        <a:t>31 Aug 2025</a:t>
                      </a:r>
                      <a:endParaRPr lang="en-AU" sz="2400" dirty="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a:buNone/>
                      </a:pPr>
                      <a:r>
                        <a:rPr lang="en-AU" sz="1600">
                          <a:effectLst/>
                        </a:rPr>
                        <a:t>Conservation Behaviour module</a:t>
                      </a:r>
                      <a:endParaRPr lang="en-AU" sz="1600">
                        <a:effectLst/>
                        <a:latin typeface="Times New Roman" panose="02020603050405020304" pitchFamily="18" charset="0"/>
                        <a:ea typeface="Times New Roman" panose="02020603050405020304" pitchFamily="18" charset="0"/>
                      </a:endParaRPr>
                    </a:p>
                  </a:txBody>
                  <a:tcPr marL="28575" marR="28575" marT="28575" marB="28575" anchor="ctr"/>
                </a:tc>
                <a:extLst>
                  <a:ext uri="{0D108BD9-81ED-4DB2-BD59-A6C34878D82A}">
                    <a16:rowId xmlns:a16="http://schemas.microsoft.com/office/drawing/2014/main" val="308622818"/>
                  </a:ext>
                </a:extLst>
              </a:tr>
              <a:tr h="245317">
                <a:tc>
                  <a:txBody>
                    <a:bodyPr/>
                    <a:lstStyle/>
                    <a:p>
                      <a:pPr>
                        <a:buNone/>
                      </a:pPr>
                      <a:r>
                        <a:rPr lang="en-AU" sz="1600">
                          <a:effectLst/>
                        </a:rPr>
                        <a:t>7</a:t>
                      </a:r>
                      <a:endParaRPr lang="en-AU" sz="24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a:buNone/>
                      </a:pPr>
                      <a:r>
                        <a:rPr lang="en-AU" sz="1600" dirty="0">
                          <a:effectLst/>
                        </a:rPr>
                        <a:t>07 Sep 2025</a:t>
                      </a:r>
                      <a:endParaRPr lang="en-AU" sz="2400" dirty="0">
                        <a:effectLst/>
                        <a:latin typeface="Times New Roman" panose="02020603050405020304" pitchFamily="18" charset="0"/>
                        <a:ea typeface="Times New Roman" panose="02020603050405020304" pitchFamily="18" charset="0"/>
                      </a:endParaRPr>
                    </a:p>
                  </a:txBody>
                  <a:tcPr marL="28575" marR="28575" marT="28575" marB="28575" anchor="ctr">
                    <a:solidFill>
                      <a:schemeClr val="accent3">
                        <a:lumMod val="20000"/>
                        <a:lumOff val="80000"/>
                      </a:schemeClr>
                    </a:solidFill>
                  </a:tcPr>
                </a:tc>
                <a:tc>
                  <a:txBody>
                    <a:bodyPr/>
                    <a:lstStyle/>
                    <a:p>
                      <a:pPr>
                        <a:buNone/>
                      </a:pPr>
                      <a:r>
                        <a:rPr lang="en-AU" sz="1600" dirty="0">
                          <a:effectLst/>
                        </a:rPr>
                        <a:t>Quiz 1 (covering lectures 1–13). </a:t>
                      </a:r>
                      <a:endParaRPr lang="en-AU" sz="1600" dirty="0">
                        <a:effectLst/>
                        <a:latin typeface="Times New Roman" panose="02020603050405020304" pitchFamily="18" charset="0"/>
                        <a:ea typeface="Times New Roman" panose="02020603050405020304" pitchFamily="18" charset="0"/>
                      </a:endParaRPr>
                    </a:p>
                  </a:txBody>
                  <a:tcPr marL="28575" marR="28575" marT="28575" marB="28575" anchor="ctr">
                    <a:solidFill>
                      <a:schemeClr val="accent3">
                        <a:lumMod val="20000"/>
                        <a:lumOff val="80000"/>
                      </a:schemeClr>
                    </a:solidFill>
                  </a:tcPr>
                </a:tc>
                <a:extLst>
                  <a:ext uri="{0D108BD9-81ED-4DB2-BD59-A6C34878D82A}">
                    <a16:rowId xmlns:a16="http://schemas.microsoft.com/office/drawing/2014/main" val="1921467653"/>
                  </a:ext>
                </a:extLst>
              </a:tr>
              <a:tr h="245317">
                <a:tc>
                  <a:txBody>
                    <a:bodyPr/>
                    <a:lstStyle/>
                    <a:p>
                      <a:pPr>
                        <a:buNone/>
                      </a:pPr>
                      <a:r>
                        <a:rPr lang="en-AU" sz="1600">
                          <a:effectLst/>
                        </a:rPr>
                        <a:t>8</a:t>
                      </a:r>
                      <a:endParaRPr lang="en-AU" sz="24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a:buNone/>
                      </a:pPr>
                      <a:r>
                        <a:rPr lang="en-AU" sz="1600" dirty="0">
                          <a:effectLst/>
                        </a:rPr>
                        <a:t>14 Sep 2025</a:t>
                      </a:r>
                      <a:endParaRPr lang="en-AU" sz="2400" dirty="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a:buNone/>
                      </a:pPr>
                      <a:r>
                        <a:rPr lang="en-AU" sz="1600">
                          <a:effectLst/>
                        </a:rPr>
                        <a:t>Conservation Behaviour module</a:t>
                      </a:r>
                      <a:endParaRPr lang="en-AU" sz="1600">
                        <a:effectLst/>
                        <a:latin typeface="Times New Roman" panose="02020603050405020304" pitchFamily="18" charset="0"/>
                        <a:ea typeface="Times New Roman" panose="02020603050405020304" pitchFamily="18" charset="0"/>
                      </a:endParaRPr>
                    </a:p>
                  </a:txBody>
                  <a:tcPr marL="28575" marR="28575" marT="28575" marB="28575" anchor="ctr"/>
                </a:tc>
                <a:extLst>
                  <a:ext uri="{0D108BD9-81ED-4DB2-BD59-A6C34878D82A}">
                    <a16:rowId xmlns:a16="http://schemas.microsoft.com/office/drawing/2014/main" val="2086568991"/>
                  </a:ext>
                </a:extLst>
              </a:tr>
              <a:tr h="245317">
                <a:tc>
                  <a:txBody>
                    <a:bodyPr/>
                    <a:lstStyle/>
                    <a:p>
                      <a:pPr>
                        <a:buNone/>
                      </a:pPr>
                      <a:r>
                        <a:rPr lang="en-AU" sz="1600">
                          <a:effectLst/>
                        </a:rPr>
                        <a:t>9</a:t>
                      </a:r>
                      <a:endParaRPr lang="en-AU" sz="24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a:buNone/>
                      </a:pPr>
                      <a:r>
                        <a:rPr lang="en-AU" sz="1600" dirty="0">
                          <a:effectLst/>
                        </a:rPr>
                        <a:t>21 Sep 2025</a:t>
                      </a:r>
                      <a:endParaRPr lang="en-AU" sz="2400" dirty="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a:buNone/>
                      </a:pPr>
                      <a:r>
                        <a:rPr lang="en-AU" sz="1600">
                          <a:effectLst/>
                        </a:rPr>
                        <a:t>Conservation Behaviour module</a:t>
                      </a:r>
                      <a:endParaRPr lang="en-AU" sz="1600">
                        <a:effectLst/>
                        <a:latin typeface="Times New Roman" panose="02020603050405020304" pitchFamily="18" charset="0"/>
                        <a:ea typeface="Times New Roman" panose="02020603050405020304" pitchFamily="18" charset="0"/>
                      </a:endParaRPr>
                    </a:p>
                  </a:txBody>
                  <a:tcPr marL="28575" marR="28575" marT="28575" marB="28575" anchor="ctr"/>
                </a:tc>
                <a:extLst>
                  <a:ext uri="{0D108BD9-81ED-4DB2-BD59-A6C34878D82A}">
                    <a16:rowId xmlns:a16="http://schemas.microsoft.com/office/drawing/2014/main" val="1501103259"/>
                  </a:ext>
                </a:extLst>
              </a:tr>
              <a:tr h="245317">
                <a:tc>
                  <a:txBody>
                    <a:bodyPr/>
                    <a:lstStyle/>
                    <a:p>
                      <a:pPr>
                        <a:buNone/>
                      </a:pPr>
                      <a:r>
                        <a:rPr lang="en-AU" sz="1600">
                          <a:effectLst/>
                        </a:rPr>
                        <a:t> </a:t>
                      </a:r>
                      <a:endParaRPr lang="en-AU" sz="2400">
                        <a:effectLst/>
                        <a:latin typeface="Times New Roman" panose="02020603050405020304" pitchFamily="18" charset="0"/>
                        <a:ea typeface="Times New Roman" panose="02020603050405020304" pitchFamily="18" charset="0"/>
                      </a:endParaRPr>
                    </a:p>
                  </a:txBody>
                  <a:tcPr marL="28575" marR="28575" marT="28575" marB="28575" anchor="ctr">
                    <a:solidFill>
                      <a:schemeClr val="accent6">
                        <a:lumMod val="20000"/>
                        <a:lumOff val="80000"/>
                      </a:schemeClr>
                    </a:solidFill>
                  </a:tcPr>
                </a:tc>
                <a:tc>
                  <a:txBody>
                    <a:bodyPr/>
                    <a:lstStyle/>
                    <a:p>
                      <a:pPr>
                        <a:buNone/>
                      </a:pPr>
                      <a:r>
                        <a:rPr lang="en-AU" sz="1600" dirty="0">
                          <a:effectLst/>
                        </a:rPr>
                        <a:t>28 Sep 2025</a:t>
                      </a:r>
                      <a:endParaRPr lang="en-AU" sz="2400" dirty="0">
                        <a:effectLst/>
                        <a:latin typeface="Times New Roman" panose="02020603050405020304" pitchFamily="18" charset="0"/>
                        <a:ea typeface="Times New Roman" panose="02020603050405020304" pitchFamily="18" charset="0"/>
                      </a:endParaRPr>
                    </a:p>
                  </a:txBody>
                  <a:tcPr marL="28575" marR="28575" marT="28575" marB="28575" anchor="ctr">
                    <a:solidFill>
                      <a:schemeClr val="accent6">
                        <a:lumMod val="20000"/>
                        <a:lumOff val="80000"/>
                      </a:schemeClr>
                    </a:solidFill>
                  </a:tcPr>
                </a:tc>
                <a:tc>
                  <a:txBody>
                    <a:bodyPr/>
                    <a:lstStyle/>
                    <a:p>
                      <a:pPr>
                        <a:buNone/>
                      </a:pPr>
                      <a:r>
                        <a:rPr lang="en-AU" sz="1600" dirty="0">
                          <a:effectLst/>
                        </a:rPr>
                        <a:t>Mid-Session Recess</a:t>
                      </a:r>
                      <a:endParaRPr lang="en-AU" sz="2400" dirty="0">
                        <a:effectLst/>
                        <a:latin typeface="Times New Roman" panose="02020603050405020304" pitchFamily="18" charset="0"/>
                        <a:ea typeface="Times New Roman" panose="02020603050405020304" pitchFamily="18" charset="0"/>
                      </a:endParaRPr>
                    </a:p>
                  </a:txBody>
                  <a:tcPr marL="28575" marR="28575" marT="28575" marB="28575" anchor="ctr">
                    <a:solidFill>
                      <a:schemeClr val="accent6">
                        <a:lumMod val="20000"/>
                        <a:lumOff val="80000"/>
                      </a:schemeClr>
                    </a:solidFill>
                  </a:tcPr>
                </a:tc>
                <a:extLst>
                  <a:ext uri="{0D108BD9-81ED-4DB2-BD59-A6C34878D82A}">
                    <a16:rowId xmlns:a16="http://schemas.microsoft.com/office/drawing/2014/main" val="958642333"/>
                  </a:ext>
                </a:extLst>
              </a:tr>
              <a:tr h="423729">
                <a:tc>
                  <a:txBody>
                    <a:bodyPr/>
                    <a:lstStyle/>
                    <a:p>
                      <a:pPr>
                        <a:buNone/>
                      </a:pPr>
                      <a:r>
                        <a:rPr lang="en-AU" sz="1600">
                          <a:effectLst/>
                        </a:rPr>
                        <a:t>10</a:t>
                      </a:r>
                      <a:endParaRPr lang="en-AU" sz="24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marL="0" algn="l" defTabSz="914400" rtl="0" eaLnBrk="1" latinLnBrk="0" hangingPunct="1">
                        <a:buNone/>
                      </a:pPr>
                      <a:r>
                        <a:rPr lang="en-AU" sz="1600" kern="1200" dirty="0">
                          <a:solidFill>
                            <a:schemeClr val="dk1"/>
                          </a:solidFill>
                          <a:effectLst/>
                          <a:latin typeface="+mn-lt"/>
                          <a:ea typeface="+mn-ea"/>
                          <a:cs typeface="+mn-cs"/>
                        </a:rPr>
                        <a:t>05 Oct 2025</a:t>
                      </a:r>
                    </a:p>
                  </a:txBody>
                  <a:tcPr marL="28575" marR="28575" marT="28575" marB="28575" anchor="ctr">
                    <a:solidFill>
                      <a:schemeClr val="accent4">
                        <a:lumMod val="20000"/>
                        <a:lumOff val="80000"/>
                      </a:schemeClr>
                    </a:solidFill>
                  </a:tcPr>
                </a:tc>
                <a:tc>
                  <a:txBody>
                    <a:bodyPr/>
                    <a:lstStyle/>
                    <a:p>
                      <a:pPr>
                        <a:buNone/>
                      </a:pPr>
                      <a:r>
                        <a:rPr lang="en-AU" sz="1600" dirty="0">
                          <a:effectLst/>
                        </a:rPr>
                        <a:t>Conservation Behaviour module — Elevator pitch delivered to the class</a:t>
                      </a:r>
                      <a:endParaRPr lang="en-AU" sz="1600" dirty="0">
                        <a:effectLst/>
                        <a:latin typeface="Times New Roman" panose="02020603050405020304" pitchFamily="18" charset="0"/>
                        <a:ea typeface="Times New Roman" panose="02020603050405020304" pitchFamily="18" charset="0"/>
                      </a:endParaRPr>
                    </a:p>
                  </a:txBody>
                  <a:tcPr marL="28575" marR="28575" marT="28575" marB="28575" anchor="ctr">
                    <a:solidFill>
                      <a:schemeClr val="accent4">
                        <a:lumMod val="20000"/>
                        <a:lumOff val="80000"/>
                      </a:schemeClr>
                    </a:solidFill>
                  </a:tcPr>
                </a:tc>
                <a:extLst>
                  <a:ext uri="{0D108BD9-81ED-4DB2-BD59-A6C34878D82A}">
                    <a16:rowId xmlns:a16="http://schemas.microsoft.com/office/drawing/2014/main" val="83300689"/>
                  </a:ext>
                </a:extLst>
              </a:tr>
              <a:tr h="245317">
                <a:tc>
                  <a:txBody>
                    <a:bodyPr/>
                    <a:lstStyle/>
                    <a:p>
                      <a:pPr>
                        <a:buNone/>
                      </a:pPr>
                      <a:r>
                        <a:rPr lang="en-AU" sz="1600">
                          <a:effectLst/>
                        </a:rPr>
                        <a:t>11</a:t>
                      </a:r>
                      <a:endParaRPr lang="en-AU" sz="24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a:buNone/>
                      </a:pPr>
                      <a:r>
                        <a:rPr lang="en-AU" sz="1600" dirty="0">
                          <a:effectLst/>
                        </a:rPr>
                        <a:t>12 Oct 2025</a:t>
                      </a:r>
                      <a:endParaRPr lang="en-AU" sz="2400" dirty="0">
                        <a:effectLst/>
                        <a:latin typeface="Times New Roman" panose="02020603050405020304" pitchFamily="18" charset="0"/>
                        <a:ea typeface="Times New Roman" panose="02020603050405020304" pitchFamily="18" charset="0"/>
                      </a:endParaRPr>
                    </a:p>
                  </a:txBody>
                  <a:tcPr marL="28575" marR="28575" marT="28575" marB="28575" anchor="ctr">
                    <a:solidFill>
                      <a:schemeClr val="accent5">
                        <a:lumMod val="20000"/>
                        <a:lumOff val="80000"/>
                      </a:schemeClr>
                    </a:solidFill>
                  </a:tcPr>
                </a:tc>
                <a:tc>
                  <a:txBody>
                    <a:bodyPr/>
                    <a:lstStyle/>
                    <a:p>
                      <a:pPr>
                        <a:buNone/>
                      </a:pPr>
                      <a:r>
                        <a:rPr lang="en-AU" sz="1600">
                          <a:effectLst/>
                        </a:rPr>
                        <a:t>Seminar delivery (group 1)</a:t>
                      </a:r>
                      <a:endParaRPr lang="en-AU" sz="1600">
                        <a:effectLst/>
                        <a:latin typeface="Times New Roman" panose="02020603050405020304" pitchFamily="18" charset="0"/>
                        <a:ea typeface="Times New Roman" panose="02020603050405020304" pitchFamily="18" charset="0"/>
                      </a:endParaRPr>
                    </a:p>
                  </a:txBody>
                  <a:tcPr marL="28575" marR="28575" marT="28575" marB="28575" anchor="ctr">
                    <a:solidFill>
                      <a:schemeClr val="accent5">
                        <a:lumMod val="20000"/>
                        <a:lumOff val="80000"/>
                      </a:schemeClr>
                    </a:solidFill>
                  </a:tcPr>
                </a:tc>
                <a:extLst>
                  <a:ext uri="{0D108BD9-81ED-4DB2-BD59-A6C34878D82A}">
                    <a16:rowId xmlns:a16="http://schemas.microsoft.com/office/drawing/2014/main" val="958485714"/>
                  </a:ext>
                </a:extLst>
              </a:tr>
              <a:tr h="245317">
                <a:tc>
                  <a:txBody>
                    <a:bodyPr/>
                    <a:lstStyle/>
                    <a:p>
                      <a:pPr>
                        <a:buNone/>
                      </a:pPr>
                      <a:r>
                        <a:rPr lang="en-AU" sz="1600">
                          <a:effectLst/>
                        </a:rPr>
                        <a:t>12</a:t>
                      </a:r>
                      <a:endParaRPr lang="en-AU" sz="24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a:buNone/>
                      </a:pPr>
                      <a:r>
                        <a:rPr lang="en-AU" sz="1600" dirty="0">
                          <a:effectLst/>
                        </a:rPr>
                        <a:t>19 Oct 2025</a:t>
                      </a:r>
                      <a:endParaRPr lang="en-AU" sz="2400" dirty="0">
                        <a:effectLst/>
                        <a:latin typeface="Times New Roman" panose="02020603050405020304" pitchFamily="18" charset="0"/>
                        <a:ea typeface="Times New Roman" panose="02020603050405020304" pitchFamily="18" charset="0"/>
                      </a:endParaRPr>
                    </a:p>
                  </a:txBody>
                  <a:tcPr marL="28575" marR="28575" marT="28575" marB="28575" anchor="ctr">
                    <a:solidFill>
                      <a:schemeClr val="accent5">
                        <a:lumMod val="20000"/>
                        <a:lumOff val="80000"/>
                      </a:schemeClr>
                    </a:solidFill>
                  </a:tcPr>
                </a:tc>
                <a:tc>
                  <a:txBody>
                    <a:bodyPr/>
                    <a:lstStyle/>
                    <a:p>
                      <a:pPr>
                        <a:buNone/>
                      </a:pPr>
                      <a:r>
                        <a:rPr lang="en-AU" sz="1600" dirty="0">
                          <a:effectLst/>
                        </a:rPr>
                        <a:t>Seminar delivery (group 2)</a:t>
                      </a:r>
                      <a:endParaRPr lang="en-AU" sz="1600" dirty="0">
                        <a:effectLst/>
                        <a:latin typeface="Times New Roman" panose="02020603050405020304" pitchFamily="18" charset="0"/>
                        <a:ea typeface="Times New Roman" panose="02020603050405020304" pitchFamily="18" charset="0"/>
                      </a:endParaRPr>
                    </a:p>
                  </a:txBody>
                  <a:tcPr marL="28575" marR="28575" marT="28575" marB="28575" anchor="ctr">
                    <a:solidFill>
                      <a:schemeClr val="accent5">
                        <a:lumMod val="20000"/>
                        <a:lumOff val="80000"/>
                      </a:schemeClr>
                    </a:solidFill>
                  </a:tcPr>
                </a:tc>
                <a:extLst>
                  <a:ext uri="{0D108BD9-81ED-4DB2-BD59-A6C34878D82A}">
                    <a16:rowId xmlns:a16="http://schemas.microsoft.com/office/drawing/2014/main" val="811705103"/>
                  </a:ext>
                </a:extLst>
              </a:tr>
              <a:tr h="245317">
                <a:tc>
                  <a:txBody>
                    <a:bodyPr/>
                    <a:lstStyle/>
                    <a:p>
                      <a:pPr>
                        <a:buNone/>
                      </a:pPr>
                      <a:r>
                        <a:rPr lang="en-AU" sz="1600">
                          <a:effectLst/>
                        </a:rPr>
                        <a:t>13</a:t>
                      </a:r>
                      <a:endParaRPr lang="en-AU" sz="24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a:buNone/>
                      </a:pPr>
                      <a:r>
                        <a:rPr lang="en-AU" sz="1600" dirty="0">
                          <a:effectLst/>
                        </a:rPr>
                        <a:t>26 Oct 2025</a:t>
                      </a:r>
                      <a:endParaRPr lang="en-AU" sz="2400" dirty="0">
                        <a:effectLst/>
                        <a:latin typeface="Times New Roman" panose="02020603050405020304" pitchFamily="18" charset="0"/>
                        <a:ea typeface="Times New Roman" panose="02020603050405020304" pitchFamily="18" charset="0"/>
                      </a:endParaRPr>
                    </a:p>
                  </a:txBody>
                  <a:tcPr marL="28575" marR="28575" marT="28575" marB="28575" anchor="ctr">
                    <a:solidFill>
                      <a:schemeClr val="accent3">
                        <a:lumMod val="20000"/>
                        <a:lumOff val="80000"/>
                      </a:schemeClr>
                    </a:solidFill>
                  </a:tcPr>
                </a:tc>
                <a:tc>
                  <a:txBody>
                    <a:bodyPr/>
                    <a:lstStyle/>
                    <a:p>
                      <a:pPr>
                        <a:buNone/>
                      </a:pPr>
                      <a:r>
                        <a:rPr lang="en-AU" sz="1600" dirty="0">
                          <a:effectLst/>
                        </a:rPr>
                        <a:t>Quiz 2 (covering lectures 14–26)</a:t>
                      </a:r>
                      <a:endParaRPr lang="en-AU" sz="1600" dirty="0">
                        <a:effectLst/>
                        <a:latin typeface="Times New Roman" panose="02020603050405020304" pitchFamily="18" charset="0"/>
                        <a:ea typeface="Times New Roman" panose="02020603050405020304" pitchFamily="18" charset="0"/>
                      </a:endParaRPr>
                    </a:p>
                  </a:txBody>
                  <a:tcPr marL="28575" marR="28575" marT="28575" marB="28575" anchor="ctr">
                    <a:solidFill>
                      <a:schemeClr val="accent3">
                        <a:lumMod val="20000"/>
                        <a:lumOff val="80000"/>
                      </a:schemeClr>
                    </a:solidFill>
                  </a:tcPr>
                </a:tc>
                <a:extLst>
                  <a:ext uri="{0D108BD9-81ED-4DB2-BD59-A6C34878D82A}">
                    <a16:rowId xmlns:a16="http://schemas.microsoft.com/office/drawing/2014/main" val="2076967617"/>
                  </a:ext>
                </a:extLst>
              </a:tr>
              <a:tr h="245317">
                <a:tc>
                  <a:txBody>
                    <a:bodyPr/>
                    <a:lstStyle/>
                    <a:p>
                      <a:pPr>
                        <a:buNone/>
                      </a:pPr>
                      <a:r>
                        <a:rPr lang="en-AU" sz="1600" dirty="0">
                          <a:effectLst/>
                        </a:rPr>
                        <a:t> </a:t>
                      </a:r>
                      <a:endParaRPr lang="en-AU" sz="2400" dirty="0">
                        <a:effectLst/>
                        <a:latin typeface="Times New Roman" panose="02020603050405020304" pitchFamily="18" charset="0"/>
                        <a:ea typeface="Times New Roman" panose="02020603050405020304" pitchFamily="18" charset="0"/>
                      </a:endParaRPr>
                    </a:p>
                  </a:txBody>
                  <a:tcPr marL="28575" marR="28575" marT="28575" marB="28575" anchor="ctr">
                    <a:solidFill>
                      <a:schemeClr val="accent6">
                        <a:lumMod val="20000"/>
                        <a:lumOff val="80000"/>
                      </a:schemeClr>
                    </a:solidFill>
                  </a:tcPr>
                </a:tc>
                <a:tc>
                  <a:txBody>
                    <a:bodyPr/>
                    <a:lstStyle/>
                    <a:p>
                      <a:pPr>
                        <a:buNone/>
                      </a:pPr>
                      <a:r>
                        <a:rPr lang="en-AU" sz="1600" dirty="0">
                          <a:effectLst/>
                        </a:rPr>
                        <a:t>02 Nov 2025</a:t>
                      </a:r>
                      <a:endParaRPr lang="en-AU" sz="2400" dirty="0">
                        <a:effectLst/>
                        <a:latin typeface="Times New Roman" panose="02020603050405020304" pitchFamily="18" charset="0"/>
                        <a:ea typeface="Times New Roman" panose="02020603050405020304" pitchFamily="18" charset="0"/>
                      </a:endParaRPr>
                    </a:p>
                  </a:txBody>
                  <a:tcPr marL="28575" marR="28575" marT="28575" marB="28575" anchor="ctr">
                    <a:solidFill>
                      <a:schemeClr val="accent6">
                        <a:lumMod val="20000"/>
                        <a:lumOff val="80000"/>
                      </a:schemeClr>
                    </a:solidFill>
                  </a:tcPr>
                </a:tc>
                <a:tc>
                  <a:txBody>
                    <a:bodyPr/>
                    <a:lstStyle/>
                    <a:p>
                      <a:pPr>
                        <a:buNone/>
                      </a:pPr>
                      <a:r>
                        <a:rPr lang="en-AU" sz="1600">
                          <a:effectLst/>
                        </a:rPr>
                        <a:t>Study Recess</a:t>
                      </a:r>
                      <a:endParaRPr lang="en-AU" sz="2400">
                        <a:effectLst/>
                        <a:latin typeface="Times New Roman" panose="02020603050405020304" pitchFamily="18" charset="0"/>
                        <a:ea typeface="Times New Roman" panose="02020603050405020304" pitchFamily="18" charset="0"/>
                      </a:endParaRPr>
                    </a:p>
                  </a:txBody>
                  <a:tcPr marL="28575" marR="28575" marT="28575" marB="28575" anchor="ctr">
                    <a:solidFill>
                      <a:schemeClr val="accent6">
                        <a:lumMod val="20000"/>
                        <a:lumOff val="80000"/>
                      </a:schemeClr>
                    </a:solidFill>
                  </a:tcPr>
                </a:tc>
                <a:extLst>
                  <a:ext uri="{0D108BD9-81ED-4DB2-BD59-A6C34878D82A}">
                    <a16:rowId xmlns:a16="http://schemas.microsoft.com/office/drawing/2014/main" val="134131942"/>
                  </a:ext>
                </a:extLst>
              </a:tr>
              <a:tr h="245317">
                <a:tc>
                  <a:txBody>
                    <a:bodyPr/>
                    <a:lstStyle/>
                    <a:p>
                      <a:pPr>
                        <a:buNone/>
                      </a:pPr>
                      <a:r>
                        <a:rPr lang="en-AU" sz="1600">
                          <a:effectLst/>
                        </a:rPr>
                        <a:t> </a:t>
                      </a:r>
                      <a:endParaRPr lang="en-AU" sz="2400">
                        <a:effectLst/>
                        <a:latin typeface="Times New Roman" panose="02020603050405020304" pitchFamily="18" charset="0"/>
                        <a:ea typeface="Times New Roman" panose="02020603050405020304" pitchFamily="18" charset="0"/>
                      </a:endParaRPr>
                    </a:p>
                  </a:txBody>
                  <a:tcPr marL="28575" marR="28575" marT="28575" marB="28575" anchor="ctr">
                    <a:solidFill>
                      <a:schemeClr val="accent6">
                        <a:lumMod val="20000"/>
                        <a:lumOff val="80000"/>
                      </a:schemeClr>
                    </a:solidFill>
                  </a:tcPr>
                </a:tc>
                <a:tc>
                  <a:txBody>
                    <a:bodyPr/>
                    <a:lstStyle/>
                    <a:p>
                      <a:pPr>
                        <a:buNone/>
                      </a:pPr>
                      <a:r>
                        <a:rPr lang="en-AU" sz="1600" dirty="0">
                          <a:effectLst/>
                        </a:rPr>
                        <a:t>07 Nov 2025</a:t>
                      </a:r>
                      <a:endParaRPr lang="en-AU" sz="2400" dirty="0">
                        <a:effectLst/>
                        <a:latin typeface="Times New Roman" panose="02020603050405020304" pitchFamily="18" charset="0"/>
                        <a:ea typeface="Times New Roman" panose="02020603050405020304" pitchFamily="18" charset="0"/>
                      </a:endParaRPr>
                    </a:p>
                  </a:txBody>
                  <a:tcPr marL="28575" marR="28575" marT="28575" marB="28575" anchor="ctr">
                    <a:solidFill>
                      <a:schemeClr val="accent6">
                        <a:lumMod val="20000"/>
                        <a:lumOff val="80000"/>
                      </a:schemeClr>
                    </a:solidFill>
                  </a:tcPr>
                </a:tc>
                <a:tc>
                  <a:txBody>
                    <a:bodyPr/>
                    <a:lstStyle/>
                    <a:p>
                      <a:pPr>
                        <a:buNone/>
                      </a:pPr>
                      <a:r>
                        <a:rPr lang="en-AU" sz="1600" dirty="0">
                          <a:effectLst/>
                        </a:rPr>
                        <a:t>Examinations</a:t>
                      </a:r>
                      <a:endParaRPr lang="en-AU" sz="2400" dirty="0">
                        <a:effectLst/>
                        <a:latin typeface="Times New Roman" panose="02020603050405020304" pitchFamily="18" charset="0"/>
                        <a:ea typeface="Times New Roman" panose="02020603050405020304" pitchFamily="18" charset="0"/>
                      </a:endParaRPr>
                    </a:p>
                  </a:txBody>
                  <a:tcPr marL="28575" marR="28575" marT="28575" marB="28575" anchor="ctr">
                    <a:solidFill>
                      <a:schemeClr val="accent6">
                        <a:lumMod val="20000"/>
                        <a:lumOff val="80000"/>
                      </a:schemeClr>
                    </a:solidFill>
                  </a:tcPr>
                </a:tc>
                <a:extLst>
                  <a:ext uri="{0D108BD9-81ED-4DB2-BD59-A6C34878D82A}">
                    <a16:rowId xmlns:a16="http://schemas.microsoft.com/office/drawing/2014/main" val="2142164639"/>
                  </a:ext>
                </a:extLst>
              </a:tr>
              <a:tr h="245317">
                <a:tc>
                  <a:txBody>
                    <a:bodyPr/>
                    <a:lstStyle/>
                    <a:p>
                      <a:pPr>
                        <a:buNone/>
                      </a:pPr>
                      <a:r>
                        <a:rPr lang="en-AU" sz="1600">
                          <a:effectLst/>
                        </a:rPr>
                        <a:t> </a:t>
                      </a:r>
                      <a:endParaRPr lang="en-AU" sz="2400">
                        <a:effectLst/>
                        <a:latin typeface="Times New Roman" panose="02020603050405020304" pitchFamily="18" charset="0"/>
                        <a:ea typeface="Times New Roman" panose="02020603050405020304" pitchFamily="18" charset="0"/>
                      </a:endParaRPr>
                    </a:p>
                  </a:txBody>
                  <a:tcPr marL="28575" marR="28575" marT="28575" marB="28575" anchor="ctr">
                    <a:solidFill>
                      <a:schemeClr val="accent6">
                        <a:lumMod val="20000"/>
                        <a:lumOff val="80000"/>
                      </a:schemeClr>
                    </a:solidFill>
                  </a:tcPr>
                </a:tc>
                <a:tc>
                  <a:txBody>
                    <a:bodyPr/>
                    <a:lstStyle/>
                    <a:p>
                      <a:pPr>
                        <a:buNone/>
                      </a:pPr>
                      <a:r>
                        <a:rPr lang="en-AU" sz="1600" dirty="0">
                          <a:effectLst/>
                        </a:rPr>
                        <a:t>14 Nov 2025</a:t>
                      </a:r>
                      <a:endParaRPr lang="en-AU" sz="2400" dirty="0">
                        <a:effectLst/>
                        <a:latin typeface="Times New Roman" panose="02020603050405020304" pitchFamily="18" charset="0"/>
                        <a:ea typeface="Times New Roman" panose="02020603050405020304" pitchFamily="18" charset="0"/>
                      </a:endParaRPr>
                    </a:p>
                  </a:txBody>
                  <a:tcPr marL="28575" marR="28575" marT="28575" marB="28575" anchor="ctr">
                    <a:solidFill>
                      <a:schemeClr val="accent6">
                        <a:lumMod val="20000"/>
                        <a:lumOff val="80000"/>
                      </a:schemeClr>
                    </a:solidFill>
                  </a:tcPr>
                </a:tc>
                <a:tc>
                  <a:txBody>
                    <a:bodyPr/>
                    <a:lstStyle/>
                    <a:p>
                      <a:pPr>
                        <a:buNone/>
                      </a:pPr>
                      <a:r>
                        <a:rPr lang="en-AU" sz="1600" dirty="0">
                          <a:effectLst/>
                        </a:rPr>
                        <a:t>Examinations</a:t>
                      </a:r>
                      <a:endParaRPr lang="en-AU" sz="2400" dirty="0">
                        <a:effectLst/>
                        <a:latin typeface="Times New Roman" panose="02020603050405020304" pitchFamily="18" charset="0"/>
                        <a:ea typeface="Times New Roman" panose="02020603050405020304" pitchFamily="18" charset="0"/>
                      </a:endParaRPr>
                    </a:p>
                  </a:txBody>
                  <a:tcPr marL="28575" marR="28575" marT="28575" marB="28575" anchor="ctr">
                    <a:solidFill>
                      <a:schemeClr val="accent6">
                        <a:lumMod val="20000"/>
                        <a:lumOff val="80000"/>
                      </a:schemeClr>
                    </a:solidFill>
                  </a:tcPr>
                </a:tc>
                <a:extLst>
                  <a:ext uri="{0D108BD9-81ED-4DB2-BD59-A6C34878D82A}">
                    <a16:rowId xmlns:a16="http://schemas.microsoft.com/office/drawing/2014/main" val="378835625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0" y="0"/>
            <a:ext cx="9144000" cy="908719"/>
          </a:xfrm>
          <a:prstGeom prst="rect">
            <a:avLst/>
          </a:prstGeom>
          <a:solidFill>
            <a:schemeClr val="accent5">
              <a:lumMod val="40000"/>
              <a:lumOff val="60000"/>
            </a:schemeClr>
          </a:solidFill>
          <a:ln>
            <a:solidFill>
              <a:schemeClr val="tx1"/>
            </a:solidFill>
          </a:ln>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AU" sz="4400" b="0" i="0" u="none" strike="noStrike" kern="1200" cap="none" spc="0" normalizeH="0" baseline="0" noProof="0" dirty="0">
                <a:ln>
                  <a:noFill/>
                </a:ln>
                <a:effectLst/>
                <a:uLnTx/>
                <a:uFillTx/>
                <a:latin typeface="+mj-lt"/>
                <a:ea typeface="+mj-ea"/>
                <a:cs typeface="+mj-cs"/>
              </a:rPr>
              <a:t>Phylogenetics module</a:t>
            </a:r>
          </a:p>
        </p:txBody>
      </p:sp>
      <p:sp>
        <p:nvSpPr>
          <p:cNvPr id="2" name="AutoShape 2" descr="Illawarra Birders Publication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3" name="AutoShape 4" descr="Illawarra Birders Publication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4" name="TextBox 3">
            <a:extLst>
              <a:ext uri="{FF2B5EF4-FFF2-40B4-BE49-F238E27FC236}">
                <a16:creationId xmlns:a16="http://schemas.microsoft.com/office/drawing/2014/main" id="{8147B3F1-A27B-EC86-CD6B-A1A7DFA16C77}"/>
              </a:ext>
            </a:extLst>
          </p:cNvPr>
          <p:cNvSpPr txBox="1"/>
          <p:nvPr/>
        </p:nvSpPr>
        <p:spPr>
          <a:xfrm>
            <a:off x="971600" y="1772816"/>
            <a:ext cx="4891056" cy="4893647"/>
          </a:xfrm>
          <a:prstGeom prst="rect">
            <a:avLst/>
          </a:prstGeom>
          <a:noFill/>
        </p:spPr>
        <p:txBody>
          <a:bodyPr wrap="square" rtlCol="0">
            <a:spAutoFit/>
          </a:bodyPr>
          <a:lstStyle/>
          <a:p>
            <a:pPr>
              <a:buFontTx/>
              <a:buChar char="-"/>
            </a:pPr>
            <a:r>
              <a:rPr lang="en-AU" sz="2800" dirty="0"/>
              <a:t> Four-week module</a:t>
            </a:r>
          </a:p>
          <a:p>
            <a:endParaRPr lang="en-AU" sz="2800" dirty="0"/>
          </a:p>
          <a:p>
            <a:pPr>
              <a:buFontTx/>
              <a:buChar char="-"/>
            </a:pPr>
            <a:r>
              <a:rPr lang="en-AU" sz="2800" dirty="0"/>
              <a:t> Tied to an assessment task</a:t>
            </a:r>
          </a:p>
          <a:p>
            <a:endParaRPr lang="en-AU" sz="2800" dirty="0"/>
          </a:p>
          <a:p>
            <a:pPr>
              <a:buFontTx/>
              <a:buChar char="-"/>
            </a:pPr>
            <a:r>
              <a:rPr lang="en-AU" sz="2800" dirty="0"/>
              <a:t>You will present grant proposal (phylogeny + 1,200 words)</a:t>
            </a:r>
          </a:p>
          <a:p>
            <a:endParaRPr lang="en-AU" sz="2800" dirty="0"/>
          </a:p>
          <a:p>
            <a:pPr>
              <a:buFontTx/>
              <a:buChar char="-"/>
            </a:pPr>
            <a:r>
              <a:rPr lang="en-AU" sz="2800" dirty="0"/>
              <a:t>Worth 20%</a:t>
            </a:r>
          </a:p>
          <a:p>
            <a:endParaRPr lang="en-AU" sz="2800" dirty="0"/>
          </a:p>
          <a:p>
            <a:pPr>
              <a:buFontTx/>
              <a:buChar char="-"/>
            </a:pPr>
            <a:endParaRPr lang="en-AU" sz="2000" dirty="0"/>
          </a:p>
          <a:p>
            <a:pPr>
              <a:buFontTx/>
              <a:buChar char="-"/>
            </a:pPr>
            <a:endParaRPr lang="en-AU" sz="2000" dirty="0"/>
          </a:p>
          <a:p>
            <a:pPr>
              <a:buFontTx/>
              <a:buChar char="-"/>
            </a:pPr>
            <a:endParaRPr lang="en-AU" sz="2000" dirty="0"/>
          </a:p>
        </p:txBody>
      </p:sp>
    </p:spTree>
    <p:extLst>
      <p:ext uri="{BB962C8B-B14F-4D97-AF65-F5344CB8AC3E}">
        <p14:creationId xmlns:p14="http://schemas.microsoft.com/office/powerpoint/2010/main" val="2477007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0" y="0"/>
            <a:ext cx="9144000" cy="908719"/>
          </a:xfrm>
          <a:prstGeom prst="rect">
            <a:avLst/>
          </a:prstGeom>
          <a:solidFill>
            <a:schemeClr val="accent5">
              <a:lumMod val="40000"/>
              <a:lumOff val="60000"/>
            </a:schemeClr>
          </a:solidFill>
          <a:ln>
            <a:solidFill>
              <a:schemeClr val="tx1"/>
            </a:solidFill>
          </a:ln>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AU" sz="4400" b="0" i="0" u="none" strike="noStrike" kern="1200" cap="none" spc="0" normalizeH="0" baseline="0" noProof="0" dirty="0">
                <a:ln>
                  <a:noFill/>
                </a:ln>
                <a:effectLst/>
                <a:uLnTx/>
                <a:uFillTx/>
                <a:latin typeface="+mj-lt"/>
                <a:ea typeface="+mj-ea"/>
                <a:cs typeface="+mj-cs"/>
              </a:rPr>
              <a:t>What </a:t>
            </a:r>
            <a:r>
              <a:rPr lang="en-AU" sz="4400" dirty="0">
                <a:latin typeface="+mj-lt"/>
                <a:ea typeface="+mj-ea"/>
                <a:cs typeface="+mj-cs"/>
              </a:rPr>
              <a:t>are phylogenies?</a:t>
            </a:r>
            <a:endParaRPr kumimoji="0" lang="en-AU" sz="4400" b="0" i="0" u="none" strike="noStrike" kern="1200" cap="none" spc="0" normalizeH="0" baseline="0" noProof="0" dirty="0">
              <a:ln>
                <a:noFill/>
              </a:ln>
              <a:effectLst/>
              <a:uLnTx/>
              <a:uFillTx/>
              <a:latin typeface="+mj-lt"/>
              <a:ea typeface="+mj-ea"/>
              <a:cs typeface="+mj-cs"/>
            </a:endParaRPr>
          </a:p>
        </p:txBody>
      </p:sp>
      <p:sp>
        <p:nvSpPr>
          <p:cNvPr id="2" name="AutoShape 2" descr="Illawarra Birders Publication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3" name="AutoShape 4" descr="Illawarra Birders Publication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4" name="TextBox 3">
            <a:extLst>
              <a:ext uri="{FF2B5EF4-FFF2-40B4-BE49-F238E27FC236}">
                <a16:creationId xmlns:a16="http://schemas.microsoft.com/office/drawing/2014/main" id="{8147B3F1-A27B-EC86-CD6B-A1A7DFA16C77}"/>
              </a:ext>
            </a:extLst>
          </p:cNvPr>
          <p:cNvSpPr txBox="1"/>
          <p:nvPr/>
        </p:nvSpPr>
        <p:spPr>
          <a:xfrm>
            <a:off x="971600" y="1772816"/>
            <a:ext cx="5400600" cy="4462760"/>
          </a:xfrm>
          <a:prstGeom prst="rect">
            <a:avLst/>
          </a:prstGeom>
          <a:noFill/>
        </p:spPr>
        <p:txBody>
          <a:bodyPr wrap="square" rtlCol="0">
            <a:spAutoFit/>
          </a:bodyPr>
          <a:lstStyle/>
          <a:p>
            <a:pPr>
              <a:buFontTx/>
              <a:buChar char="-"/>
            </a:pPr>
            <a:r>
              <a:rPr lang="en-AU" sz="2800" dirty="0"/>
              <a:t> Phylogenies are a representation of [possible] evolutionary patterns</a:t>
            </a:r>
          </a:p>
          <a:p>
            <a:pPr lvl="1">
              <a:buFontTx/>
              <a:buChar char="-"/>
            </a:pPr>
            <a:r>
              <a:rPr lang="en-AU" sz="2800" dirty="0"/>
              <a:t>Genetic data</a:t>
            </a:r>
          </a:p>
          <a:p>
            <a:pPr lvl="1">
              <a:buFontTx/>
              <a:buChar char="-"/>
            </a:pPr>
            <a:r>
              <a:rPr lang="en-AU" sz="2800" dirty="0"/>
              <a:t>Amino acids</a:t>
            </a:r>
          </a:p>
          <a:p>
            <a:pPr lvl="1">
              <a:buFontTx/>
              <a:buChar char="-"/>
            </a:pPr>
            <a:r>
              <a:rPr lang="en-AU" sz="2800" dirty="0"/>
              <a:t>Morphology</a:t>
            </a:r>
          </a:p>
          <a:p>
            <a:pPr>
              <a:buFontTx/>
              <a:buChar char="-"/>
            </a:pPr>
            <a:r>
              <a:rPr lang="en-AU" sz="2800" dirty="0"/>
              <a:t>Rooted or unrooted</a:t>
            </a:r>
          </a:p>
          <a:p>
            <a:pPr lvl="1">
              <a:buFontTx/>
              <a:buChar char="-"/>
            </a:pPr>
            <a:r>
              <a:rPr lang="en-AU" sz="2800" dirty="0"/>
              <a:t>outgroup</a:t>
            </a:r>
          </a:p>
          <a:p>
            <a:endParaRPr lang="en-AU" sz="2800" dirty="0"/>
          </a:p>
          <a:p>
            <a:pPr>
              <a:buFontTx/>
              <a:buChar char="-"/>
            </a:pPr>
            <a:endParaRPr lang="en-AU" sz="2000" dirty="0"/>
          </a:p>
          <a:p>
            <a:pPr>
              <a:buFontTx/>
              <a:buChar char="-"/>
            </a:pPr>
            <a:endParaRPr lang="en-AU" sz="2000" dirty="0"/>
          </a:p>
          <a:p>
            <a:pPr>
              <a:buFontTx/>
              <a:buChar char="-"/>
            </a:pPr>
            <a:endParaRPr lang="en-AU" sz="2000" dirty="0"/>
          </a:p>
        </p:txBody>
      </p:sp>
      <p:pic>
        <p:nvPicPr>
          <p:cNvPr id="5" name="Picture 4">
            <a:extLst>
              <a:ext uri="{FF2B5EF4-FFF2-40B4-BE49-F238E27FC236}">
                <a16:creationId xmlns:a16="http://schemas.microsoft.com/office/drawing/2014/main" id="{787D38CC-8849-5B35-63FE-37CEEDE2E017}"/>
              </a:ext>
            </a:extLst>
          </p:cNvPr>
          <p:cNvPicPr>
            <a:picLocks noChangeAspect="1"/>
          </p:cNvPicPr>
          <p:nvPr/>
        </p:nvPicPr>
        <p:blipFill>
          <a:blip r:embed="rId2"/>
          <a:stretch>
            <a:fillRect/>
          </a:stretch>
        </p:blipFill>
        <p:spPr>
          <a:xfrm>
            <a:off x="6228184" y="1779087"/>
            <a:ext cx="2376264" cy="4279902"/>
          </a:xfrm>
          <a:prstGeom prst="rect">
            <a:avLst/>
          </a:prstGeom>
        </p:spPr>
      </p:pic>
    </p:spTree>
    <p:extLst>
      <p:ext uri="{BB962C8B-B14F-4D97-AF65-F5344CB8AC3E}">
        <p14:creationId xmlns:p14="http://schemas.microsoft.com/office/powerpoint/2010/main" val="2646063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0" y="0"/>
            <a:ext cx="9144000" cy="908719"/>
          </a:xfrm>
          <a:prstGeom prst="rect">
            <a:avLst/>
          </a:prstGeom>
          <a:solidFill>
            <a:schemeClr val="accent5">
              <a:lumMod val="40000"/>
              <a:lumOff val="60000"/>
            </a:schemeClr>
          </a:solidFill>
          <a:ln>
            <a:solidFill>
              <a:schemeClr val="tx1"/>
            </a:solidFill>
          </a:ln>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AU" sz="4400" b="0" i="0" u="none" strike="noStrike" kern="1200" cap="none" spc="0" normalizeH="0" baseline="0" noProof="0" dirty="0">
                <a:ln>
                  <a:noFill/>
                </a:ln>
                <a:effectLst/>
                <a:uLnTx/>
                <a:uFillTx/>
                <a:latin typeface="+mj-lt"/>
                <a:ea typeface="+mj-ea"/>
                <a:cs typeface="+mj-cs"/>
              </a:rPr>
              <a:t>I’m an ecologist…</a:t>
            </a:r>
          </a:p>
        </p:txBody>
      </p:sp>
      <p:sp>
        <p:nvSpPr>
          <p:cNvPr id="2" name="AutoShape 2" descr="Illawarra Birders Publication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3" name="AutoShape 4" descr="Illawarra Birders Publication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7" name="TextBox 6">
            <a:extLst>
              <a:ext uri="{FF2B5EF4-FFF2-40B4-BE49-F238E27FC236}">
                <a16:creationId xmlns:a16="http://schemas.microsoft.com/office/drawing/2014/main" id="{6B75C046-5C3A-7CAE-AEAD-9E57BD112A93}"/>
              </a:ext>
            </a:extLst>
          </p:cNvPr>
          <p:cNvSpPr txBox="1"/>
          <p:nvPr/>
        </p:nvSpPr>
        <p:spPr>
          <a:xfrm>
            <a:off x="971600" y="1772816"/>
            <a:ext cx="5400600" cy="3600986"/>
          </a:xfrm>
          <a:prstGeom prst="rect">
            <a:avLst/>
          </a:prstGeom>
          <a:noFill/>
        </p:spPr>
        <p:txBody>
          <a:bodyPr wrap="square" rtlCol="0">
            <a:spAutoFit/>
          </a:bodyPr>
          <a:lstStyle/>
          <a:p>
            <a:pPr>
              <a:buFontTx/>
              <a:buChar char="-"/>
            </a:pPr>
            <a:r>
              <a:rPr lang="en-AU" sz="2800" dirty="0"/>
              <a:t> Evolution is ecology</a:t>
            </a:r>
          </a:p>
          <a:p>
            <a:pPr lvl="1">
              <a:buFontTx/>
              <a:buChar char="-"/>
            </a:pPr>
            <a:r>
              <a:rPr lang="en-AU" sz="2800" dirty="0"/>
              <a:t>Over a longer time period</a:t>
            </a:r>
          </a:p>
          <a:p>
            <a:pPr lvl="1">
              <a:buFontTx/>
              <a:buChar char="-"/>
            </a:pPr>
            <a:r>
              <a:rPr lang="en-AU" sz="2800" dirty="0"/>
              <a:t>Answer questions that you cannot with classical ecological inquiry  </a:t>
            </a:r>
          </a:p>
          <a:p>
            <a:endParaRPr lang="en-AU" sz="2800" dirty="0"/>
          </a:p>
          <a:p>
            <a:pPr>
              <a:buFontTx/>
              <a:buChar char="-"/>
            </a:pPr>
            <a:endParaRPr lang="en-AU" sz="2000" dirty="0"/>
          </a:p>
          <a:p>
            <a:pPr>
              <a:buFontTx/>
              <a:buChar char="-"/>
            </a:pPr>
            <a:endParaRPr lang="en-AU" sz="2000" dirty="0"/>
          </a:p>
          <a:p>
            <a:pPr>
              <a:buFontTx/>
              <a:buChar char="-"/>
            </a:pPr>
            <a:endParaRPr lang="en-AU" sz="2000" dirty="0"/>
          </a:p>
        </p:txBody>
      </p:sp>
      <p:pic>
        <p:nvPicPr>
          <p:cNvPr id="8" name="Picture 7" descr="A close-up of a lizard&#10;&#10;Description automatically generated">
            <a:extLst>
              <a:ext uri="{FF2B5EF4-FFF2-40B4-BE49-F238E27FC236}">
                <a16:creationId xmlns:a16="http://schemas.microsoft.com/office/drawing/2014/main" id="{0B79F741-FEBC-44DD-E2A0-A4D74665FD2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5579720" flipH="1" flipV="1">
            <a:off x="6806146" y="647629"/>
            <a:ext cx="1577399" cy="2366099"/>
          </a:xfrm>
          <a:prstGeom prst="rect">
            <a:avLst/>
          </a:prstGeom>
        </p:spPr>
      </p:pic>
      <p:pic>
        <p:nvPicPr>
          <p:cNvPr id="10" name="Picture 9" descr="A close-up of a lizard&#10;&#10;Description automatically generated">
            <a:extLst>
              <a:ext uri="{FF2B5EF4-FFF2-40B4-BE49-F238E27FC236}">
                <a16:creationId xmlns:a16="http://schemas.microsoft.com/office/drawing/2014/main" id="{E5AD1B37-A8FB-956B-6138-27F4EA2AC00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rot="20442573">
            <a:off x="1385" y="4828979"/>
            <a:ext cx="2577357" cy="1719410"/>
          </a:xfrm>
          <a:prstGeom prst="rect">
            <a:avLst/>
          </a:prstGeom>
        </p:spPr>
      </p:pic>
      <p:pic>
        <p:nvPicPr>
          <p:cNvPr id="11" name="Picture 10" descr="A close-up of a lizard&#10;&#10;Description automatically generated">
            <a:extLst>
              <a:ext uri="{FF2B5EF4-FFF2-40B4-BE49-F238E27FC236}">
                <a16:creationId xmlns:a16="http://schemas.microsoft.com/office/drawing/2014/main" id="{DE7BF385-07B5-61B5-7479-45F1C65A02D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flipV="1">
            <a:off x="6146078" y="4797152"/>
            <a:ext cx="2795662" cy="1865153"/>
          </a:xfrm>
          <a:prstGeom prst="rect">
            <a:avLst/>
          </a:prstGeom>
        </p:spPr>
      </p:pic>
    </p:spTree>
    <p:extLst>
      <p:ext uri="{BB962C8B-B14F-4D97-AF65-F5344CB8AC3E}">
        <p14:creationId xmlns:p14="http://schemas.microsoft.com/office/powerpoint/2010/main" val="1499254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0" y="0"/>
            <a:ext cx="9144000" cy="908719"/>
          </a:xfrm>
          <a:prstGeom prst="rect">
            <a:avLst/>
          </a:prstGeom>
          <a:solidFill>
            <a:schemeClr val="accent5">
              <a:lumMod val="40000"/>
              <a:lumOff val="60000"/>
            </a:schemeClr>
          </a:solidFill>
          <a:ln>
            <a:solidFill>
              <a:schemeClr val="tx1"/>
            </a:solidFill>
          </a:ln>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AU" sz="4400" b="0" i="0" u="none" strike="noStrike" kern="1200" cap="none" spc="0" normalizeH="0" baseline="0" noProof="0" dirty="0">
                <a:ln>
                  <a:noFill/>
                </a:ln>
                <a:effectLst/>
                <a:uLnTx/>
                <a:uFillTx/>
                <a:latin typeface="+mj-lt"/>
                <a:ea typeface="+mj-ea"/>
                <a:cs typeface="+mj-cs"/>
              </a:rPr>
              <a:t>Example: Fijian </a:t>
            </a:r>
            <a:r>
              <a:rPr kumimoji="0" lang="en-AU" sz="4400" b="0" i="1" u="none" strike="noStrike" kern="1200" cap="none" spc="0" normalizeH="0" baseline="0" noProof="0" dirty="0" err="1">
                <a:ln>
                  <a:noFill/>
                </a:ln>
                <a:effectLst/>
                <a:uLnTx/>
                <a:uFillTx/>
                <a:latin typeface="+mj-lt"/>
                <a:ea typeface="+mj-ea"/>
                <a:cs typeface="+mj-cs"/>
              </a:rPr>
              <a:t>Lasioglossum</a:t>
            </a:r>
            <a:r>
              <a:rPr kumimoji="0" lang="en-AU" sz="4400" b="0" i="0" u="none" strike="noStrike" kern="1200" cap="none" spc="0" normalizeH="0" baseline="0" noProof="0" dirty="0">
                <a:ln>
                  <a:noFill/>
                </a:ln>
                <a:effectLst/>
                <a:uLnTx/>
                <a:uFillTx/>
                <a:latin typeface="+mj-lt"/>
                <a:ea typeface="+mj-ea"/>
                <a:cs typeface="+mj-cs"/>
              </a:rPr>
              <a:t> bees</a:t>
            </a:r>
          </a:p>
        </p:txBody>
      </p:sp>
      <p:sp>
        <p:nvSpPr>
          <p:cNvPr id="2" name="AutoShape 2" descr="Illawarra Birders Publication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3" name="AutoShape 4" descr="Illawarra Birders Publication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7" name="TextBox 6">
            <a:extLst>
              <a:ext uri="{FF2B5EF4-FFF2-40B4-BE49-F238E27FC236}">
                <a16:creationId xmlns:a16="http://schemas.microsoft.com/office/drawing/2014/main" id="{6B75C046-5C3A-7CAE-AEAD-9E57BD112A93}"/>
              </a:ext>
            </a:extLst>
          </p:cNvPr>
          <p:cNvSpPr txBox="1"/>
          <p:nvPr/>
        </p:nvSpPr>
        <p:spPr>
          <a:xfrm>
            <a:off x="971600" y="1772816"/>
            <a:ext cx="5400600" cy="1877437"/>
          </a:xfrm>
          <a:prstGeom prst="rect">
            <a:avLst/>
          </a:prstGeom>
          <a:noFill/>
        </p:spPr>
        <p:txBody>
          <a:bodyPr wrap="square" rtlCol="0">
            <a:spAutoFit/>
          </a:bodyPr>
          <a:lstStyle/>
          <a:p>
            <a:pPr>
              <a:buFontTx/>
              <a:buChar char="-"/>
            </a:pPr>
            <a:r>
              <a:rPr lang="en-AU" sz="2800" dirty="0"/>
              <a:t> Describe new species</a:t>
            </a:r>
          </a:p>
          <a:p>
            <a:endParaRPr lang="en-AU" sz="2800" dirty="0"/>
          </a:p>
          <a:p>
            <a:pPr>
              <a:buFontTx/>
              <a:buChar char="-"/>
            </a:pPr>
            <a:endParaRPr lang="en-AU" sz="2000" dirty="0"/>
          </a:p>
          <a:p>
            <a:pPr>
              <a:buFontTx/>
              <a:buChar char="-"/>
            </a:pPr>
            <a:endParaRPr lang="en-AU" sz="2000" dirty="0"/>
          </a:p>
          <a:p>
            <a:pPr>
              <a:buFontTx/>
              <a:buChar char="-"/>
            </a:pPr>
            <a:endParaRPr lang="en-AU" sz="2000" dirty="0"/>
          </a:p>
        </p:txBody>
      </p:sp>
      <p:pic>
        <p:nvPicPr>
          <p:cNvPr id="9" name="Picture 8" descr="A close up of a bee&#10;&#10;Description automatically generated">
            <a:extLst>
              <a:ext uri="{FF2B5EF4-FFF2-40B4-BE49-F238E27FC236}">
                <a16:creationId xmlns:a16="http://schemas.microsoft.com/office/drawing/2014/main" id="{B27E086A-C239-E1C5-8491-6CE0D4575939}"/>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2688233" y="2819603"/>
            <a:ext cx="3160567" cy="2016224"/>
          </a:xfrm>
          <a:prstGeom prst="rect">
            <a:avLst/>
          </a:prstGeom>
        </p:spPr>
      </p:pic>
      <p:pic>
        <p:nvPicPr>
          <p:cNvPr id="13" name="Picture 12" descr="A close up of a bee&#10;&#10;Description automatically generated">
            <a:extLst>
              <a:ext uri="{FF2B5EF4-FFF2-40B4-BE49-F238E27FC236}">
                <a16:creationId xmlns:a16="http://schemas.microsoft.com/office/drawing/2014/main" id="{29C6FEB1-C25D-D84D-E109-E2B32F744F26}"/>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flipH="1">
            <a:off x="0" y="4797152"/>
            <a:ext cx="3823593" cy="1734548"/>
          </a:xfrm>
          <a:prstGeom prst="rect">
            <a:avLst/>
          </a:prstGeom>
        </p:spPr>
      </p:pic>
      <p:pic>
        <p:nvPicPr>
          <p:cNvPr id="15" name="Picture 14" descr="A screenshot of a computer screen&#10;&#10;Description automatically generated">
            <a:extLst>
              <a:ext uri="{FF2B5EF4-FFF2-40B4-BE49-F238E27FC236}">
                <a16:creationId xmlns:a16="http://schemas.microsoft.com/office/drawing/2014/main" id="{821E1887-F960-8EC1-4B17-22130084561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054521" y="1053182"/>
            <a:ext cx="3089479" cy="5804818"/>
          </a:xfrm>
          <a:prstGeom prst="rect">
            <a:avLst/>
          </a:prstGeom>
        </p:spPr>
      </p:pic>
    </p:spTree>
    <p:extLst>
      <p:ext uri="{BB962C8B-B14F-4D97-AF65-F5344CB8AC3E}">
        <p14:creationId xmlns:p14="http://schemas.microsoft.com/office/powerpoint/2010/main" val="3976817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0" y="0"/>
            <a:ext cx="9144000" cy="908719"/>
          </a:xfrm>
          <a:prstGeom prst="rect">
            <a:avLst/>
          </a:prstGeom>
          <a:solidFill>
            <a:schemeClr val="accent5">
              <a:lumMod val="40000"/>
              <a:lumOff val="60000"/>
            </a:schemeClr>
          </a:solidFill>
          <a:ln>
            <a:solidFill>
              <a:schemeClr val="tx1"/>
            </a:solidFill>
          </a:ln>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AU" sz="4400" b="0" i="0" u="none" strike="noStrike" kern="1200" cap="none" spc="0" normalizeH="0" baseline="0" noProof="0" dirty="0">
                <a:ln>
                  <a:noFill/>
                </a:ln>
                <a:effectLst/>
                <a:uLnTx/>
                <a:uFillTx/>
                <a:latin typeface="+mj-lt"/>
                <a:ea typeface="+mj-ea"/>
                <a:cs typeface="+mj-cs"/>
              </a:rPr>
              <a:t>Example: Fijian </a:t>
            </a:r>
            <a:r>
              <a:rPr kumimoji="0" lang="en-AU" sz="4400" b="0" i="1" u="none" strike="noStrike" kern="1200" cap="none" spc="0" normalizeH="0" baseline="0" noProof="0" dirty="0" err="1">
                <a:ln>
                  <a:noFill/>
                </a:ln>
                <a:effectLst/>
                <a:uLnTx/>
                <a:uFillTx/>
                <a:latin typeface="+mj-lt"/>
                <a:ea typeface="+mj-ea"/>
                <a:cs typeface="+mj-cs"/>
              </a:rPr>
              <a:t>Lasioglossum</a:t>
            </a:r>
            <a:r>
              <a:rPr kumimoji="0" lang="en-AU" sz="4400" b="0" i="0" u="none" strike="noStrike" kern="1200" cap="none" spc="0" normalizeH="0" baseline="0" noProof="0" dirty="0">
                <a:ln>
                  <a:noFill/>
                </a:ln>
                <a:effectLst/>
                <a:uLnTx/>
                <a:uFillTx/>
                <a:latin typeface="+mj-lt"/>
                <a:ea typeface="+mj-ea"/>
                <a:cs typeface="+mj-cs"/>
              </a:rPr>
              <a:t> bees</a:t>
            </a:r>
          </a:p>
        </p:txBody>
      </p:sp>
      <p:sp>
        <p:nvSpPr>
          <p:cNvPr id="2" name="AutoShape 2" descr="Illawarra Birders Publication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3" name="AutoShape 4" descr="Illawarra Birders Publication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7" name="TextBox 6">
            <a:extLst>
              <a:ext uri="{FF2B5EF4-FFF2-40B4-BE49-F238E27FC236}">
                <a16:creationId xmlns:a16="http://schemas.microsoft.com/office/drawing/2014/main" id="{6B75C046-5C3A-7CAE-AEAD-9E57BD112A93}"/>
              </a:ext>
            </a:extLst>
          </p:cNvPr>
          <p:cNvSpPr txBox="1"/>
          <p:nvPr/>
        </p:nvSpPr>
        <p:spPr>
          <a:xfrm>
            <a:off x="971600" y="1772816"/>
            <a:ext cx="5400600" cy="1877437"/>
          </a:xfrm>
          <a:prstGeom prst="rect">
            <a:avLst/>
          </a:prstGeom>
          <a:noFill/>
        </p:spPr>
        <p:txBody>
          <a:bodyPr wrap="square" rtlCol="0">
            <a:spAutoFit/>
          </a:bodyPr>
          <a:lstStyle/>
          <a:p>
            <a:pPr>
              <a:buFontTx/>
              <a:buChar char="-"/>
            </a:pPr>
            <a:r>
              <a:rPr lang="en-AU" sz="2800" dirty="0"/>
              <a:t> Infer traits &amp; biogeography</a:t>
            </a:r>
          </a:p>
          <a:p>
            <a:endParaRPr lang="en-AU" sz="2800" dirty="0"/>
          </a:p>
          <a:p>
            <a:pPr>
              <a:buFontTx/>
              <a:buChar char="-"/>
            </a:pPr>
            <a:endParaRPr lang="en-AU" sz="2000" dirty="0"/>
          </a:p>
          <a:p>
            <a:pPr>
              <a:buFontTx/>
              <a:buChar char="-"/>
            </a:pPr>
            <a:endParaRPr lang="en-AU" sz="2000" dirty="0"/>
          </a:p>
          <a:p>
            <a:pPr>
              <a:buFontTx/>
              <a:buChar char="-"/>
            </a:pPr>
            <a:endParaRPr lang="en-AU" sz="2000" dirty="0"/>
          </a:p>
        </p:txBody>
      </p:sp>
      <p:pic>
        <p:nvPicPr>
          <p:cNvPr id="5" name="Picture 4" descr="A close up of a bee&#10;&#10;Description automatically generated">
            <a:extLst>
              <a:ext uri="{FF2B5EF4-FFF2-40B4-BE49-F238E27FC236}">
                <a16:creationId xmlns:a16="http://schemas.microsoft.com/office/drawing/2014/main" id="{7DEE601C-1A4A-2D8D-8B8C-345E86BBA9D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2688233" y="2819603"/>
            <a:ext cx="3160567" cy="2016224"/>
          </a:xfrm>
          <a:prstGeom prst="rect">
            <a:avLst/>
          </a:prstGeom>
        </p:spPr>
      </p:pic>
      <p:pic>
        <p:nvPicPr>
          <p:cNvPr id="8" name="Picture 7" descr="A close up of a bee&#10;&#10;Description automatically generated">
            <a:extLst>
              <a:ext uri="{FF2B5EF4-FFF2-40B4-BE49-F238E27FC236}">
                <a16:creationId xmlns:a16="http://schemas.microsoft.com/office/drawing/2014/main" id="{2C22CA92-8246-A633-12AF-1026A0DD82A6}"/>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flipH="1">
            <a:off x="0" y="4797152"/>
            <a:ext cx="3823593" cy="1734548"/>
          </a:xfrm>
          <a:prstGeom prst="rect">
            <a:avLst/>
          </a:prstGeom>
        </p:spPr>
      </p:pic>
      <p:pic>
        <p:nvPicPr>
          <p:cNvPr id="4" name="Picture 3">
            <a:extLst>
              <a:ext uri="{FF2B5EF4-FFF2-40B4-BE49-F238E27FC236}">
                <a16:creationId xmlns:a16="http://schemas.microsoft.com/office/drawing/2014/main" id="{512BEA82-6F96-3148-3769-97D5482E72C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20409" y="1658574"/>
            <a:ext cx="4082317" cy="4338282"/>
          </a:xfrm>
          <a:prstGeom prst="rect">
            <a:avLst/>
          </a:prstGeom>
        </p:spPr>
      </p:pic>
    </p:spTree>
    <p:extLst>
      <p:ext uri="{BB962C8B-B14F-4D97-AF65-F5344CB8AC3E}">
        <p14:creationId xmlns:p14="http://schemas.microsoft.com/office/powerpoint/2010/main" val="1627198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0" y="0"/>
            <a:ext cx="9144000" cy="908719"/>
          </a:xfrm>
          <a:prstGeom prst="rect">
            <a:avLst/>
          </a:prstGeom>
          <a:solidFill>
            <a:schemeClr val="accent5">
              <a:lumMod val="40000"/>
              <a:lumOff val="60000"/>
            </a:schemeClr>
          </a:solidFill>
          <a:ln>
            <a:solidFill>
              <a:schemeClr val="tx1"/>
            </a:solidFill>
          </a:ln>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AU" sz="4400" b="0" i="0" u="none" strike="noStrike" kern="1200" cap="none" spc="0" normalizeH="0" baseline="0" noProof="0" dirty="0">
                <a:ln>
                  <a:noFill/>
                </a:ln>
                <a:effectLst/>
                <a:uLnTx/>
                <a:uFillTx/>
                <a:latin typeface="+mj-lt"/>
                <a:ea typeface="+mj-ea"/>
                <a:cs typeface="+mj-cs"/>
              </a:rPr>
              <a:t>Example: Fijian </a:t>
            </a:r>
            <a:r>
              <a:rPr kumimoji="0" lang="en-AU" sz="4400" b="0" i="1" u="none" strike="noStrike" kern="1200" cap="none" spc="0" normalizeH="0" baseline="0" noProof="0" dirty="0" err="1">
                <a:ln>
                  <a:noFill/>
                </a:ln>
                <a:effectLst/>
                <a:uLnTx/>
                <a:uFillTx/>
                <a:latin typeface="+mj-lt"/>
                <a:ea typeface="+mj-ea"/>
                <a:cs typeface="+mj-cs"/>
              </a:rPr>
              <a:t>Lasioglossum</a:t>
            </a:r>
            <a:r>
              <a:rPr kumimoji="0" lang="en-AU" sz="4400" b="0" i="0" u="none" strike="noStrike" kern="1200" cap="none" spc="0" normalizeH="0" baseline="0" noProof="0" dirty="0">
                <a:ln>
                  <a:noFill/>
                </a:ln>
                <a:effectLst/>
                <a:uLnTx/>
                <a:uFillTx/>
                <a:latin typeface="+mj-lt"/>
                <a:ea typeface="+mj-ea"/>
                <a:cs typeface="+mj-cs"/>
              </a:rPr>
              <a:t> bees</a:t>
            </a:r>
          </a:p>
        </p:txBody>
      </p:sp>
      <p:sp>
        <p:nvSpPr>
          <p:cNvPr id="2" name="AutoShape 2" descr="Illawarra Birders Publication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3" name="AutoShape 4" descr="Illawarra Birders Publication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7" name="TextBox 6">
            <a:extLst>
              <a:ext uri="{FF2B5EF4-FFF2-40B4-BE49-F238E27FC236}">
                <a16:creationId xmlns:a16="http://schemas.microsoft.com/office/drawing/2014/main" id="{6B75C046-5C3A-7CAE-AEAD-9E57BD112A93}"/>
              </a:ext>
            </a:extLst>
          </p:cNvPr>
          <p:cNvSpPr txBox="1"/>
          <p:nvPr/>
        </p:nvSpPr>
        <p:spPr>
          <a:xfrm>
            <a:off x="971600" y="1772816"/>
            <a:ext cx="5400600" cy="1877437"/>
          </a:xfrm>
          <a:prstGeom prst="rect">
            <a:avLst/>
          </a:prstGeom>
          <a:noFill/>
        </p:spPr>
        <p:txBody>
          <a:bodyPr wrap="square" rtlCol="0">
            <a:spAutoFit/>
          </a:bodyPr>
          <a:lstStyle/>
          <a:p>
            <a:pPr>
              <a:buFontTx/>
              <a:buChar char="-"/>
            </a:pPr>
            <a:r>
              <a:rPr lang="en-AU" sz="2800" dirty="0"/>
              <a:t> Infer traits &amp; biogeography</a:t>
            </a:r>
          </a:p>
          <a:p>
            <a:endParaRPr lang="en-AU" sz="2800" dirty="0"/>
          </a:p>
          <a:p>
            <a:pPr>
              <a:buFontTx/>
              <a:buChar char="-"/>
            </a:pPr>
            <a:endParaRPr lang="en-AU" sz="2000" dirty="0"/>
          </a:p>
          <a:p>
            <a:pPr>
              <a:buFontTx/>
              <a:buChar char="-"/>
            </a:pPr>
            <a:endParaRPr lang="en-AU" sz="2000" dirty="0"/>
          </a:p>
          <a:p>
            <a:pPr>
              <a:buFontTx/>
              <a:buChar char="-"/>
            </a:pPr>
            <a:endParaRPr lang="en-AU" sz="2000" dirty="0"/>
          </a:p>
        </p:txBody>
      </p:sp>
      <p:pic>
        <p:nvPicPr>
          <p:cNvPr id="5" name="Picture 4" descr="A close up of a bee&#10;&#10;Description automatically generated">
            <a:extLst>
              <a:ext uri="{FF2B5EF4-FFF2-40B4-BE49-F238E27FC236}">
                <a16:creationId xmlns:a16="http://schemas.microsoft.com/office/drawing/2014/main" id="{7DEE601C-1A4A-2D8D-8B8C-345E86BBA9D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807181" y="2601083"/>
            <a:ext cx="3160567" cy="2016224"/>
          </a:xfrm>
          <a:prstGeom prst="rect">
            <a:avLst/>
          </a:prstGeom>
        </p:spPr>
      </p:pic>
      <p:pic>
        <p:nvPicPr>
          <p:cNvPr id="8" name="Picture 7" descr="A close up of a bee&#10;&#10;Description automatically generated">
            <a:extLst>
              <a:ext uri="{FF2B5EF4-FFF2-40B4-BE49-F238E27FC236}">
                <a16:creationId xmlns:a16="http://schemas.microsoft.com/office/drawing/2014/main" id="{2C22CA92-8246-A633-12AF-1026A0DD82A6}"/>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flipH="1">
            <a:off x="0" y="4797152"/>
            <a:ext cx="3823593" cy="1734548"/>
          </a:xfrm>
          <a:prstGeom prst="rect">
            <a:avLst/>
          </a:prstGeom>
        </p:spPr>
      </p:pic>
      <p:pic>
        <p:nvPicPr>
          <p:cNvPr id="9" name="Picture 8">
            <a:extLst>
              <a:ext uri="{FF2B5EF4-FFF2-40B4-BE49-F238E27FC236}">
                <a16:creationId xmlns:a16="http://schemas.microsoft.com/office/drawing/2014/main" id="{0EA849E9-F27F-F3F1-4FEA-3E286C6A357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955275" y="2294476"/>
            <a:ext cx="4188725" cy="4563524"/>
          </a:xfrm>
          <a:prstGeom prst="rect">
            <a:avLst/>
          </a:prstGeom>
        </p:spPr>
      </p:pic>
    </p:spTree>
    <p:extLst>
      <p:ext uri="{BB962C8B-B14F-4D97-AF65-F5344CB8AC3E}">
        <p14:creationId xmlns:p14="http://schemas.microsoft.com/office/powerpoint/2010/main" val="3835988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0" y="0"/>
            <a:ext cx="9144000" cy="908719"/>
          </a:xfrm>
          <a:prstGeom prst="rect">
            <a:avLst/>
          </a:prstGeom>
          <a:solidFill>
            <a:schemeClr val="accent5">
              <a:lumMod val="40000"/>
              <a:lumOff val="60000"/>
            </a:schemeClr>
          </a:solidFill>
          <a:ln>
            <a:solidFill>
              <a:schemeClr val="tx1"/>
            </a:solidFill>
          </a:ln>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AU" sz="4400" b="0" i="0" u="none" strike="noStrike" kern="1200" cap="none" spc="0" normalizeH="0" baseline="0" noProof="0" dirty="0">
                <a:ln>
                  <a:noFill/>
                </a:ln>
                <a:effectLst/>
                <a:uLnTx/>
                <a:uFillTx/>
                <a:latin typeface="+mj-lt"/>
                <a:ea typeface="+mj-ea"/>
                <a:cs typeface="+mj-cs"/>
              </a:rPr>
              <a:t>Example: Fijian </a:t>
            </a:r>
            <a:r>
              <a:rPr kumimoji="0" lang="en-AU" sz="4400" b="0" i="1" u="none" strike="noStrike" kern="1200" cap="none" spc="0" normalizeH="0" baseline="0" noProof="0" dirty="0" err="1">
                <a:ln>
                  <a:noFill/>
                </a:ln>
                <a:effectLst/>
                <a:uLnTx/>
                <a:uFillTx/>
                <a:latin typeface="+mj-lt"/>
                <a:ea typeface="+mj-ea"/>
                <a:cs typeface="+mj-cs"/>
              </a:rPr>
              <a:t>Lasioglossum</a:t>
            </a:r>
            <a:r>
              <a:rPr kumimoji="0" lang="en-AU" sz="4400" b="0" i="0" u="none" strike="noStrike" kern="1200" cap="none" spc="0" normalizeH="0" baseline="0" noProof="0" dirty="0">
                <a:ln>
                  <a:noFill/>
                </a:ln>
                <a:effectLst/>
                <a:uLnTx/>
                <a:uFillTx/>
                <a:latin typeface="+mj-lt"/>
                <a:ea typeface="+mj-ea"/>
                <a:cs typeface="+mj-cs"/>
              </a:rPr>
              <a:t> bees</a:t>
            </a:r>
          </a:p>
        </p:txBody>
      </p:sp>
      <p:sp>
        <p:nvSpPr>
          <p:cNvPr id="2" name="AutoShape 2" descr="Illawarra Birders Publication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3" name="AutoShape 4" descr="Illawarra Birders Publication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7" name="TextBox 6">
            <a:extLst>
              <a:ext uri="{FF2B5EF4-FFF2-40B4-BE49-F238E27FC236}">
                <a16:creationId xmlns:a16="http://schemas.microsoft.com/office/drawing/2014/main" id="{6B75C046-5C3A-7CAE-AEAD-9E57BD112A93}"/>
              </a:ext>
            </a:extLst>
          </p:cNvPr>
          <p:cNvSpPr txBox="1"/>
          <p:nvPr/>
        </p:nvSpPr>
        <p:spPr>
          <a:xfrm>
            <a:off x="971600" y="1772816"/>
            <a:ext cx="5400600" cy="1877437"/>
          </a:xfrm>
          <a:prstGeom prst="rect">
            <a:avLst/>
          </a:prstGeom>
          <a:noFill/>
        </p:spPr>
        <p:txBody>
          <a:bodyPr wrap="square" rtlCol="0">
            <a:spAutoFit/>
          </a:bodyPr>
          <a:lstStyle/>
          <a:p>
            <a:pPr>
              <a:buFontTx/>
              <a:buChar char="-"/>
            </a:pPr>
            <a:r>
              <a:rPr lang="en-AU" sz="2800" dirty="0"/>
              <a:t> Infer demographic changes</a:t>
            </a:r>
          </a:p>
          <a:p>
            <a:endParaRPr lang="en-AU" sz="2800" dirty="0"/>
          </a:p>
          <a:p>
            <a:pPr>
              <a:buFontTx/>
              <a:buChar char="-"/>
            </a:pPr>
            <a:endParaRPr lang="en-AU" sz="2000" dirty="0"/>
          </a:p>
          <a:p>
            <a:pPr>
              <a:buFontTx/>
              <a:buChar char="-"/>
            </a:pPr>
            <a:endParaRPr lang="en-AU" sz="2000" dirty="0"/>
          </a:p>
          <a:p>
            <a:pPr>
              <a:buFontTx/>
              <a:buChar char="-"/>
            </a:pPr>
            <a:endParaRPr lang="en-AU" sz="2000" dirty="0"/>
          </a:p>
        </p:txBody>
      </p:sp>
      <p:pic>
        <p:nvPicPr>
          <p:cNvPr id="4" name="Content Placeholder 6">
            <a:extLst>
              <a:ext uri="{FF2B5EF4-FFF2-40B4-BE49-F238E27FC236}">
                <a16:creationId xmlns:a16="http://schemas.microsoft.com/office/drawing/2014/main" id="{8C77DC3E-FD01-263A-54FB-3C5C6C129D7F}"/>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90607" y="2385502"/>
            <a:ext cx="8362785" cy="4257695"/>
          </a:xfrm>
          <a:prstGeom prst="rect">
            <a:avLst/>
          </a:prstGeom>
        </p:spPr>
      </p:pic>
      <p:pic>
        <p:nvPicPr>
          <p:cNvPr id="9" name="Picture 8" descr="A close up of a bee&#10;&#10;Description automatically generated">
            <a:extLst>
              <a:ext uri="{FF2B5EF4-FFF2-40B4-BE49-F238E27FC236}">
                <a16:creationId xmlns:a16="http://schemas.microsoft.com/office/drawing/2014/main" id="{19F3061C-C8D2-4873-EE19-6BBB1D9D8894}"/>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flipH="1">
            <a:off x="2075358" y="3284984"/>
            <a:ext cx="2323856" cy="1054202"/>
          </a:xfrm>
          <a:prstGeom prst="rect">
            <a:avLst/>
          </a:prstGeom>
        </p:spPr>
      </p:pic>
      <p:pic>
        <p:nvPicPr>
          <p:cNvPr id="10" name="Picture 9" descr="A close up of a bee&#10;&#10;Description automatically generated">
            <a:extLst>
              <a:ext uri="{FF2B5EF4-FFF2-40B4-BE49-F238E27FC236}">
                <a16:creationId xmlns:a16="http://schemas.microsoft.com/office/drawing/2014/main" id="{05C3D065-F406-131D-1D74-738FC2B92EEA}"/>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5504895" y="3284984"/>
            <a:ext cx="2323856" cy="1054202"/>
          </a:xfrm>
          <a:prstGeom prst="rect">
            <a:avLst/>
          </a:prstGeom>
        </p:spPr>
      </p:pic>
    </p:spTree>
    <p:extLst>
      <p:ext uri="{BB962C8B-B14F-4D97-AF65-F5344CB8AC3E}">
        <p14:creationId xmlns:p14="http://schemas.microsoft.com/office/powerpoint/2010/main" val="1456030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0" y="0"/>
            <a:ext cx="9144000" cy="908719"/>
          </a:xfrm>
          <a:prstGeom prst="rect">
            <a:avLst/>
          </a:prstGeom>
          <a:solidFill>
            <a:schemeClr val="accent5">
              <a:lumMod val="40000"/>
              <a:lumOff val="60000"/>
            </a:schemeClr>
          </a:solidFill>
          <a:ln>
            <a:solidFill>
              <a:schemeClr val="tx1"/>
            </a:solidFill>
          </a:ln>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AU" sz="4400" b="1" dirty="0"/>
              <a:t>What will you be doing?</a:t>
            </a:r>
            <a:endParaRPr kumimoji="0" lang="en-AU" sz="4400" b="0" i="0" u="none" strike="noStrike" kern="1200" cap="none" spc="0" normalizeH="0" baseline="0" noProof="0" dirty="0">
              <a:ln>
                <a:noFill/>
              </a:ln>
              <a:effectLst/>
              <a:uLnTx/>
              <a:uFillTx/>
              <a:latin typeface="+mj-lt"/>
              <a:ea typeface="+mj-ea"/>
              <a:cs typeface="+mj-cs"/>
            </a:endParaRPr>
          </a:p>
        </p:txBody>
      </p:sp>
      <p:sp>
        <p:nvSpPr>
          <p:cNvPr id="2" name="AutoShape 2" descr="Illawarra Birders Publication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3" name="AutoShape 4" descr="Illawarra Birders Publication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7" name="TextBox 6">
            <a:extLst>
              <a:ext uri="{FF2B5EF4-FFF2-40B4-BE49-F238E27FC236}">
                <a16:creationId xmlns:a16="http://schemas.microsoft.com/office/drawing/2014/main" id="{6B75C046-5C3A-7CAE-AEAD-9E57BD112A93}"/>
              </a:ext>
            </a:extLst>
          </p:cNvPr>
          <p:cNvSpPr txBox="1"/>
          <p:nvPr/>
        </p:nvSpPr>
        <p:spPr>
          <a:xfrm>
            <a:off x="171235" y="1268760"/>
            <a:ext cx="4025396" cy="6617196"/>
          </a:xfrm>
          <a:prstGeom prst="rect">
            <a:avLst/>
          </a:prstGeom>
          <a:noFill/>
        </p:spPr>
        <p:txBody>
          <a:bodyPr wrap="square" rtlCol="0">
            <a:spAutoFit/>
          </a:bodyPr>
          <a:lstStyle/>
          <a:p>
            <a:pPr>
              <a:buFontTx/>
              <a:buChar char="-"/>
            </a:pPr>
            <a:r>
              <a:rPr lang="en-US" sz="2800" dirty="0">
                <a:solidFill>
                  <a:srgbClr val="111111"/>
                </a:solidFill>
                <a:highlight>
                  <a:srgbClr val="FFFFFF"/>
                </a:highlight>
                <a:latin typeface="+mj-lt"/>
              </a:rPr>
              <a:t>1. </a:t>
            </a:r>
            <a:r>
              <a:rPr lang="en-US" sz="2800" b="1" dirty="0">
                <a:solidFill>
                  <a:srgbClr val="111111"/>
                </a:solidFill>
                <a:highlight>
                  <a:srgbClr val="FFFFFF"/>
                </a:highlight>
                <a:latin typeface="+mj-lt"/>
              </a:rPr>
              <a:t>Activity:</a:t>
            </a:r>
            <a:r>
              <a:rPr lang="en-US" sz="2800" dirty="0">
                <a:solidFill>
                  <a:srgbClr val="111111"/>
                </a:solidFill>
                <a:highlight>
                  <a:srgbClr val="FFFFFF"/>
                </a:highlight>
                <a:latin typeface="+mj-lt"/>
              </a:rPr>
              <a:t> Address a macroevolutionary question</a:t>
            </a:r>
          </a:p>
          <a:p>
            <a:pPr>
              <a:buFontTx/>
              <a:buChar char="-"/>
            </a:pPr>
            <a:endParaRPr lang="en-US" sz="2800" dirty="0">
              <a:solidFill>
                <a:srgbClr val="111111"/>
              </a:solidFill>
              <a:highlight>
                <a:srgbClr val="FFFFFF"/>
              </a:highlight>
              <a:latin typeface="+mj-lt"/>
            </a:endParaRPr>
          </a:p>
          <a:p>
            <a:pPr>
              <a:buFontTx/>
              <a:buChar char="-"/>
            </a:pPr>
            <a:r>
              <a:rPr lang="en-US" sz="2800" dirty="0">
                <a:solidFill>
                  <a:srgbClr val="111111"/>
                </a:solidFill>
                <a:highlight>
                  <a:srgbClr val="FFFFFF"/>
                </a:highlight>
                <a:latin typeface="+mj-lt"/>
              </a:rPr>
              <a:t>2. </a:t>
            </a:r>
            <a:r>
              <a:rPr lang="en-US" sz="2800" b="1" dirty="0">
                <a:solidFill>
                  <a:srgbClr val="111111"/>
                </a:solidFill>
                <a:highlight>
                  <a:srgbClr val="FFFFFF"/>
                </a:highlight>
                <a:latin typeface="+mj-lt"/>
              </a:rPr>
              <a:t>Aim:</a:t>
            </a:r>
            <a:r>
              <a:rPr lang="en-US" sz="2800" dirty="0">
                <a:solidFill>
                  <a:srgbClr val="111111"/>
                </a:solidFill>
                <a:highlight>
                  <a:srgbClr val="FFFFFF"/>
                </a:highlight>
                <a:latin typeface="+mj-lt"/>
              </a:rPr>
              <a:t> 2–3 </a:t>
            </a:r>
            <a:r>
              <a:rPr lang="en-US" sz="2800" dirty="0" err="1">
                <a:solidFill>
                  <a:srgbClr val="111111"/>
                </a:solidFill>
                <a:highlight>
                  <a:srgbClr val="FFFFFF"/>
                </a:highlight>
                <a:latin typeface="+mj-lt"/>
              </a:rPr>
              <a:t>pracs</a:t>
            </a:r>
            <a:r>
              <a:rPr lang="en-US" sz="2800" dirty="0">
                <a:solidFill>
                  <a:srgbClr val="111111"/>
                </a:solidFill>
                <a:highlight>
                  <a:srgbClr val="FFFFFF"/>
                </a:highlight>
                <a:latin typeface="+mj-lt"/>
              </a:rPr>
              <a:t> learning about phylogenetics in </a:t>
            </a:r>
            <a:r>
              <a:rPr lang="en-AU" sz="2800" dirty="0">
                <a:solidFill>
                  <a:srgbClr val="111111"/>
                </a:solidFill>
                <a:highlight>
                  <a:srgbClr val="FFFFFF"/>
                </a:highlight>
                <a:latin typeface="+mj-lt"/>
              </a:rPr>
              <a:t>R</a:t>
            </a:r>
          </a:p>
          <a:p>
            <a:pPr>
              <a:buFontTx/>
              <a:buChar char="-"/>
            </a:pPr>
            <a:endParaRPr lang="en-AU" sz="2800" dirty="0">
              <a:solidFill>
                <a:srgbClr val="111111"/>
              </a:solidFill>
              <a:highlight>
                <a:srgbClr val="FFFFFF"/>
              </a:highlight>
              <a:latin typeface="+mj-lt"/>
            </a:endParaRPr>
          </a:p>
          <a:p>
            <a:r>
              <a:rPr lang="en-AU" sz="2800" dirty="0">
                <a:solidFill>
                  <a:srgbClr val="111111"/>
                </a:solidFill>
                <a:highlight>
                  <a:srgbClr val="FFFFFF"/>
                </a:highlight>
                <a:latin typeface="+mj-lt"/>
              </a:rPr>
              <a:t>-3 </a:t>
            </a:r>
            <a:r>
              <a:rPr lang="en-AU" sz="2800" b="1" dirty="0">
                <a:solidFill>
                  <a:srgbClr val="111111"/>
                </a:solidFill>
                <a:highlight>
                  <a:srgbClr val="FFFFFF"/>
                </a:highlight>
                <a:latin typeface="+mj-lt"/>
              </a:rPr>
              <a:t>Assessment: </a:t>
            </a:r>
            <a:r>
              <a:rPr lang="en-AU" sz="2800" dirty="0">
                <a:solidFill>
                  <a:srgbClr val="111111"/>
                </a:solidFill>
                <a:highlight>
                  <a:srgbClr val="FFFFFF"/>
                </a:highlight>
                <a:latin typeface="+mj-lt"/>
              </a:rPr>
              <a:t>Apply this knowledge to your question in a Grant Proposal (20%)</a:t>
            </a:r>
            <a:endParaRPr lang="en-AU" sz="2800" dirty="0"/>
          </a:p>
          <a:p>
            <a:endParaRPr lang="en-AU" sz="2800" dirty="0"/>
          </a:p>
          <a:p>
            <a:pPr>
              <a:buFontTx/>
              <a:buChar char="-"/>
            </a:pPr>
            <a:endParaRPr lang="en-AU" sz="2000" dirty="0"/>
          </a:p>
          <a:p>
            <a:pPr>
              <a:buFontTx/>
              <a:buChar char="-"/>
            </a:pPr>
            <a:endParaRPr lang="en-AU" sz="2000" dirty="0"/>
          </a:p>
          <a:p>
            <a:pPr>
              <a:buFontTx/>
              <a:buChar char="-"/>
            </a:pPr>
            <a:endParaRPr lang="en-AU" sz="2000" dirty="0"/>
          </a:p>
        </p:txBody>
      </p:sp>
      <p:pic>
        <p:nvPicPr>
          <p:cNvPr id="8" name="Picture 7">
            <a:extLst>
              <a:ext uri="{FF2B5EF4-FFF2-40B4-BE49-F238E27FC236}">
                <a16:creationId xmlns:a16="http://schemas.microsoft.com/office/drawing/2014/main" id="{AA7A2181-8B10-31E3-AE56-80086835320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196631" y="908720"/>
            <a:ext cx="4947369" cy="5949281"/>
          </a:xfrm>
          <a:prstGeom prst="rect">
            <a:avLst/>
          </a:prstGeom>
        </p:spPr>
      </p:pic>
    </p:spTree>
    <p:extLst>
      <p:ext uri="{BB962C8B-B14F-4D97-AF65-F5344CB8AC3E}">
        <p14:creationId xmlns:p14="http://schemas.microsoft.com/office/powerpoint/2010/main" val="2889311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0" y="0"/>
            <a:ext cx="9144000" cy="908719"/>
          </a:xfrm>
          <a:prstGeom prst="rect">
            <a:avLst/>
          </a:prstGeom>
          <a:solidFill>
            <a:schemeClr val="accent5">
              <a:lumMod val="40000"/>
              <a:lumOff val="60000"/>
            </a:schemeClr>
          </a:solidFill>
          <a:ln>
            <a:solidFill>
              <a:schemeClr val="tx1"/>
            </a:solidFill>
          </a:ln>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AU" sz="4400" b="1" dirty="0"/>
              <a:t>Grant Proposal assessment</a:t>
            </a:r>
            <a:endParaRPr kumimoji="0" lang="en-AU" sz="4400" b="0" i="0" u="none" strike="noStrike" kern="1200" cap="none" spc="0" normalizeH="0" baseline="0" noProof="0" dirty="0">
              <a:ln>
                <a:noFill/>
              </a:ln>
              <a:effectLst/>
              <a:uLnTx/>
              <a:uFillTx/>
              <a:latin typeface="+mj-lt"/>
              <a:ea typeface="+mj-ea"/>
              <a:cs typeface="+mj-cs"/>
            </a:endParaRPr>
          </a:p>
        </p:txBody>
      </p:sp>
      <p:sp>
        <p:nvSpPr>
          <p:cNvPr id="2" name="AutoShape 2" descr="Illawarra Birders Publication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3" name="AutoShape 4" descr="Illawarra Birders Publication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7" name="TextBox 6">
            <a:extLst>
              <a:ext uri="{FF2B5EF4-FFF2-40B4-BE49-F238E27FC236}">
                <a16:creationId xmlns:a16="http://schemas.microsoft.com/office/drawing/2014/main" id="{6B75C046-5C3A-7CAE-AEAD-9E57BD112A93}"/>
              </a:ext>
            </a:extLst>
          </p:cNvPr>
          <p:cNvSpPr txBox="1"/>
          <p:nvPr/>
        </p:nvSpPr>
        <p:spPr>
          <a:xfrm>
            <a:off x="171235" y="1268760"/>
            <a:ext cx="4025396" cy="6617196"/>
          </a:xfrm>
          <a:prstGeom prst="rect">
            <a:avLst/>
          </a:prstGeom>
          <a:noFill/>
        </p:spPr>
        <p:txBody>
          <a:bodyPr wrap="square" rtlCol="0">
            <a:spAutoFit/>
          </a:bodyPr>
          <a:lstStyle/>
          <a:p>
            <a:r>
              <a:rPr lang="en-AU" sz="2800" dirty="0">
                <a:solidFill>
                  <a:srgbClr val="111111"/>
                </a:solidFill>
                <a:highlight>
                  <a:srgbClr val="FFFFFF"/>
                </a:highlight>
                <a:latin typeface="+mj-lt"/>
              </a:rPr>
              <a:t>In two parts:</a:t>
            </a:r>
          </a:p>
          <a:p>
            <a:pPr marL="514350" indent="-514350">
              <a:buFont typeface="+mj-lt"/>
              <a:buAutoNum type="arabicPeriod"/>
            </a:pPr>
            <a:r>
              <a:rPr lang="en-AU" sz="2800" b="1" dirty="0">
                <a:solidFill>
                  <a:srgbClr val="111111"/>
                </a:solidFill>
                <a:highlight>
                  <a:srgbClr val="FFFFFF"/>
                </a:highlight>
                <a:latin typeface="+mj-lt"/>
              </a:rPr>
              <a:t>Preliminary phylogeny (10%)</a:t>
            </a:r>
          </a:p>
          <a:p>
            <a:pPr marL="971550" lvl="1" indent="-514350">
              <a:buFont typeface="+mj-lt"/>
              <a:buAutoNum type="alphaLcParenR"/>
            </a:pPr>
            <a:r>
              <a:rPr lang="en-AU" sz="2800" dirty="0">
                <a:solidFill>
                  <a:srgbClr val="111111"/>
                </a:solidFill>
                <a:highlight>
                  <a:srgbClr val="FFFFFF"/>
                </a:highlight>
                <a:latin typeface="+mj-lt"/>
              </a:rPr>
              <a:t>Apply your R skills to answer a question</a:t>
            </a:r>
            <a:br>
              <a:rPr lang="en-AU" sz="2800" dirty="0">
                <a:solidFill>
                  <a:srgbClr val="111111"/>
                </a:solidFill>
                <a:highlight>
                  <a:srgbClr val="FFFFFF"/>
                </a:highlight>
                <a:latin typeface="+mj-lt"/>
              </a:rPr>
            </a:br>
            <a:endParaRPr lang="en-AU" sz="2800" dirty="0">
              <a:solidFill>
                <a:srgbClr val="111111"/>
              </a:solidFill>
              <a:highlight>
                <a:srgbClr val="FFFFFF"/>
              </a:highlight>
              <a:latin typeface="+mj-lt"/>
            </a:endParaRPr>
          </a:p>
          <a:p>
            <a:pPr marL="514350" indent="-514350">
              <a:buFont typeface="+mj-lt"/>
              <a:buAutoNum type="arabicPeriod"/>
            </a:pPr>
            <a:r>
              <a:rPr lang="en-AU" sz="2800" b="1" dirty="0">
                <a:solidFill>
                  <a:srgbClr val="111111"/>
                </a:solidFill>
                <a:highlight>
                  <a:srgbClr val="FFFFFF"/>
                </a:highlight>
                <a:latin typeface="+mj-lt"/>
              </a:rPr>
              <a:t>Grant proposal (10%)</a:t>
            </a:r>
          </a:p>
          <a:p>
            <a:pPr marL="971550" lvl="1" indent="-514350">
              <a:buFont typeface="+mj-lt"/>
              <a:buAutoNum type="alphaLcParenR"/>
            </a:pPr>
            <a:r>
              <a:rPr lang="en-AU" sz="2800" dirty="0">
                <a:solidFill>
                  <a:srgbClr val="111111"/>
                </a:solidFill>
                <a:highlight>
                  <a:srgbClr val="FFFFFF"/>
                </a:highlight>
                <a:latin typeface="+mj-lt"/>
              </a:rPr>
              <a:t>Apply your writing skills to a grant</a:t>
            </a:r>
            <a:br>
              <a:rPr lang="en-AU" sz="2800" dirty="0">
                <a:solidFill>
                  <a:srgbClr val="111111"/>
                </a:solidFill>
                <a:highlight>
                  <a:srgbClr val="FFFFFF"/>
                </a:highlight>
                <a:latin typeface="+mj-lt"/>
              </a:rPr>
            </a:br>
            <a:endParaRPr lang="en-AU" sz="2800" dirty="0">
              <a:solidFill>
                <a:srgbClr val="111111"/>
              </a:solidFill>
              <a:highlight>
                <a:srgbClr val="FFFFFF"/>
              </a:highlight>
              <a:latin typeface="+mj-lt"/>
            </a:endParaRPr>
          </a:p>
          <a:p>
            <a:endParaRPr lang="en-AU" sz="2800" dirty="0"/>
          </a:p>
          <a:p>
            <a:endParaRPr lang="en-AU" sz="2800" dirty="0"/>
          </a:p>
          <a:p>
            <a:pPr>
              <a:buFontTx/>
              <a:buChar char="-"/>
            </a:pPr>
            <a:endParaRPr lang="en-AU" sz="2000" dirty="0"/>
          </a:p>
          <a:p>
            <a:pPr>
              <a:buFontTx/>
              <a:buChar char="-"/>
            </a:pPr>
            <a:endParaRPr lang="en-AU" sz="2000" dirty="0"/>
          </a:p>
          <a:p>
            <a:pPr>
              <a:buFontTx/>
              <a:buChar char="-"/>
            </a:pPr>
            <a:endParaRPr lang="en-AU" sz="2000" dirty="0"/>
          </a:p>
        </p:txBody>
      </p:sp>
      <p:pic>
        <p:nvPicPr>
          <p:cNvPr id="8" name="Picture 7">
            <a:extLst>
              <a:ext uri="{FF2B5EF4-FFF2-40B4-BE49-F238E27FC236}">
                <a16:creationId xmlns:a16="http://schemas.microsoft.com/office/drawing/2014/main" id="{AA7A2181-8B10-31E3-AE56-80086835320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196631" y="908720"/>
            <a:ext cx="4947369" cy="5949281"/>
          </a:xfrm>
          <a:prstGeom prst="rect">
            <a:avLst/>
          </a:prstGeom>
        </p:spPr>
      </p:pic>
    </p:spTree>
    <p:extLst>
      <p:ext uri="{BB962C8B-B14F-4D97-AF65-F5344CB8AC3E}">
        <p14:creationId xmlns:p14="http://schemas.microsoft.com/office/powerpoint/2010/main" val="1830089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0" y="0"/>
            <a:ext cx="9144000" cy="908719"/>
          </a:xfrm>
          <a:prstGeom prst="rect">
            <a:avLst/>
          </a:prstGeom>
          <a:solidFill>
            <a:schemeClr val="accent5">
              <a:lumMod val="40000"/>
              <a:lumOff val="60000"/>
            </a:schemeClr>
          </a:solidFill>
          <a:ln>
            <a:solidFill>
              <a:schemeClr val="tx1"/>
            </a:solidFill>
          </a:ln>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AU" sz="4400" b="1" dirty="0"/>
              <a:t>Grant Proposal assessment</a:t>
            </a:r>
            <a:endParaRPr kumimoji="0" lang="en-AU" sz="4400" b="0" i="0" u="none" strike="noStrike" kern="1200" cap="none" spc="0" normalizeH="0" baseline="0" noProof="0" dirty="0">
              <a:ln>
                <a:noFill/>
              </a:ln>
              <a:effectLst/>
              <a:uLnTx/>
              <a:uFillTx/>
              <a:latin typeface="+mj-lt"/>
              <a:ea typeface="+mj-ea"/>
              <a:cs typeface="+mj-cs"/>
            </a:endParaRPr>
          </a:p>
        </p:txBody>
      </p:sp>
      <p:sp>
        <p:nvSpPr>
          <p:cNvPr id="2" name="AutoShape 2" descr="Illawarra Birders Publication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3" name="AutoShape 4" descr="Illawarra Birders Publication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7" name="TextBox 6">
            <a:extLst>
              <a:ext uri="{FF2B5EF4-FFF2-40B4-BE49-F238E27FC236}">
                <a16:creationId xmlns:a16="http://schemas.microsoft.com/office/drawing/2014/main" id="{6B75C046-5C3A-7CAE-AEAD-9E57BD112A93}"/>
              </a:ext>
            </a:extLst>
          </p:cNvPr>
          <p:cNvSpPr txBox="1"/>
          <p:nvPr/>
        </p:nvSpPr>
        <p:spPr>
          <a:xfrm>
            <a:off x="171235" y="1268760"/>
            <a:ext cx="4025396" cy="5262979"/>
          </a:xfrm>
          <a:prstGeom prst="rect">
            <a:avLst/>
          </a:prstGeom>
          <a:noFill/>
        </p:spPr>
        <p:txBody>
          <a:bodyPr wrap="square" rtlCol="0">
            <a:spAutoFit/>
          </a:bodyPr>
          <a:lstStyle/>
          <a:p>
            <a:r>
              <a:rPr lang="en-AU" sz="2800" dirty="0">
                <a:solidFill>
                  <a:srgbClr val="111111"/>
                </a:solidFill>
                <a:highlight>
                  <a:srgbClr val="FFFFFF"/>
                </a:highlight>
                <a:latin typeface="+mj-lt"/>
              </a:rPr>
              <a:t>What is a grant proposal?</a:t>
            </a:r>
            <a:br>
              <a:rPr lang="en-AU" sz="2800" dirty="0">
                <a:solidFill>
                  <a:srgbClr val="111111"/>
                </a:solidFill>
                <a:highlight>
                  <a:srgbClr val="FFFFFF"/>
                </a:highlight>
                <a:latin typeface="+mj-lt"/>
              </a:rPr>
            </a:br>
            <a:endParaRPr lang="en-AU" sz="2800" dirty="0">
              <a:solidFill>
                <a:srgbClr val="111111"/>
              </a:solidFill>
              <a:highlight>
                <a:srgbClr val="FFFFFF"/>
              </a:highlight>
              <a:latin typeface="+mj-lt"/>
            </a:endParaRPr>
          </a:p>
          <a:p>
            <a:pPr marL="514350" indent="-514350">
              <a:buFont typeface="Arial" panose="020B0604020202020204" pitchFamily="34" charset="0"/>
              <a:buChar char="•"/>
            </a:pPr>
            <a:r>
              <a:rPr lang="en-AU" sz="2800" dirty="0">
                <a:solidFill>
                  <a:srgbClr val="111111"/>
                </a:solidFill>
                <a:highlight>
                  <a:srgbClr val="FFFFFF"/>
                </a:highlight>
                <a:latin typeface="+mj-lt"/>
              </a:rPr>
              <a:t>Request project funds</a:t>
            </a:r>
          </a:p>
          <a:p>
            <a:pPr marL="514350" indent="-514350">
              <a:buFont typeface="Arial" panose="020B0604020202020204" pitchFamily="34" charset="0"/>
              <a:buChar char="•"/>
            </a:pPr>
            <a:r>
              <a:rPr lang="en-AU" sz="2800" dirty="0">
                <a:solidFill>
                  <a:srgbClr val="111111"/>
                </a:solidFill>
                <a:highlight>
                  <a:srgbClr val="FFFFFF"/>
                </a:highlight>
                <a:latin typeface="+mj-lt"/>
              </a:rPr>
              <a:t>Relevant in many fields</a:t>
            </a:r>
          </a:p>
          <a:p>
            <a:pPr marL="514350" indent="-514350">
              <a:buFont typeface="Arial" panose="020B0604020202020204" pitchFamily="34" charset="0"/>
              <a:buChar char="•"/>
            </a:pPr>
            <a:r>
              <a:rPr lang="en-AU" sz="2800" dirty="0">
                <a:solidFill>
                  <a:srgbClr val="111111"/>
                </a:solidFill>
                <a:highlight>
                  <a:srgbClr val="FFFFFF"/>
                </a:highlight>
                <a:latin typeface="+mj-lt"/>
              </a:rPr>
              <a:t>Requires:</a:t>
            </a:r>
          </a:p>
          <a:p>
            <a:pPr marL="971550" lvl="1" indent="-514350">
              <a:buFont typeface="Arial" panose="020B0604020202020204" pitchFamily="34" charset="0"/>
              <a:buChar char="•"/>
            </a:pPr>
            <a:r>
              <a:rPr lang="en-AU" sz="2800" dirty="0">
                <a:solidFill>
                  <a:srgbClr val="111111"/>
                </a:solidFill>
                <a:highlight>
                  <a:srgbClr val="FFFFFF"/>
                </a:highlight>
                <a:latin typeface="+mj-lt"/>
              </a:rPr>
              <a:t>Understanding priorities</a:t>
            </a:r>
          </a:p>
          <a:p>
            <a:pPr marL="971550" lvl="1" indent="-514350">
              <a:buFont typeface="Arial" panose="020B0604020202020204" pitchFamily="34" charset="0"/>
              <a:buChar char="•"/>
            </a:pPr>
            <a:r>
              <a:rPr lang="en-AU" sz="2800" dirty="0">
                <a:solidFill>
                  <a:srgbClr val="111111"/>
                </a:solidFill>
                <a:highlight>
                  <a:srgbClr val="FFFFFF"/>
                </a:highlight>
                <a:latin typeface="+mj-lt"/>
              </a:rPr>
              <a:t>Excellent writing</a:t>
            </a:r>
          </a:p>
          <a:p>
            <a:pPr marL="971550" lvl="1" indent="-514350">
              <a:buFont typeface="Arial" panose="020B0604020202020204" pitchFamily="34" charset="0"/>
              <a:buChar char="•"/>
            </a:pPr>
            <a:r>
              <a:rPr lang="en-AU" sz="2800" dirty="0">
                <a:solidFill>
                  <a:srgbClr val="111111"/>
                </a:solidFill>
                <a:highlight>
                  <a:srgbClr val="FFFFFF"/>
                </a:highlight>
                <a:latin typeface="+mj-lt"/>
              </a:rPr>
              <a:t>Evidence</a:t>
            </a:r>
          </a:p>
          <a:p>
            <a:pPr marL="971550" lvl="1" indent="-514350">
              <a:buFont typeface="Arial" panose="020B0604020202020204" pitchFamily="34" charset="0"/>
              <a:buChar char="•"/>
            </a:pPr>
            <a:r>
              <a:rPr lang="en-AU" sz="2800" dirty="0">
                <a:solidFill>
                  <a:srgbClr val="111111"/>
                </a:solidFill>
                <a:highlight>
                  <a:srgbClr val="FFFFFF"/>
                </a:highlight>
                <a:latin typeface="+mj-lt"/>
              </a:rPr>
              <a:t>Following guidelines</a:t>
            </a:r>
          </a:p>
          <a:p>
            <a:pPr marL="971550" lvl="1" indent="-514350">
              <a:buFont typeface="Arial" panose="020B0604020202020204" pitchFamily="34" charset="0"/>
              <a:buChar char="•"/>
            </a:pPr>
            <a:r>
              <a:rPr lang="en-AU" sz="2800" dirty="0">
                <a:solidFill>
                  <a:srgbClr val="111111"/>
                </a:solidFill>
                <a:highlight>
                  <a:srgbClr val="FFFFFF"/>
                </a:highlight>
                <a:latin typeface="+mj-lt"/>
              </a:rPr>
              <a:t>…</a:t>
            </a:r>
          </a:p>
        </p:txBody>
      </p:sp>
      <p:pic>
        <p:nvPicPr>
          <p:cNvPr id="8" name="Picture 7">
            <a:extLst>
              <a:ext uri="{FF2B5EF4-FFF2-40B4-BE49-F238E27FC236}">
                <a16:creationId xmlns:a16="http://schemas.microsoft.com/office/drawing/2014/main" id="{AA7A2181-8B10-31E3-AE56-80086835320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196631" y="908720"/>
            <a:ext cx="4947369" cy="5949281"/>
          </a:xfrm>
          <a:prstGeom prst="rect">
            <a:avLst/>
          </a:prstGeom>
        </p:spPr>
      </p:pic>
    </p:spTree>
    <p:extLst>
      <p:ext uri="{BB962C8B-B14F-4D97-AF65-F5344CB8AC3E}">
        <p14:creationId xmlns:p14="http://schemas.microsoft.com/office/powerpoint/2010/main" val="10357692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0" y="0"/>
            <a:ext cx="9144000" cy="908719"/>
          </a:xfrm>
          <a:prstGeom prst="rect">
            <a:avLst/>
          </a:prstGeom>
          <a:solidFill>
            <a:schemeClr val="accent5">
              <a:lumMod val="40000"/>
              <a:lumOff val="60000"/>
            </a:schemeClr>
          </a:solidFill>
          <a:ln>
            <a:solidFill>
              <a:schemeClr val="tx1"/>
            </a:solidFill>
          </a:ln>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AU" sz="4400" b="1" dirty="0"/>
              <a:t>Grant Proposal assessment</a:t>
            </a:r>
            <a:endParaRPr kumimoji="0" lang="en-AU" sz="4400" b="0" i="0" u="none" strike="noStrike" kern="1200" cap="none" spc="0" normalizeH="0" baseline="0" noProof="0" dirty="0">
              <a:ln>
                <a:noFill/>
              </a:ln>
              <a:effectLst/>
              <a:uLnTx/>
              <a:uFillTx/>
              <a:latin typeface="+mj-lt"/>
              <a:ea typeface="+mj-ea"/>
              <a:cs typeface="+mj-cs"/>
            </a:endParaRPr>
          </a:p>
        </p:txBody>
      </p:sp>
      <p:sp>
        <p:nvSpPr>
          <p:cNvPr id="2" name="AutoShape 2" descr="Illawarra Birders Publication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3" name="AutoShape 4" descr="Illawarra Birders Publication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7" name="TextBox 6">
            <a:extLst>
              <a:ext uri="{FF2B5EF4-FFF2-40B4-BE49-F238E27FC236}">
                <a16:creationId xmlns:a16="http://schemas.microsoft.com/office/drawing/2014/main" id="{6B75C046-5C3A-7CAE-AEAD-9E57BD112A93}"/>
              </a:ext>
            </a:extLst>
          </p:cNvPr>
          <p:cNvSpPr txBox="1"/>
          <p:nvPr/>
        </p:nvSpPr>
        <p:spPr>
          <a:xfrm>
            <a:off x="171235" y="1268760"/>
            <a:ext cx="4025396" cy="4832092"/>
          </a:xfrm>
          <a:prstGeom prst="rect">
            <a:avLst/>
          </a:prstGeom>
          <a:noFill/>
        </p:spPr>
        <p:txBody>
          <a:bodyPr wrap="square" rtlCol="0">
            <a:spAutoFit/>
          </a:bodyPr>
          <a:lstStyle/>
          <a:p>
            <a:r>
              <a:rPr lang="en-AU" sz="2800" dirty="0">
                <a:solidFill>
                  <a:srgbClr val="111111"/>
                </a:solidFill>
                <a:highlight>
                  <a:srgbClr val="FFFFFF"/>
                </a:highlight>
                <a:latin typeface="+mj-lt"/>
              </a:rPr>
              <a:t>A last word on R…</a:t>
            </a:r>
            <a:br>
              <a:rPr lang="en-AU" sz="2800" dirty="0">
                <a:solidFill>
                  <a:srgbClr val="111111"/>
                </a:solidFill>
                <a:highlight>
                  <a:srgbClr val="FFFFFF"/>
                </a:highlight>
                <a:latin typeface="+mj-lt"/>
              </a:rPr>
            </a:br>
            <a:endParaRPr lang="en-AU" sz="2800" dirty="0">
              <a:solidFill>
                <a:srgbClr val="111111"/>
              </a:solidFill>
              <a:highlight>
                <a:srgbClr val="FFFFFF"/>
              </a:highlight>
              <a:latin typeface="+mj-lt"/>
            </a:endParaRPr>
          </a:p>
          <a:p>
            <a:pPr marL="457200" indent="-457200">
              <a:buFont typeface="Arial" panose="020B0604020202020204" pitchFamily="34" charset="0"/>
              <a:buChar char="•"/>
            </a:pPr>
            <a:r>
              <a:rPr lang="en-AU" sz="2800" dirty="0">
                <a:solidFill>
                  <a:srgbClr val="111111"/>
                </a:solidFill>
                <a:highlight>
                  <a:srgbClr val="FFFFFF"/>
                </a:highlight>
                <a:latin typeface="+mj-lt"/>
              </a:rPr>
              <a:t>I don’t expect mastery</a:t>
            </a:r>
          </a:p>
          <a:p>
            <a:pPr marL="457200" indent="-457200">
              <a:buFont typeface="Arial" panose="020B0604020202020204" pitchFamily="34" charset="0"/>
              <a:buChar char="•"/>
            </a:pPr>
            <a:r>
              <a:rPr lang="en-AU" sz="2800" dirty="0">
                <a:solidFill>
                  <a:srgbClr val="111111"/>
                </a:solidFill>
                <a:highlight>
                  <a:srgbClr val="FFFFFF"/>
                </a:highlight>
                <a:latin typeface="+mj-lt"/>
              </a:rPr>
              <a:t>Errors are totally fine (we want to help you deal with them)</a:t>
            </a:r>
          </a:p>
          <a:p>
            <a:pPr marL="457200" indent="-457200">
              <a:buFont typeface="Arial" panose="020B0604020202020204" pitchFamily="34" charset="0"/>
              <a:buChar char="•"/>
            </a:pPr>
            <a:r>
              <a:rPr lang="en-AU" sz="2800" dirty="0">
                <a:solidFill>
                  <a:srgbClr val="111111"/>
                </a:solidFill>
                <a:highlight>
                  <a:srgbClr val="FFFFFF"/>
                </a:highlight>
                <a:latin typeface="+mj-lt"/>
              </a:rPr>
              <a:t>Not just phylogenetics or data manipulation — you are learning a language</a:t>
            </a:r>
          </a:p>
          <a:p>
            <a:pPr marL="457200" indent="-457200">
              <a:buFont typeface="Arial" panose="020B0604020202020204" pitchFamily="34" charset="0"/>
              <a:buChar char="•"/>
            </a:pPr>
            <a:r>
              <a:rPr lang="en-AU" sz="2800" dirty="0">
                <a:solidFill>
                  <a:srgbClr val="111111"/>
                </a:solidFill>
                <a:highlight>
                  <a:srgbClr val="FFFFFF"/>
                </a:highlight>
                <a:latin typeface="+mj-lt"/>
              </a:rPr>
              <a:t>It’s a tool</a:t>
            </a:r>
          </a:p>
        </p:txBody>
      </p:sp>
      <p:pic>
        <p:nvPicPr>
          <p:cNvPr id="8" name="Picture 7">
            <a:extLst>
              <a:ext uri="{FF2B5EF4-FFF2-40B4-BE49-F238E27FC236}">
                <a16:creationId xmlns:a16="http://schemas.microsoft.com/office/drawing/2014/main" id="{AA7A2181-8B10-31E3-AE56-80086835320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2281" r="22281"/>
          <a:stretch/>
        </p:blipFill>
        <p:spPr>
          <a:xfrm flipH="1">
            <a:off x="4196631" y="908718"/>
            <a:ext cx="4947369" cy="5949281"/>
          </a:xfrm>
          <a:prstGeom prst="rect">
            <a:avLst/>
          </a:prstGeom>
        </p:spPr>
      </p:pic>
    </p:spTree>
    <p:extLst>
      <p:ext uri="{BB962C8B-B14F-4D97-AF65-F5344CB8AC3E}">
        <p14:creationId xmlns:p14="http://schemas.microsoft.com/office/powerpoint/2010/main" val="2957755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0" y="0"/>
            <a:ext cx="9144000" cy="908719"/>
          </a:xfrm>
          <a:prstGeom prst="rect">
            <a:avLst/>
          </a:prstGeom>
          <a:solidFill>
            <a:srgbClr val="00B050"/>
          </a:solidFill>
          <a:ln>
            <a:solidFill>
              <a:schemeClr val="tx1"/>
            </a:solidFill>
          </a:ln>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AU" sz="4400" b="0" i="0" u="none" strike="noStrike" kern="1200" cap="none" spc="0" normalizeH="0" baseline="0" noProof="0" dirty="0">
                <a:ln>
                  <a:noFill/>
                </a:ln>
                <a:effectLst/>
                <a:uLnTx/>
                <a:uFillTx/>
                <a:latin typeface="+mj-lt"/>
                <a:ea typeface="+mj-ea"/>
                <a:cs typeface="+mj-cs"/>
              </a:rPr>
              <a:t>Conservation Behaviour module</a:t>
            </a:r>
          </a:p>
        </p:txBody>
      </p:sp>
      <p:sp>
        <p:nvSpPr>
          <p:cNvPr id="2" name="AutoShape 2" descr="Illawarra Birders Publication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3" name="AutoShape 4" descr="Illawarra Birders Publication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4" name="TextBox 3">
            <a:extLst>
              <a:ext uri="{FF2B5EF4-FFF2-40B4-BE49-F238E27FC236}">
                <a16:creationId xmlns:a16="http://schemas.microsoft.com/office/drawing/2014/main" id="{8147B3F1-A27B-EC86-CD6B-A1A7DFA16C77}"/>
              </a:ext>
            </a:extLst>
          </p:cNvPr>
          <p:cNvSpPr txBox="1"/>
          <p:nvPr/>
        </p:nvSpPr>
        <p:spPr>
          <a:xfrm>
            <a:off x="155575" y="1700808"/>
            <a:ext cx="4891056" cy="5324535"/>
          </a:xfrm>
          <a:prstGeom prst="rect">
            <a:avLst/>
          </a:prstGeom>
          <a:noFill/>
        </p:spPr>
        <p:txBody>
          <a:bodyPr wrap="square" rtlCol="0">
            <a:spAutoFit/>
          </a:bodyPr>
          <a:lstStyle/>
          <a:p>
            <a:pPr>
              <a:buFontTx/>
              <a:buChar char="-"/>
            </a:pPr>
            <a:r>
              <a:rPr lang="en-AU" sz="2800" dirty="0"/>
              <a:t> Four-week module.</a:t>
            </a:r>
          </a:p>
          <a:p>
            <a:endParaRPr lang="en-AU" sz="2800" dirty="0"/>
          </a:p>
          <a:p>
            <a:pPr>
              <a:buFontTx/>
              <a:buChar char="-"/>
            </a:pPr>
            <a:r>
              <a:rPr lang="en-AU" sz="2800" dirty="0"/>
              <a:t> Tied to an assessment task.</a:t>
            </a:r>
          </a:p>
          <a:p>
            <a:endParaRPr lang="en-AU" sz="2800" dirty="0"/>
          </a:p>
          <a:p>
            <a:pPr>
              <a:buFontTx/>
              <a:buChar char="-"/>
            </a:pPr>
            <a:r>
              <a:rPr lang="en-AU" sz="2800" dirty="0"/>
              <a:t>You will present an elevator pitch to the class (5 minute talk).</a:t>
            </a:r>
          </a:p>
          <a:p>
            <a:pPr>
              <a:buFontTx/>
              <a:buChar char="-"/>
            </a:pPr>
            <a:endParaRPr lang="en-AU" sz="2800" dirty="0"/>
          </a:p>
          <a:p>
            <a:pPr>
              <a:buFontTx/>
              <a:buChar char="-"/>
            </a:pPr>
            <a:r>
              <a:rPr lang="en-AU" sz="2800" dirty="0"/>
              <a:t>Worth 20%.</a:t>
            </a:r>
          </a:p>
          <a:p>
            <a:endParaRPr lang="en-AU" sz="2800" dirty="0"/>
          </a:p>
          <a:p>
            <a:pPr>
              <a:buFontTx/>
              <a:buChar char="-"/>
            </a:pPr>
            <a:endParaRPr lang="en-AU" sz="2000" dirty="0"/>
          </a:p>
          <a:p>
            <a:pPr>
              <a:buFontTx/>
              <a:buChar char="-"/>
            </a:pPr>
            <a:endParaRPr lang="en-AU" sz="2000" dirty="0"/>
          </a:p>
          <a:p>
            <a:pPr>
              <a:buFontTx/>
              <a:buChar char="-"/>
            </a:pPr>
            <a:endParaRPr lang="en-AU" sz="2000" dirty="0"/>
          </a:p>
        </p:txBody>
      </p:sp>
    </p:spTree>
    <p:extLst>
      <p:ext uri="{BB962C8B-B14F-4D97-AF65-F5344CB8AC3E}">
        <p14:creationId xmlns:p14="http://schemas.microsoft.com/office/powerpoint/2010/main" val="2303968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69357"/>
            <a:ext cx="9144000" cy="646331"/>
          </a:xfrm>
          <a:prstGeom prst="rect">
            <a:avLst/>
          </a:prstGeom>
          <a:solidFill>
            <a:srgbClr val="00B050"/>
          </a:solidFill>
        </p:spPr>
        <p:txBody>
          <a:bodyPr wrap="square">
            <a:spAutoFit/>
          </a:bodyPr>
          <a:lstStyle/>
          <a:p>
            <a:r>
              <a:rPr lang="en-AU" sz="3600" b="1" dirty="0"/>
              <a:t>What is Conservation Behaviour?</a:t>
            </a:r>
            <a:endParaRPr lang="en-AU" dirty="0"/>
          </a:p>
        </p:txBody>
      </p:sp>
      <p:sp>
        <p:nvSpPr>
          <p:cNvPr id="3" name="TextBox 2">
            <a:extLst>
              <a:ext uri="{FF2B5EF4-FFF2-40B4-BE49-F238E27FC236}">
                <a16:creationId xmlns:a16="http://schemas.microsoft.com/office/drawing/2014/main" id="{B391C667-AFF0-4848-4C28-5F28990C5AAF}"/>
              </a:ext>
            </a:extLst>
          </p:cNvPr>
          <p:cNvSpPr txBox="1"/>
          <p:nvPr/>
        </p:nvSpPr>
        <p:spPr>
          <a:xfrm>
            <a:off x="251520" y="1412776"/>
            <a:ext cx="3960440" cy="5324535"/>
          </a:xfrm>
          <a:prstGeom prst="rect">
            <a:avLst/>
          </a:prstGeom>
          <a:noFill/>
        </p:spPr>
        <p:txBody>
          <a:bodyPr wrap="square" rtlCol="0">
            <a:spAutoFit/>
          </a:bodyPr>
          <a:lstStyle/>
          <a:p>
            <a:pPr>
              <a:buFontTx/>
              <a:buChar char="-"/>
            </a:pPr>
            <a:r>
              <a:rPr lang="en-US" sz="2800" b="1" i="1" dirty="0">
                <a:solidFill>
                  <a:srgbClr val="111111"/>
                </a:solidFill>
                <a:effectLst/>
                <a:highlight>
                  <a:srgbClr val="FFFFFF"/>
                </a:highlight>
                <a:latin typeface="+mj-lt"/>
              </a:rPr>
              <a:t>Conservation behavior </a:t>
            </a:r>
            <a:r>
              <a:rPr lang="en-US" sz="2800" b="0" i="0" dirty="0">
                <a:solidFill>
                  <a:srgbClr val="111111"/>
                </a:solidFill>
                <a:effectLst/>
                <a:highlight>
                  <a:srgbClr val="FFFFFF"/>
                </a:highlight>
                <a:latin typeface="+mj-lt"/>
              </a:rPr>
              <a:t>is a relatively new interdisciplinary field. </a:t>
            </a:r>
          </a:p>
          <a:p>
            <a:pPr>
              <a:buFontTx/>
              <a:buChar char="-"/>
            </a:pPr>
            <a:endParaRPr lang="en-US" sz="2800" dirty="0">
              <a:solidFill>
                <a:srgbClr val="111111"/>
              </a:solidFill>
              <a:highlight>
                <a:srgbClr val="FFFFFF"/>
              </a:highlight>
              <a:latin typeface="+mj-lt"/>
            </a:endParaRPr>
          </a:p>
          <a:p>
            <a:pPr>
              <a:buFontTx/>
              <a:buChar char="-"/>
            </a:pPr>
            <a:r>
              <a:rPr lang="en-US" sz="2800" dirty="0">
                <a:solidFill>
                  <a:srgbClr val="111111"/>
                </a:solidFill>
                <a:highlight>
                  <a:srgbClr val="FFFFFF"/>
                </a:highlight>
                <a:latin typeface="+mj-lt"/>
              </a:rPr>
              <a:t>A</a:t>
            </a:r>
            <a:r>
              <a:rPr lang="en-US" sz="2800" b="0" i="0" dirty="0">
                <a:solidFill>
                  <a:srgbClr val="111111"/>
                </a:solidFill>
                <a:effectLst/>
                <a:highlight>
                  <a:srgbClr val="FFFFFF"/>
                </a:highlight>
                <a:latin typeface="+mj-lt"/>
              </a:rPr>
              <a:t>imed at investigating how proximate and ultimate aspects of animal behavior can be of value in preventing the loss of biodiversity. </a:t>
            </a:r>
            <a:r>
              <a:rPr lang="en-AU" sz="2800" dirty="0">
                <a:latin typeface="+mj-lt"/>
              </a:rPr>
              <a:t>  </a:t>
            </a:r>
          </a:p>
          <a:p>
            <a:pPr>
              <a:buFontTx/>
              <a:buChar char="-"/>
            </a:pPr>
            <a:endParaRPr lang="en-AU" sz="2000" dirty="0"/>
          </a:p>
          <a:p>
            <a:pPr>
              <a:buFontTx/>
              <a:buChar char="-"/>
            </a:pPr>
            <a:endParaRPr lang="en-AU" sz="2000" dirty="0"/>
          </a:p>
          <a:p>
            <a:pPr>
              <a:buFontTx/>
              <a:buChar char="-"/>
            </a:pPr>
            <a:endParaRPr lang="en-AU" sz="2000" dirty="0"/>
          </a:p>
        </p:txBody>
      </p:sp>
      <p:pic>
        <p:nvPicPr>
          <p:cNvPr id="5" name="Picture 4">
            <a:extLst>
              <a:ext uri="{FF2B5EF4-FFF2-40B4-BE49-F238E27FC236}">
                <a16:creationId xmlns:a16="http://schemas.microsoft.com/office/drawing/2014/main" id="{59EEA3D4-C3F1-3A1B-944D-99DD791ACAF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355976" y="1052736"/>
            <a:ext cx="4028615" cy="5445224"/>
          </a:xfrm>
          <a:prstGeom prst="rect">
            <a:avLst/>
          </a:prstGeom>
        </p:spPr>
      </p:pic>
    </p:spTree>
    <p:extLst>
      <p:ext uri="{BB962C8B-B14F-4D97-AF65-F5344CB8AC3E}">
        <p14:creationId xmlns:p14="http://schemas.microsoft.com/office/powerpoint/2010/main" val="2934681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69357"/>
            <a:ext cx="9144000" cy="646331"/>
          </a:xfrm>
          <a:prstGeom prst="rect">
            <a:avLst/>
          </a:prstGeom>
          <a:solidFill>
            <a:srgbClr val="00B050"/>
          </a:solidFill>
        </p:spPr>
        <p:txBody>
          <a:bodyPr wrap="square">
            <a:spAutoFit/>
          </a:bodyPr>
          <a:lstStyle/>
          <a:p>
            <a:r>
              <a:rPr lang="en-AU" sz="3600" b="1" dirty="0"/>
              <a:t>Conservation Behaviour Framework</a:t>
            </a:r>
            <a:endParaRPr lang="en-AU" dirty="0"/>
          </a:p>
        </p:txBody>
      </p:sp>
      <p:sp>
        <p:nvSpPr>
          <p:cNvPr id="3" name="TextBox 2">
            <a:extLst>
              <a:ext uri="{FF2B5EF4-FFF2-40B4-BE49-F238E27FC236}">
                <a16:creationId xmlns:a16="http://schemas.microsoft.com/office/drawing/2014/main" id="{B391C667-AFF0-4848-4C28-5F28990C5AAF}"/>
              </a:ext>
            </a:extLst>
          </p:cNvPr>
          <p:cNvSpPr txBox="1"/>
          <p:nvPr/>
        </p:nvSpPr>
        <p:spPr>
          <a:xfrm>
            <a:off x="0" y="1196752"/>
            <a:ext cx="3563888" cy="5570756"/>
          </a:xfrm>
          <a:prstGeom prst="rect">
            <a:avLst/>
          </a:prstGeom>
          <a:noFill/>
        </p:spPr>
        <p:txBody>
          <a:bodyPr wrap="square" rtlCol="0">
            <a:spAutoFit/>
          </a:bodyPr>
          <a:lstStyle/>
          <a:p>
            <a:pPr>
              <a:buFontTx/>
              <a:buChar char="-"/>
            </a:pPr>
            <a:r>
              <a:rPr lang="en-US" sz="2400" b="0" i="0" dirty="0">
                <a:solidFill>
                  <a:srgbClr val="111111"/>
                </a:solidFill>
                <a:effectLst/>
                <a:highlight>
                  <a:srgbClr val="FFFFFF"/>
                </a:highlight>
              </a:rPr>
              <a:t>The conservation behavior framework is composed of 3 basic interrelated conservation </a:t>
            </a:r>
            <a:r>
              <a:rPr lang="en-US" sz="2400" b="0" i="0" u="sng" dirty="0">
                <a:solidFill>
                  <a:srgbClr val="111111"/>
                </a:solidFill>
                <a:effectLst/>
                <a:highlight>
                  <a:srgbClr val="FFFFFF"/>
                </a:highlight>
              </a:rPr>
              <a:t>themes </a:t>
            </a:r>
          </a:p>
          <a:p>
            <a:pPr>
              <a:buFontTx/>
              <a:buChar char="-"/>
            </a:pPr>
            <a:endParaRPr lang="en-US" sz="2400" dirty="0">
              <a:solidFill>
                <a:srgbClr val="111111"/>
              </a:solidFill>
              <a:highlight>
                <a:srgbClr val="FFFFFF"/>
              </a:highlight>
            </a:endParaRPr>
          </a:p>
          <a:p>
            <a:pPr>
              <a:buFontTx/>
              <a:buChar char="-"/>
            </a:pPr>
            <a:r>
              <a:rPr lang="en-US" sz="2400" b="0" i="0" dirty="0">
                <a:solidFill>
                  <a:srgbClr val="111111"/>
                </a:solidFill>
                <a:effectLst/>
                <a:highlight>
                  <a:srgbClr val="FFFFFF"/>
                </a:highlight>
              </a:rPr>
              <a:t>The black arrows represent interactions between the conservation themes.</a:t>
            </a:r>
          </a:p>
          <a:p>
            <a:pPr>
              <a:buFontTx/>
              <a:buChar char="-"/>
            </a:pPr>
            <a:endParaRPr lang="en-US" sz="2400" dirty="0">
              <a:solidFill>
                <a:srgbClr val="111111"/>
              </a:solidFill>
              <a:highlight>
                <a:srgbClr val="FFFFFF"/>
              </a:highlight>
            </a:endParaRPr>
          </a:p>
          <a:p>
            <a:pPr>
              <a:buFontTx/>
              <a:buChar char="-"/>
            </a:pPr>
            <a:r>
              <a:rPr lang="en-US" sz="2400" b="0" i="0" dirty="0">
                <a:solidFill>
                  <a:srgbClr val="111111"/>
                </a:solidFill>
                <a:effectLst/>
                <a:highlight>
                  <a:srgbClr val="FFFFFF"/>
                </a:highlight>
              </a:rPr>
              <a:t> Gray arrows represent the pathways that connect each theme to the behavioral domains.</a:t>
            </a:r>
            <a:r>
              <a:rPr lang="en-AU" sz="2400" b="0" i="0" dirty="0">
                <a:solidFill>
                  <a:srgbClr val="111111"/>
                </a:solidFill>
                <a:effectLst/>
                <a:highlight>
                  <a:srgbClr val="FFFFFF"/>
                </a:highlight>
              </a:rPr>
              <a:t> </a:t>
            </a:r>
            <a:endParaRPr lang="en-AU" sz="2400" dirty="0"/>
          </a:p>
          <a:p>
            <a:pPr>
              <a:buFontTx/>
              <a:buChar char="-"/>
            </a:pPr>
            <a:endParaRPr lang="en-AU" sz="2000" dirty="0"/>
          </a:p>
        </p:txBody>
      </p:sp>
      <p:pic>
        <p:nvPicPr>
          <p:cNvPr id="2" name="Picture 1">
            <a:extLst>
              <a:ext uri="{FF2B5EF4-FFF2-40B4-BE49-F238E27FC236}">
                <a16:creationId xmlns:a16="http://schemas.microsoft.com/office/drawing/2014/main" id="{A1CBB3A6-CAA5-301B-D8C6-0D6019337058}"/>
              </a:ext>
            </a:extLst>
          </p:cNvPr>
          <p:cNvPicPr>
            <a:picLocks noChangeAspect="1"/>
          </p:cNvPicPr>
          <p:nvPr/>
        </p:nvPicPr>
        <p:blipFill>
          <a:blip r:embed="rId2"/>
          <a:stretch>
            <a:fillRect/>
          </a:stretch>
        </p:blipFill>
        <p:spPr>
          <a:xfrm>
            <a:off x="3347864" y="1520788"/>
            <a:ext cx="5672308" cy="3816424"/>
          </a:xfrm>
          <a:prstGeom prst="rect">
            <a:avLst/>
          </a:prstGeom>
        </p:spPr>
      </p:pic>
    </p:spTree>
    <p:extLst>
      <p:ext uri="{BB962C8B-B14F-4D97-AF65-F5344CB8AC3E}">
        <p14:creationId xmlns:p14="http://schemas.microsoft.com/office/powerpoint/2010/main" val="13233546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69357"/>
            <a:ext cx="9144000" cy="646331"/>
          </a:xfrm>
          <a:prstGeom prst="rect">
            <a:avLst/>
          </a:prstGeom>
          <a:solidFill>
            <a:srgbClr val="00B050"/>
          </a:solidFill>
        </p:spPr>
        <p:txBody>
          <a:bodyPr wrap="square">
            <a:spAutoFit/>
          </a:bodyPr>
          <a:lstStyle/>
          <a:p>
            <a:r>
              <a:rPr lang="en-AU" sz="3600" b="1" dirty="0"/>
              <a:t>Theme 1. Behaviour Based management</a:t>
            </a:r>
            <a:endParaRPr lang="en-AU" dirty="0"/>
          </a:p>
        </p:txBody>
      </p:sp>
      <p:sp>
        <p:nvSpPr>
          <p:cNvPr id="3" name="TextBox 2">
            <a:extLst>
              <a:ext uri="{FF2B5EF4-FFF2-40B4-BE49-F238E27FC236}">
                <a16:creationId xmlns:a16="http://schemas.microsoft.com/office/drawing/2014/main" id="{B391C667-AFF0-4848-4C28-5F28990C5AAF}"/>
              </a:ext>
            </a:extLst>
          </p:cNvPr>
          <p:cNvSpPr txBox="1"/>
          <p:nvPr/>
        </p:nvSpPr>
        <p:spPr>
          <a:xfrm>
            <a:off x="0" y="576974"/>
            <a:ext cx="4427984" cy="6247864"/>
          </a:xfrm>
          <a:prstGeom prst="rect">
            <a:avLst/>
          </a:prstGeom>
          <a:noFill/>
        </p:spPr>
        <p:txBody>
          <a:bodyPr wrap="square" rtlCol="0">
            <a:spAutoFit/>
          </a:bodyPr>
          <a:lstStyle/>
          <a:p>
            <a:pPr>
              <a:buFontTx/>
              <a:buChar char="-"/>
            </a:pPr>
            <a:r>
              <a:rPr lang="en-US" sz="2000" b="1" dirty="0">
                <a:solidFill>
                  <a:srgbClr val="111111"/>
                </a:solidFill>
                <a:highlight>
                  <a:srgbClr val="FFFFFF"/>
                </a:highlight>
                <a:latin typeface="+mj-lt"/>
              </a:rPr>
              <a:t>Concept: </a:t>
            </a:r>
            <a:r>
              <a:rPr lang="en-US" sz="2000" dirty="0">
                <a:solidFill>
                  <a:srgbClr val="111111"/>
                </a:solidFill>
                <a:highlight>
                  <a:srgbClr val="FFFFFF"/>
                </a:highlight>
                <a:latin typeface="+mj-lt"/>
              </a:rPr>
              <a:t>Manipulate environments to control </a:t>
            </a:r>
            <a:r>
              <a:rPr lang="en-US" sz="2000" dirty="0" err="1">
                <a:solidFill>
                  <a:srgbClr val="111111"/>
                </a:solidFill>
                <a:highlight>
                  <a:srgbClr val="FFFFFF"/>
                </a:highlight>
                <a:latin typeface="+mj-lt"/>
              </a:rPr>
              <a:t>behaviour</a:t>
            </a:r>
            <a:endParaRPr lang="en-US" sz="2000" dirty="0">
              <a:solidFill>
                <a:srgbClr val="111111"/>
              </a:solidFill>
              <a:highlight>
                <a:srgbClr val="FFFFFF"/>
              </a:highlight>
              <a:latin typeface="+mj-lt"/>
            </a:endParaRPr>
          </a:p>
          <a:p>
            <a:pPr>
              <a:buFontTx/>
              <a:buChar char="-"/>
            </a:pPr>
            <a:endParaRPr lang="en-US" sz="2000" dirty="0">
              <a:solidFill>
                <a:srgbClr val="111111"/>
              </a:solidFill>
              <a:highlight>
                <a:srgbClr val="FFFFFF"/>
              </a:highlight>
              <a:latin typeface="+mj-lt"/>
            </a:endParaRPr>
          </a:p>
          <a:p>
            <a:pPr>
              <a:buFontTx/>
              <a:buChar char="-"/>
            </a:pPr>
            <a:r>
              <a:rPr lang="en-US" sz="2000" dirty="0">
                <a:solidFill>
                  <a:srgbClr val="111111"/>
                </a:solidFill>
                <a:highlight>
                  <a:srgbClr val="FFFFFF"/>
                </a:highlight>
                <a:latin typeface="+mj-lt"/>
              </a:rPr>
              <a:t> </a:t>
            </a:r>
            <a:r>
              <a:rPr lang="en-US" sz="2000" b="1" dirty="0">
                <a:solidFill>
                  <a:srgbClr val="111111"/>
                </a:solidFill>
                <a:highlight>
                  <a:srgbClr val="FFFFFF"/>
                </a:highlight>
                <a:latin typeface="+mj-lt"/>
              </a:rPr>
              <a:t>Example: </a:t>
            </a:r>
            <a:r>
              <a:rPr lang="en-US" sz="2000" u="sng" dirty="0">
                <a:solidFill>
                  <a:srgbClr val="111111"/>
                </a:solidFill>
                <a:highlight>
                  <a:srgbClr val="FFFFFF"/>
                </a:highlight>
                <a:latin typeface="+mj-lt"/>
              </a:rPr>
              <a:t>Predatory </a:t>
            </a:r>
            <a:r>
              <a:rPr lang="en-US" sz="2000" u="sng" dirty="0" err="1">
                <a:solidFill>
                  <a:srgbClr val="111111"/>
                </a:solidFill>
                <a:highlight>
                  <a:srgbClr val="FFFFFF"/>
                </a:highlight>
                <a:latin typeface="+mj-lt"/>
              </a:rPr>
              <a:t>behaviour</a:t>
            </a:r>
            <a:r>
              <a:rPr lang="en-US" sz="2000" u="sng" dirty="0">
                <a:solidFill>
                  <a:srgbClr val="111111"/>
                </a:solidFill>
                <a:highlight>
                  <a:srgbClr val="FFFFFF"/>
                </a:highlight>
                <a:latin typeface="+mj-lt"/>
              </a:rPr>
              <a:t> </a:t>
            </a:r>
            <a:r>
              <a:rPr lang="en-US" sz="2000" dirty="0">
                <a:solidFill>
                  <a:srgbClr val="111111"/>
                </a:solidFill>
                <a:highlight>
                  <a:srgbClr val="FFFFFF"/>
                </a:highlight>
                <a:latin typeface="+mj-lt"/>
              </a:rPr>
              <a:t>in NZ mammals and shorebirds</a:t>
            </a:r>
          </a:p>
          <a:p>
            <a:pPr>
              <a:buFontTx/>
              <a:buChar char="-"/>
            </a:pPr>
            <a:endParaRPr lang="en-US" sz="2000" dirty="0">
              <a:solidFill>
                <a:srgbClr val="111111"/>
              </a:solidFill>
              <a:highlight>
                <a:srgbClr val="FFFFFF"/>
              </a:highlight>
              <a:latin typeface="+mj-lt"/>
            </a:endParaRPr>
          </a:p>
          <a:p>
            <a:pPr>
              <a:buFontTx/>
              <a:buChar char="-"/>
            </a:pPr>
            <a:r>
              <a:rPr lang="en-US" sz="2000" dirty="0">
                <a:solidFill>
                  <a:srgbClr val="111111"/>
                </a:solidFill>
                <a:highlight>
                  <a:srgbClr val="FFFFFF"/>
                </a:highlight>
                <a:latin typeface="+mj-lt"/>
              </a:rPr>
              <a:t>Use of aversive stimuli (unpleasant stimuli) to condition predators </a:t>
            </a:r>
          </a:p>
          <a:p>
            <a:endParaRPr lang="en-US" sz="2000" dirty="0">
              <a:solidFill>
                <a:srgbClr val="111111"/>
              </a:solidFill>
              <a:highlight>
                <a:srgbClr val="FFFFFF"/>
              </a:highlight>
              <a:latin typeface="+mj-lt"/>
            </a:endParaRPr>
          </a:p>
          <a:p>
            <a:pPr>
              <a:buFontTx/>
              <a:buChar char="-"/>
            </a:pPr>
            <a:r>
              <a:rPr lang="en-US" sz="2000" b="1" dirty="0">
                <a:solidFill>
                  <a:srgbClr val="111111"/>
                </a:solidFill>
                <a:highlight>
                  <a:srgbClr val="FFFFFF"/>
                </a:highlight>
                <a:latin typeface="+mj-lt"/>
              </a:rPr>
              <a:t>Approach: </a:t>
            </a:r>
            <a:r>
              <a:rPr lang="en-US" sz="2000" dirty="0">
                <a:solidFill>
                  <a:srgbClr val="111111"/>
                </a:solidFill>
                <a:highlight>
                  <a:srgbClr val="FFFFFF"/>
                </a:highlight>
                <a:latin typeface="+mj-lt"/>
              </a:rPr>
              <a:t>Infuse Vaseline with bird </a:t>
            </a:r>
            <a:r>
              <a:rPr lang="en-US" sz="2000" dirty="0" err="1">
                <a:solidFill>
                  <a:srgbClr val="111111"/>
                </a:solidFill>
                <a:highlight>
                  <a:srgbClr val="FFFFFF"/>
                </a:highlight>
                <a:latin typeface="+mj-lt"/>
              </a:rPr>
              <a:t>odour</a:t>
            </a:r>
            <a:r>
              <a:rPr lang="en-US" sz="2000" dirty="0">
                <a:solidFill>
                  <a:srgbClr val="111111"/>
                </a:solidFill>
                <a:highlight>
                  <a:srgbClr val="FFFFFF"/>
                </a:highlight>
                <a:latin typeface="+mj-lt"/>
              </a:rPr>
              <a:t> at nest sites 5 weeks before birds arrived and 8 weeks after</a:t>
            </a:r>
          </a:p>
          <a:p>
            <a:pPr>
              <a:buFontTx/>
              <a:buChar char="-"/>
            </a:pPr>
            <a:endParaRPr lang="en-US" sz="2000" dirty="0">
              <a:solidFill>
                <a:srgbClr val="111111"/>
              </a:solidFill>
              <a:highlight>
                <a:srgbClr val="FFFFFF"/>
              </a:highlight>
              <a:latin typeface="+mj-lt"/>
            </a:endParaRPr>
          </a:p>
          <a:p>
            <a:pPr>
              <a:buFontTx/>
              <a:buChar char="-"/>
            </a:pPr>
            <a:r>
              <a:rPr lang="en-US" sz="2000" dirty="0">
                <a:solidFill>
                  <a:srgbClr val="111111"/>
                </a:solidFill>
                <a:highlight>
                  <a:srgbClr val="FFFFFF"/>
                </a:highlight>
                <a:latin typeface="+mj-lt"/>
              </a:rPr>
              <a:t>Teaches predators to ignore scent as a reliable indicator of food</a:t>
            </a:r>
          </a:p>
          <a:p>
            <a:pPr>
              <a:buFontTx/>
              <a:buChar char="-"/>
            </a:pPr>
            <a:endParaRPr lang="en-US" sz="2000" dirty="0">
              <a:solidFill>
                <a:srgbClr val="111111"/>
              </a:solidFill>
              <a:highlight>
                <a:srgbClr val="FFFFFF"/>
              </a:highlight>
              <a:latin typeface="+mj-lt"/>
            </a:endParaRPr>
          </a:p>
          <a:p>
            <a:pPr>
              <a:buFontTx/>
              <a:buChar char="-"/>
            </a:pPr>
            <a:r>
              <a:rPr lang="en-US" sz="2000" b="1" dirty="0">
                <a:solidFill>
                  <a:srgbClr val="111111"/>
                </a:solidFill>
                <a:highlight>
                  <a:srgbClr val="FFFFFF"/>
                </a:highlight>
                <a:latin typeface="+mj-lt"/>
              </a:rPr>
              <a:t>Outcome: </a:t>
            </a:r>
            <a:r>
              <a:rPr lang="en-US" sz="2000" dirty="0">
                <a:solidFill>
                  <a:srgbClr val="111111"/>
                </a:solidFill>
                <a:highlight>
                  <a:srgbClr val="FFFFFF"/>
                </a:highlight>
                <a:latin typeface="+mj-lt"/>
              </a:rPr>
              <a:t>Chick production increased 1.7 fold at </a:t>
            </a:r>
            <a:r>
              <a:rPr lang="en-US" sz="2000" dirty="0" err="1">
                <a:solidFill>
                  <a:srgbClr val="111111"/>
                </a:solidFill>
                <a:highlight>
                  <a:srgbClr val="FFFFFF"/>
                </a:highlight>
                <a:latin typeface="+mj-lt"/>
              </a:rPr>
              <a:t>odour</a:t>
            </a:r>
            <a:r>
              <a:rPr lang="en-US" sz="2000" dirty="0">
                <a:solidFill>
                  <a:srgbClr val="111111"/>
                </a:solidFill>
                <a:highlight>
                  <a:srgbClr val="FFFFFF"/>
                </a:highlight>
                <a:latin typeface="+mj-lt"/>
              </a:rPr>
              <a:t> treated sites</a:t>
            </a:r>
          </a:p>
          <a:p>
            <a:endParaRPr lang="en-AU" sz="2000" dirty="0"/>
          </a:p>
          <a:p>
            <a:pPr>
              <a:buFontTx/>
              <a:buChar char="-"/>
            </a:pPr>
            <a:endParaRPr lang="en-AU" sz="2000" dirty="0"/>
          </a:p>
        </p:txBody>
      </p:sp>
      <p:pic>
        <p:nvPicPr>
          <p:cNvPr id="2" name="Picture 1">
            <a:extLst>
              <a:ext uri="{FF2B5EF4-FFF2-40B4-BE49-F238E27FC236}">
                <a16:creationId xmlns:a16="http://schemas.microsoft.com/office/drawing/2014/main" id="{B6E30A18-9024-9C68-66EF-9F4938FBF07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175707" y="1484784"/>
            <a:ext cx="4968293" cy="3960440"/>
          </a:xfrm>
          <a:prstGeom prst="rect">
            <a:avLst/>
          </a:prstGeom>
        </p:spPr>
      </p:pic>
      <p:sp>
        <p:nvSpPr>
          <p:cNvPr id="6" name="TextBox 5">
            <a:extLst>
              <a:ext uri="{FF2B5EF4-FFF2-40B4-BE49-F238E27FC236}">
                <a16:creationId xmlns:a16="http://schemas.microsoft.com/office/drawing/2014/main" id="{EC829A91-2895-0E9D-C1F4-828F9A02B60E}"/>
              </a:ext>
            </a:extLst>
          </p:cNvPr>
          <p:cNvSpPr txBox="1"/>
          <p:nvPr/>
        </p:nvSpPr>
        <p:spPr>
          <a:xfrm>
            <a:off x="4308632" y="6050193"/>
            <a:ext cx="4702441" cy="461665"/>
          </a:xfrm>
          <a:prstGeom prst="rect">
            <a:avLst/>
          </a:prstGeom>
          <a:noFill/>
        </p:spPr>
        <p:txBody>
          <a:bodyPr wrap="none" rtlCol="0">
            <a:spAutoFit/>
          </a:bodyPr>
          <a:lstStyle/>
          <a:p>
            <a:pPr>
              <a:buFontTx/>
              <a:buChar char="-"/>
            </a:pPr>
            <a:r>
              <a:rPr lang="en-AU" sz="1200" b="0" i="0" dirty="0">
                <a:solidFill>
                  <a:srgbClr val="222222"/>
                </a:solidFill>
                <a:effectLst/>
                <a:highlight>
                  <a:srgbClr val="FFFFFF"/>
                </a:highlight>
              </a:rPr>
              <a:t>REF:  Grant et al (2021). "Misinformation tactics protect rare birds from </a:t>
            </a:r>
          </a:p>
          <a:p>
            <a:pPr>
              <a:buFontTx/>
              <a:buChar char="-"/>
            </a:pPr>
            <a:r>
              <a:rPr lang="en-AU" sz="1200" b="0" i="0" dirty="0">
                <a:solidFill>
                  <a:srgbClr val="222222"/>
                </a:solidFill>
                <a:effectLst/>
                <a:highlight>
                  <a:srgbClr val="FFFFFF"/>
                </a:highlight>
              </a:rPr>
              <a:t>problem predators." </a:t>
            </a:r>
            <a:r>
              <a:rPr lang="en-AU" sz="1200" b="0" i="1" dirty="0">
                <a:solidFill>
                  <a:srgbClr val="222222"/>
                </a:solidFill>
                <a:effectLst/>
                <a:highlight>
                  <a:srgbClr val="FFFFFF"/>
                </a:highlight>
              </a:rPr>
              <a:t>Science Advances</a:t>
            </a:r>
            <a:r>
              <a:rPr lang="en-AU" sz="1200" b="0" i="0" dirty="0">
                <a:solidFill>
                  <a:srgbClr val="222222"/>
                </a:solidFill>
                <a:effectLst/>
                <a:highlight>
                  <a:srgbClr val="FFFFFF"/>
                </a:highlight>
              </a:rPr>
              <a:t> 7, no. 11 (2021):  </a:t>
            </a:r>
            <a:endParaRPr lang="en-AU" sz="1200" dirty="0"/>
          </a:p>
        </p:txBody>
      </p:sp>
    </p:spTree>
    <p:extLst>
      <p:ext uri="{BB962C8B-B14F-4D97-AF65-F5344CB8AC3E}">
        <p14:creationId xmlns:p14="http://schemas.microsoft.com/office/powerpoint/2010/main" val="3328380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46356"/>
            <a:ext cx="9144000" cy="1200329"/>
          </a:xfrm>
          <a:prstGeom prst="rect">
            <a:avLst/>
          </a:prstGeom>
          <a:solidFill>
            <a:srgbClr val="00B050"/>
          </a:solidFill>
        </p:spPr>
        <p:txBody>
          <a:bodyPr wrap="square">
            <a:spAutoFit/>
          </a:bodyPr>
          <a:lstStyle/>
          <a:p>
            <a:r>
              <a:rPr lang="en-AU" sz="3600" b="1" dirty="0"/>
              <a:t>Theme 2. Anthropogenic impacts on animal behaviour</a:t>
            </a:r>
            <a:endParaRPr lang="en-AU" dirty="0"/>
          </a:p>
        </p:txBody>
      </p:sp>
      <p:sp>
        <p:nvSpPr>
          <p:cNvPr id="3" name="TextBox 2">
            <a:extLst>
              <a:ext uri="{FF2B5EF4-FFF2-40B4-BE49-F238E27FC236}">
                <a16:creationId xmlns:a16="http://schemas.microsoft.com/office/drawing/2014/main" id="{B391C667-AFF0-4848-4C28-5F28990C5AAF}"/>
              </a:ext>
            </a:extLst>
          </p:cNvPr>
          <p:cNvSpPr txBox="1"/>
          <p:nvPr/>
        </p:nvSpPr>
        <p:spPr>
          <a:xfrm>
            <a:off x="21608" y="930586"/>
            <a:ext cx="3960440" cy="5940088"/>
          </a:xfrm>
          <a:prstGeom prst="rect">
            <a:avLst/>
          </a:prstGeom>
          <a:noFill/>
        </p:spPr>
        <p:txBody>
          <a:bodyPr wrap="square" rtlCol="0">
            <a:spAutoFit/>
          </a:bodyPr>
          <a:lstStyle/>
          <a:p>
            <a:pPr>
              <a:buFontTx/>
              <a:buChar char="-"/>
            </a:pPr>
            <a:r>
              <a:rPr lang="en-US" sz="2000" b="1" i="0" dirty="0">
                <a:solidFill>
                  <a:srgbClr val="111111"/>
                </a:solidFill>
                <a:effectLst/>
                <a:highlight>
                  <a:srgbClr val="FFFFFF"/>
                </a:highlight>
                <a:latin typeface="+mj-lt"/>
              </a:rPr>
              <a:t> Concept: </a:t>
            </a:r>
            <a:r>
              <a:rPr lang="en-US" sz="2000" b="0" i="0" dirty="0" err="1">
                <a:solidFill>
                  <a:srgbClr val="111111"/>
                </a:solidFill>
                <a:effectLst/>
                <a:highlight>
                  <a:srgbClr val="FFFFFF"/>
                </a:highlight>
                <a:latin typeface="+mj-lt"/>
              </a:rPr>
              <a:t>Behavioural</a:t>
            </a:r>
            <a:r>
              <a:rPr lang="en-US" sz="2000" b="0" i="0" dirty="0">
                <a:solidFill>
                  <a:srgbClr val="111111"/>
                </a:solidFill>
                <a:effectLst/>
                <a:highlight>
                  <a:srgbClr val="FFFFFF"/>
                </a:highlight>
                <a:latin typeface="+mj-lt"/>
              </a:rPr>
              <a:t> </a:t>
            </a:r>
            <a:r>
              <a:rPr lang="en-AU" sz="2000" b="0" i="0" dirty="0">
                <a:solidFill>
                  <a:srgbClr val="111111"/>
                </a:solidFill>
                <a:effectLst/>
                <a:highlight>
                  <a:srgbClr val="FFFFFF"/>
                </a:highlight>
                <a:latin typeface="+mj-lt"/>
              </a:rPr>
              <a:t>plasticity </a:t>
            </a:r>
            <a:r>
              <a:rPr lang="en-AU" sz="2000" dirty="0">
                <a:solidFill>
                  <a:srgbClr val="111111"/>
                </a:solidFill>
                <a:highlight>
                  <a:srgbClr val="FFFFFF"/>
                </a:highlight>
                <a:latin typeface="+mj-lt"/>
              </a:rPr>
              <a:t>causes fitness problems.</a:t>
            </a:r>
          </a:p>
          <a:p>
            <a:pPr>
              <a:buFontTx/>
              <a:buChar char="-"/>
            </a:pPr>
            <a:endParaRPr lang="en-AU" sz="2000" dirty="0">
              <a:solidFill>
                <a:srgbClr val="111111"/>
              </a:solidFill>
              <a:highlight>
                <a:srgbClr val="FFFFFF"/>
              </a:highlight>
              <a:latin typeface="+mj-lt"/>
            </a:endParaRPr>
          </a:p>
          <a:p>
            <a:pPr>
              <a:buFontTx/>
              <a:buChar char="-"/>
            </a:pPr>
            <a:r>
              <a:rPr lang="en-AU" sz="2000" b="1" dirty="0">
                <a:solidFill>
                  <a:srgbClr val="111111"/>
                </a:solidFill>
                <a:highlight>
                  <a:srgbClr val="FFFFFF"/>
                </a:highlight>
                <a:latin typeface="+mj-lt"/>
              </a:rPr>
              <a:t> Example: </a:t>
            </a:r>
            <a:r>
              <a:rPr lang="en-AU" sz="2000" u="sng" dirty="0">
                <a:solidFill>
                  <a:srgbClr val="111111"/>
                </a:solidFill>
                <a:highlight>
                  <a:srgbClr val="FFFFFF"/>
                </a:highlight>
                <a:latin typeface="+mj-lt"/>
              </a:rPr>
              <a:t>Foraging behaviour </a:t>
            </a:r>
            <a:r>
              <a:rPr lang="en-AU" sz="2000" dirty="0">
                <a:solidFill>
                  <a:srgbClr val="111111"/>
                </a:solidFill>
                <a:highlight>
                  <a:srgbClr val="FFFFFF"/>
                </a:highlight>
                <a:latin typeface="+mj-lt"/>
              </a:rPr>
              <a:t>in Sulphur-crested cockatoos.</a:t>
            </a:r>
          </a:p>
          <a:p>
            <a:pPr>
              <a:buFontTx/>
              <a:buChar char="-"/>
            </a:pPr>
            <a:endParaRPr lang="en-AU" sz="2000" dirty="0">
              <a:solidFill>
                <a:srgbClr val="111111"/>
              </a:solidFill>
              <a:highlight>
                <a:srgbClr val="FFFFFF"/>
              </a:highlight>
              <a:latin typeface="+mj-lt"/>
            </a:endParaRPr>
          </a:p>
          <a:p>
            <a:pPr>
              <a:buFontTx/>
              <a:buChar char="-"/>
            </a:pPr>
            <a:r>
              <a:rPr lang="en-AU" sz="2000" dirty="0">
                <a:solidFill>
                  <a:srgbClr val="111111"/>
                </a:solidFill>
                <a:highlight>
                  <a:srgbClr val="FFFFFF"/>
                </a:highlight>
                <a:latin typeface="+mj-lt"/>
              </a:rPr>
              <a:t> Birds learning from each other to open lids.</a:t>
            </a:r>
          </a:p>
          <a:p>
            <a:pPr>
              <a:buFontTx/>
              <a:buChar char="-"/>
            </a:pPr>
            <a:endParaRPr lang="en-AU" sz="2000" dirty="0">
              <a:solidFill>
                <a:srgbClr val="111111"/>
              </a:solidFill>
              <a:highlight>
                <a:srgbClr val="FFFFFF"/>
              </a:highlight>
              <a:latin typeface="+mj-lt"/>
            </a:endParaRPr>
          </a:p>
          <a:p>
            <a:pPr>
              <a:buFontTx/>
              <a:buChar char="-"/>
            </a:pPr>
            <a:r>
              <a:rPr lang="en-AU" sz="2000" dirty="0">
                <a:solidFill>
                  <a:srgbClr val="111111"/>
                </a:solidFill>
                <a:highlight>
                  <a:srgbClr val="FFFFFF"/>
                </a:highlight>
                <a:latin typeface="+mj-lt"/>
              </a:rPr>
              <a:t> Cultural transmission of knowledge</a:t>
            </a:r>
          </a:p>
          <a:p>
            <a:pPr>
              <a:buFontTx/>
              <a:buChar char="-"/>
            </a:pPr>
            <a:endParaRPr lang="en-AU" sz="2000" dirty="0">
              <a:solidFill>
                <a:srgbClr val="111111"/>
              </a:solidFill>
              <a:highlight>
                <a:srgbClr val="FFFFFF"/>
              </a:highlight>
              <a:latin typeface="+mj-lt"/>
            </a:endParaRPr>
          </a:p>
          <a:p>
            <a:pPr>
              <a:buFontTx/>
              <a:buChar char="-"/>
            </a:pPr>
            <a:r>
              <a:rPr lang="en-AU" sz="2000" dirty="0">
                <a:solidFill>
                  <a:srgbClr val="111111"/>
                </a:solidFill>
                <a:highlight>
                  <a:srgbClr val="FFFFFF"/>
                </a:highlight>
                <a:latin typeface="+mj-lt"/>
              </a:rPr>
              <a:t> Before 2018, bin opening only observed in 3 Sydney suburbs.</a:t>
            </a:r>
          </a:p>
          <a:p>
            <a:pPr>
              <a:buFontTx/>
              <a:buChar char="-"/>
            </a:pPr>
            <a:endParaRPr lang="en-AU" sz="2000" dirty="0">
              <a:solidFill>
                <a:srgbClr val="111111"/>
              </a:solidFill>
              <a:highlight>
                <a:srgbClr val="FFFFFF"/>
              </a:highlight>
              <a:latin typeface="+mj-lt"/>
            </a:endParaRPr>
          </a:p>
          <a:p>
            <a:pPr>
              <a:buFontTx/>
              <a:buChar char="-"/>
            </a:pPr>
            <a:r>
              <a:rPr lang="en-AU" sz="2000" dirty="0">
                <a:solidFill>
                  <a:srgbClr val="111111"/>
                </a:solidFill>
                <a:highlight>
                  <a:srgbClr val="FFFFFF"/>
                </a:highlight>
                <a:latin typeface="+mj-lt"/>
              </a:rPr>
              <a:t> Now spread to 44 suburbs.</a:t>
            </a:r>
          </a:p>
          <a:p>
            <a:pPr>
              <a:buFontTx/>
              <a:buChar char="-"/>
            </a:pPr>
            <a:endParaRPr lang="en-AU" sz="2000" dirty="0">
              <a:solidFill>
                <a:srgbClr val="111111"/>
              </a:solidFill>
              <a:highlight>
                <a:srgbClr val="FFFFFF"/>
              </a:highlight>
              <a:latin typeface="+mj-lt"/>
            </a:endParaRPr>
          </a:p>
          <a:p>
            <a:pPr>
              <a:buFontTx/>
              <a:buChar char="-"/>
            </a:pPr>
            <a:r>
              <a:rPr lang="en-AU" sz="2000" dirty="0">
                <a:solidFill>
                  <a:srgbClr val="111111"/>
                </a:solidFill>
                <a:highlight>
                  <a:srgbClr val="FFFFFF"/>
                </a:highlight>
                <a:latin typeface="+mj-lt"/>
              </a:rPr>
              <a:t> </a:t>
            </a:r>
            <a:r>
              <a:rPr lang="en-AU" sz="2000" b="1" dirty="0">
                <a:solidFill>
                  <a:srgbClr val="111111"/>
                </a:solidFill>
                <a:highlight>
                  <a:srgbClr val="FFFFFF"/>
                </a:highlight>
                <a:latin typeface="+mj-lt"/>
              </a:rPr>
              <a:t>Problem: </a:t>
            </a:r>
            <a:r>
              <a:rPr lang="en-AU" sz="2000" dirty="0">
                <a:solidFill>
                  <a:srgbClr val="111111"/>
                </a:solidFill>
                <a:highlight>
                  <a:srgbClr val="FFFFFF"/>
                </a:highlight>
                <a:latin typeface="+mj-lt"/>
              </a:rPr>
              <a:t>Sub optimal nutrition compromising  bird health.</a:t>
            </a:r>
            <a:endParaRPr lang="en-AU" sz="2000" dirty="0">
              <a:latin typeface="+mj-lt"/>
            </a:endParaRPr>
          </a:p>
          <a:p>
            <a:pPr>
              <a:buFontTx/>
              <a:buChar char="-"/>
            </a:pPr>
            <a:endParaRPr lang="en-AU" sz="2000" dirty="0"/>
          </a:p>
        </p:txBody>
      </p:sp>
      <p:pic>
        <p:nvPicPr>
          <p:cNvPr id="1026" name="Picture 2" descr="A group of sulphur-crested cockatoos wait for one of them to pry open a bin before sharing in the spoils.">
            <a:extLst>
              <a:ext uri="{FF2B5EF4-FFF2-40B4-BE49-F238E27FC236}">
                <a16:creationId xmlns:a16="http://schemas.microsoft.com/office/drawing/2014/main" id="{68813CE3-6D33-4220-1DED-16A5B9098C77}"/>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337864" y="3734748"/>
            <a:ext cx="4572000" cy="2743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searchers found the birds seem to differentiate between red-lidded general waste bins and yellow-lidded recycling bins.">
            <a:extLst>
              <a:ext uri="{FF2B5EF4-FFF2-40B4-BE49-F238E27FC236}">
                <a16:creationId xmlns:a16="http://schemas.microsoft.com/office/drawing/2014/main" id="{7A51FAA9-2181-C05B-4380-CC7D519D1C2F}"/>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337864" y="860053"/>
            <a:ext cx="4572000"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37669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69357"/>
            <a:ext cx="9144000" cy="646331"/>
          </a:xfrm>
          <a:prstGeom prst="rect">
            <a:avLst/>
          </a:prstGeom>
          <a:solidFill>
            <a:srgbClr val="00B050"/>
          </a:solidFill>
        </p:spPr>
        <p:txBody>
          <a:bodyPr wrap="square">
            <a:spAutoFit/>
          </a:bodyPr>
          <a:lstStyle/>
          <a:p>
            <a:r>
              <a:rPr lang="en-AU" sz="3600" b="1" dirty="0"/>
              <a:t>Theme 3. Behavioural indicators</a:t>
            </a:r>
            <a:endParaRPr lang="en-AU" dirty="0"/>
          </a:p>
        </p:txBody>
      </p:sp>
      <p:sp>
        <p:nvSpPr>
          <p:cNvPr id="3" name="TextBox 2">
            <a:extLst>
              <a:ext uri="{FF2B5EF4-FFF2-40B4-BE49-F238E27FC236}">
                <a16:creationId xmlns:a16="http://schemas.microsoft.com/office/drawing/2014/main" id="{B391C667-AFF0-4848-4C28-5F28990C5AAF}"/>
              </a:ext>
            </a:extLst>
          </p:cNvPr>
          <p:cNvSpPr txBox="1"/>
          <p:nvPr/>
        </p:nvSpPr>
        <p:spPr>
          <a:xfrm>
            <a:off x="139599" y="1052736"/>
            <a:ext cx="3960440" cy="5324535"/>
          </a:xfrm>
          <a:prstGeom prst="rect">
            <a:avLst/>
          </a:prstGeom>
          <a:noFill/>
        </p:spPr>
        <p:txBody>
          <a:bodyPr wrap="square" rtlCol="0">
            <a:spAutoFit/>
          </a:bodyPr>
          <a:lstStyle/>
          <a:p>
            <a:pPr>
              <a:buFontTx/>
              <a:buChar char="-"/>
            </a:pPr>
            <a:r>
              <a:rPr lang="en-US" sz="2000" b="1" i="0" dirty="0">
                <a:solidFill>
                  <a:srgbClr val="111111"/>
                </a:solidFill>
                <a:effectLst/>
                <a:highlight>
                  <a:srgbClr val="FFFFFF"/>
                </a:highlight>
                <a:latin typeface="+mj-lt"/>
              </a:rPr>
              <a:t>Concept: </a:t>
            </a:r>
            <a:r>
              <a:rPr lang="en-US" sz="2000" b="0" i="0" dirty="0">
                <a:solidFill>
                  <a:srgbClr val="111111"/>
                </a:solidFill>
                <a:effectLst/>
                <a:highlight>
                  <a:srgbClr val="FFFFFF"/>
                </a:highlight>
                <a:latin typeface="+mj-lt"/>
              </a:rPr>
              <a:t>monitoring </a:t>
            </a:r>
            <a:r>
              <a:rPr lang="en-US" sz="2000" b="0" i="0" dirty="0" err="1">
                <a:solidFill>
                  <a:srgbClr val="111111"/>
                </a:solidFill>
                <a:effectLst/>
                <a:highlight>
                  <a:srgbClr val="FFFFFF"/>
                </a:highlight>
                <a:latin typeface="+mj-lt"/>
              </a:rPr>
              <a:t>behaviour</a:t>
            </a:r>
            <a:r>
              <a:rPr lang="en-US" sz="2000" b="0" i="0" dirty="0">
                <a:solidFill>
                  <a:srgbClr val="111111"/>
                </a:solidFill>
                <a:effectLst/>
                <a:highlight>
                  <a:srgbClr val="FFFFFF"/>
                </a:highlight>
                <a:latin typeface="+mj-lt"/>
              </a:rPr>
              <a:t> can indicate success of a conservation action.</a:t>
            </a:r>
          </a:p>
          <a:p>
            <a:pPr>
              <a:buFontTx/>
              <a:buChar char="-"/>
            </a:pPr>
            <a:endParaRPr lang="en-US" sz="2000" dirty="0">
              <a:solidFill>
                <a:srgbClr val="111111"/>
              </a:solidFill>
              <a:highlight>
                <a:srgbClr val="FFFFFF"/>
              </a:highlight>
              <a:latin typeface="+mj-lt"/>
            </a:endParaRPr>
          </a:p>
          <a:p>
            <a:pPr>
              <a:buFontTx/>
              <a:buChar char="-"/>
            </a:pPr>
            <a:r>
              <a:rPr lang="en-US" sz="2000" b="1" i="0" dirty="0">
                <a:solidFill>
                  <a:srgbClr val="111111"/>
                </a:solidFill>
                <a:effectLst/>
                <a:highlight>
                  <a:srgbClr val="FFFFFF"/>
                </a:highlight>
                <a:latin typeface="+mj-lt"/>
              </a:rPr>
              <a:t>Example: </a:t>
            </a:r>
            <a:r>
              <a:rPr lang="en-US" sz="2000" b="0" i="0" dirty="0">
                <a:solidFill>
                  <a:srgbClr val="111111"/>
                </a:solidFill>
                <a:effectLst/>
                <a:highlight>
                  <a:srgbClr val="FFFFFF"/>
                </a:highlight>
                <a:latin typeface="+mj-lt"/>
              </a:rPr>
              <a:t>Black Rhino re-introduction in Zimbabwe.</a:t>
            </a:r>
          </a:p>
          <a:p>
            <a:pPr>
              <a:buFontTx/>
              <a:buChar char="-"/>
            </a:pPr>
            <a:endParaRPr lang="en-US" sz="2000" dirty="0">
              <a:solidFill>
                <a:srgbClr val="111111"/>
              </a:solidFill>
              <a:highlight>
                <a:srgbClr val="FFFFFF"/>
              </a:highlight>
              <a:latin typeface="+mj-lt"/>
            </a:endParaRPr>
          </a:p>
          <a:p>
            <a:pPr>
              <a:buFontTx/>
              <a:buChar char="-"/>
            </a:pPr>
            <a:r>
              <a:rPr lang="en-US" sz="2000" b="0" i="0" dirty="0">
                <a:solidFill>
                  <a:srgbClr val="1F1F1F"/>
                </a:solidFill>
                <a:effectLst/>
                <a:latin typeface="+mj-lt"/>
              </a:rPr>
              <a:t>Rhinos showed progressive and consistent changes in movement patterns and habitat selection.</a:t>
            </a:r>
          </a:p>
          <a:p>
            <a:pPr>
              <a:buFontTx/>
              <a:buChar char="-"/>
            </a:pPr>
            <a:endParaRPr lang="en-US" sz="2000" dirty="0">
              <a:solidFill>
                <a:srgbClr val="1F1F1F"/>
              </a:solidFill>
              <a:latin typeface="+mj-lt"/>
            </a:endParaRPr>
          </a:p>
          <a:p>
            <a:pPr>
              <a:buFontTx/>
              <a:buChar char="-"/>
            </a:pPr>
            <a:r>
              <a:rPr lang="en-US" sz="2000" b="0" i="0" dirty="0">
                <a:solidFill>
                  <a:srgbClr val="1F1F1F"/>
                </a:solidFill>
                <a:effectLst/>
                <a:latin typeface="+mj-lt"/>
              </a:rPr>
              <a:t> </a:t>
            </a:r>
            <a:r>
              <a:rPr lang="en-US" sz="2000" dirty="0">
                <a:solidFill>
                  <a:srgbClr val="1F1F1F"/>
                </a:solidFill>
                <a:latin typeface="+mj-lt"/>
              </a:rPr>
              <a:t>S</a:t>
            </a:r>
            <a:r>
              <a:rPr lang="en-US" sz="2000" b="0" i="0" dirty="0">
                <a:solidFill>
                  <a:srgbClr val="1F1F1F"/>
                </a:solidFill>
                <a:effectLst/>
                <a:latin typeface="+mj-lt"/>
              </a:rPr>
              <a:t>hifted from large-scale movements during the early stages of release to smaller-scale movements after home ranges were established</a:t>
            </a:r>
            <a:r>
              <a:rPr lang="en-AU" sz="2000" b="0" i="0" dirty="0">
                <a:solidFill>
                  <a:srgbClr val="111111"/>
                </a:solidFill>
                <a:effectLst/>
                <a:highlight>
                  <a:srgbClr val="FFFFFF"/>
                </a:highlight>
                <a:latin typeface="+mj-lt"/>
              </a:rPr>
              <a:t> </a:t>
            </a:r>
            <a:r>
              <a:rPr lang="en-AU" sz="2000" dirty="0">
                <a:latin typeface="+mj-lt"/>
              </a:rPr>
              <a:t> </a:t>
            </a:r>
          </a:p>
          <a:p>
            <a:pPr>
              <a:buFontTx/>
              <a:buChar char="-"/>
            </a:pPr>
            <a:endParaRPr lang="en-AU" sz="2000" dirty="0"/>
          </a:p>
        </p:txBody>
      </p:sp>
      <p:pic>
        <p:nvPicPr>
          <p:cNvPr id="2" name="Picture 1">
            <a:extLst>
              <a:ext uri="{FF2B5EF4-FFF2-40B4-BE49-F238E27FC236}">
                <a16:creationId xmlns:a16="http://schemas.microsoft.com/office/drawing/2014/main" id="{7A654741-EA05-961D-0947-735B1147265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144116" y="1556792"/>
            <a:ext cx="4896036" cy="3264024"/>
          </a:xfrm>
          <a:prstGeom prst="rect">
            <a:avLst/>
          </a:prstGeom>
        </p:spPr>
      </p:pic>
      <p:sp>
        <p:nvSpPr>
          <p:cNvPr id="5" name="TextBox 4">
            <a:extLst>
              <a:ext uri="{FF2B5EF4-FFF2-40B4-BE49-F238E27FC236}">
                <a16:creationId xmlns:a16="http://schemas.microsoft.com/office/drawing/2014/main" id="{4B02E3AD-8F0D-6847-A5AF-B3607427AF2B}"/>
              </a:ext>
            </a:extLst>
          </p:cNvPr>
          <p:cNvSpPr txBox="1"/>
          <p:nvPr/>
        </p:nvSpPr>
        <p:spPr>
          <a:xfrm>
            <a:off x="5043962" y="5589240"/>
            <a:ext cx="3096344" cy="830997"/>
          </a:xfrm>
          <a:prstGeom prst="rect">
            <a:avLst/>
          </a:prstGeom>
          <a:noFill/>
        </p:spPr>
        <p:txBody>
          <a:bodyPr wrap="square" rtlCol="0">
            <a:spAutoFit/>
          </a:bodyPr>
          <a:lstStyle/>
          <a:p>
            <a:pPr>
              <a:buFontTx/>
              <a:buChar char="-"/>
            </a:pPr>
            <a:r>
              <a:rPr lang="en-AU" sz="1200" dirty="0">
                <a:latin typeface="+mj-lt"/>
              </a:rPr>
              <a:t>REF: </a:t>
            </a:r>
            <a:r>
              <a:rPr lang="en-AU" sz="1200" b="0" i="0" dirty="0" err="1">
                <a:solidFill>
                  <a:srgbClr val="222222"/>
                </a:solidFill>
                <a:effectLst/>
                <a:highlight>
                  <a:srgbClr val="FFFFFF"/>
                </a:highlight>
                <a:latin typeface="+mj-lt"/>
              </a:rPr>
              <a:t>Wielgus</a:t>
            </a:r>
            <a:r>
              <a:rPr lang="en-AU" sz="1200" b="0" i="0" dirty="0">
                <a:solidFill>
                  <a:srgbClr val="222222"/>
                </a:solidFill>
                <a:effectLst/>
                <a:highlight>
                  <a:srgbClr val="FFFFFF"/>
                </a:highlight>
                <a:latin typeface="+mj-lt"/>
              </a:rPr>
              <a:t>, et al (2023). "Bringing the Black rhino back: Key factors for reintroduction success." </a:t>
            </a:r>
            <a:r>
              <a:rPr lang="en-AU" sz="1200" b="0" i="1" dirty="0">
                <a:solidFill>
                  <a:srgbClr val="222222"/>
                </a:solidFill>
                <a:effectLst/>
                <a:highlight>
                  <a:srgbClr val="FFFFFF"/>
                </a:highlight>
                <a:latin typeface="+mj-lt"/>
              </a:rPr>
              <a:t>Global Ecology and Conservation</a:t>
            </a:r>
            <a:r>
              <a:rPr lang="en-AU" sz="1200" b="0" i="0" dirty="0">
                <a:solidFill>
                  <a:srgbClr val="222222"/>
                </a:solidFill>
                <a:effectLst/>
                <a:highlight>
                  <a:srgbClr val="FFFFFF"/>
                </a:highlight>
                <a:latin typeface="+mj-lt"/>
              </a:rPr>
              <a:t> 48 (2023): e02756.</a:t>
            </a:r>
            <a:endParaRPr lang="en-AU" sz="1200" dirty="0">
              <a:latin typeface="+mj-lt"/>
            </a:endParaRPr>
          </a:p>
        </p:txBody>
      </p:sp>
    </p:spTree>
    <p:extLst>
      <p:ext uri="{BB962C8B-B14F-4D97-AF65-F5344CB8AC3E}">
        <p14:creationId xmlns:p14="http://schemas.microsoft.com/office/powerpoint/2010/main" val="21348076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46356"/>
            <a:ext cx="9144000" cy="1200329"/>
          </a:xfrm>
          <a:prstGeom prst="rect">
            <a:avLst/>
          </a:prstGeom>
          <a:solidFill>
            <a:srgbClr val="00B050"/>
          </a:solidFill>
        </p:spPr>
        <p:txBody>
          <a:bodyPr wrap="square">
            <a:spAutoFit/>
          </a:bodyPr>
          <a:lstStyle/>
          <a:p>
            <a:r>
              <a:rPr lang="en-AU" sz="3600" b="1" dirty="0"/>
              <a:t>Conservation behaviour valuable for resolving Human-wildlife conflict</a:t>
            </a:r>
            <a:endParaRPr lang="en-AU" dirty="0"/>
          </a:p>
        </p:txBody>
      </p:sp>
      <p:sp>
        <p:nvSpPr>
          <p:cNvPr id="3" name="TextBox 2">
            <a:extLst>
              <a:ext uri="{FF2B5EF4-FFF2-40B4-BE49-F238E27FC236}">
                <a16:creationId xmlns:a16="http://schemas.microsoft.com/office/drawing/2014/main" id="{B391C667-AFF0-4848-4C28-5F28990C5AAF}"/>
              </a:ext>
            </a:extLst>
          </p:cNvPr>
          <p:cNvSpPr txBox="1"/>
          <p:nvPr/>
        </p:nvSpPr>
        <p:spPr>
          <a:xfrm>
            <a:off x="68971" y="1027349"/>
            <a:ext cx="3600400" cy="5940088"/>
          </a:xfrm>
          <a:prstGeom prst="rect">
            <a:avLst/>
          </a:prstGeom>
          <a:noFill/>
        </p:spPr>
        <p:txBody>
          <a:bodyPr wrap="square" rtlCol="0">
            <a:spAutoFit/>
          </a:bodyPr>
          <a:lstStyle/>
          <a:p>
            <a:pPr>
              <a:buFontTx/>
              <a:buChar char="-"/>
            </a:pPr>
            <a:r>
              <a:rPr lang="en-US" sz="2000" dirty="0">
                <a:solidFill>
                  <a:srgbClr val="111111"/>
                </a:solidFill>
                <a:highlight>
                  <a:srgbClr val="FFFFFF"/>
                </a:highlight>
                <a:latin typeface="+mj-lt"/>
              </a:rPr>
              <a:t> </a:t>
            </a:r>
            <a:r>
              <a:rPr lang="en-US" sz="2000" b="1" dirty="0">
                <a:solidFill>
                  <a:srgbClr val="111111"/>
                </a:solidFill>
                <a:highlight>
                  <a:srgbClr val="FFFFFF"/>
                </a:highlight>
                <a:latin typeface="+mj-lt"/>
              </a:rPr>
              <a:t>Human-wildlife conflict: </a:t>
            </a:r>
            <a:r>
              <a:rPr lang="en-US" sz="2000" dirty="0">
                <a:solidFill>
                  <a:srgbClr val="111111"/>
                </a:solidFill>
                <a:highlight>
                  <a:srgbClr val="FFFFFF"/>
                </a:highlight>
                <a:latin typeface="+mj-lt"/>
              </a:rPr>
              <a:t>when encounters between humans and wildlife lead to negative impacts. </a:t>
            </a:r>
          </a:p>
          <a:p>
            <a:pPr>
              <a:buFontTx/>
              <a:buChar char="-"/>
            </a:pPr>
            <a:endParaRPr lang="en-US" sz="2000" b="0" i="0" dirty="0">
              <a:solidFill>
                <a:srgbClr val="111111"/>
              </a:solidFill>
              <a:effectLst/>
              <a:highlight>
                <a:srgbClr val="FFFFFF"/>
              </a:highlight>
              <a:latin typeface="+mj-lt"/>
            </a:endParaRPr>
          </a:p>
          <a:p>
            <a:pPr>
              <a:buFontTx/>
              <a:buChar char="-"/>
            </a:pPr>
            <a:r>
              <a:rPr lang="en-US" sz="2000" dirty="0">
                <a:solidFill>
                  <a:srgbClr val="111111"/>
                </a:solidFill>
                <a:highlight>
                  <a:srgbClr val="FFFFFF"/>
                </a:highlight>
                <a:latin typeface="+mj-lt"/>
              </a:rPr>
              <a:t> Conservation </a:t>
            </a:r>
            <a:r>
              <a:rPr lang="en-US" sz="2000" dirty="0" err="1">
                <a:solidFill>
                  <a:srgbClr val="111111"/>
                </a:solidFill>
                <a:highlight>
                  <a:srgbClr val="FFFFFF"/>
                </a:highlight>
                <a:latin typeface="+mj-lt"/>
              </a:rPr>
              <a:t>behaviour</a:t>
            </a:r>
            <a:r>
              <a:rPr lang="en-US" sz="2000" dirty="0">
                <a:solidFill>
                  <a:srgbClr val="111111"/>
                </a:solidFill>
                <a:highlight>
                  <a:srgbClr val="FFFFFF"/>
                </a:highlight>
                <a:latin typeface="+mj-lt"/>
              </a:rPr>
              <a:t> provides a potential solution to many conflicts.</a:t>
            </a:r>
          </a:p>
          <a:p>
            <a:pPr>
              <a:buFontTx/>
              <a:buChar char="-"/>
            </a:pPr>
            <a:endParaRPr lang="en-US" sz="2000" b="0" i="0" dirty="0">
              <a:solidFill>
                <a:srgbClr val="111111"/>
              </a:solidFill>
              <a:effectLst/>
              <a:highlight>
                <a:srgbClr val="FFFFFF"/>
              </a:highlight>
              <a:latin typeface="+mj-lt"/>
            </a:endParaRPr>
          </a:p>
          <a:p>
            <a:pPr>
              <a:buFontTx/>
              <a:buChar char="-"/>
            </a:pPr>
            <a:endParaRPr lang="en-US" sz="2000" dirty="0">
              <a:solidFill>
                <a:srgbClr val="111111"/>
              </a:solidFill>
              <a:highlight>
                <a:srgbClr val="FFFFFF"/>
              </a:highlight>
              <a:latin typeface="+mj-lt"/>
            </a:endParaRPr>
          </a:p>
          <a:p>
            <a:r>
              <a:rPr lang="en-AU" sz="2000" b="0" i="0" dirty="0">
                <a:solidFill>
                  <a:srgbClr val="111111"/>
                </a:solidFill>
                <a:effectLst/>
                <a:highlight>
                  <a:srgbClr val="FFFFFF"/>
                </a:highlight>
                <a:latin typeface="+mj-lt"/>
              </a:rPr>
              <a:t>- </a:t>
            </a:r>
            <a:r>
              <a:rPr lang="en-AU" sz="2000" b="1" i="0" dirty="0">
                <a:solidFill>
                  <a:srgbClr val="111111"/>
                </a:solidFill>
                <a:effectLst/>
                <a:highlight>
                  <a:srgbClr val="FFFFFF"/>
                </a:highlight>
                <a:latin typeface="+mj-lt"/>
              </a:rPr>
              <a:t>Example: </a:t>
            </a:r>
            <a:r>
              <a:rPr lang="en-AU" sz="2000" b="0" i="0" dirty="0">
                <a:solidFill>
                  <a:srgbClr val="111111"/>
                </a:solidFill>
                <a:effectLst/>
                <a:highlight>
                  <a:srgbClr val="FFFFFF"/>
                </a:highlight>
                <a:latin typeface="+mj-lt"/>
              </a:rPr>
              <a:t>Olfactory control of elephant movement behaviour and crop damage in Kenya using repulsive odour from local ingredients.</a:t>
            </a:r>
          </a:p>
          <a:p>
            <a:endParaRPr lang="en-AU" sz="2000" dirty="0">
              <a:solidFill>
                <a:srgbClr val="111111"/>
              </a:solidFill>
              <a:highlight>
                <a:srgbClr val="FFFFFF"/>
              </a:highlight>
              <a:latin typeface="+mj-lt"/>
            </a:endParaRPr>
          </a:p>
          <a:p>
            <a:r>
              <a:rPr lang="en-AU" sz="2000" dirty="0">
                <a:solidFill>
                  <a:srgbClr val="111111"/>
                </a:solidFill>
                <a:highlight>
                  <a:srgbClr val="FFFFFF"/>
                </a:highlight>
                <a:latin typeface="+mj-lt"/>
              </a:rPr>
              <a:t>- Elephants have 2000 olfactory receptors (5 x humans)</a:t>
            </a:r>
            <a:r>
              <a:rPr lang="en-AU" sz="2000" dirty="0">
                <a:latin typeface="+mj-lt"/>
              </a:rPr>
              <a:t> </a:t>
            </a:r>
          </a:p>
          <a:p>
            <a:pPr>
              <a:buFontTx/>
              <a:buChar char="-"/>
            </a:pPr>
            <a:endParaRPr lang="en-AU" sz="2000" dirty="0"/>
          </a:p>
        </p:txBody>
      </p:sp>
      <p:sp>
        <p:nvSpPr>
          <p:cNvPr id="2" name="AutoShape 2" descr="Man-Animal Conflict - Biggest Challenge Before Mankind - The Pamphlet">
            <a:extLst>
              <a:ext uri="{FF2B5EF4-FFF2-40B4-BE49-F238E27FC236}">
                <a16:creationId xmlns:a16="http://schemas.microsoft.com/office/drawing/2014/main" id="{E5403E72-AB29-3333-D616-E396865764A5}"/>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2052" name="Picture 4">
            <a:extLst>
              <a:ext uri="{FF2B5EF4-FFF2-40B4-BE49-F238E27FC236}">
                <a16:creationId xmlns:a16="http://schemas.microsoft.com/office/drawing/2014/main" id="{D6F73761-D847-93B5-8303-0EE14E77223B}"/>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067944" y="1101890"/>
            <a:ext cx="4800480" cy="270027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6B16D4F0-5921-5E09-8483-98E93DCEE33B}"/>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355976" y="3802160"/>
            <a:ext cx="3810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9073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69357"/>
            <a:ext cx="9144000" cy="646331"/>
          </a:xfrm>
          <a:prstGeom prst="rect">
            <a:avLst/>
          </a:prstGeom>
          <a:solidFill>
            <a:srgbClr val="00B050"/>
          </a:solidFill>
        </p:spPr>
        <p:txBody>
          <a:bodyPr wrap="square">
            <a:spAutoFit/>
          </a:bodyPr>
          <a:lstStyle/>
          <a:p>
            <a:r>
              <a:rPr lang="en-AU" sz="3600" b="1" dirty="0"/>
              <a:t>A global example of conflict</a:t>
            </a:r>
            <a:endParaRPr lang="en-AU" dirty="0"/>
          </a:p>
        </p:txBody>
      </p:sp>
      <p:sp>
        <p:nvSpPr>
          <p:cNvPr id="3" name="TextBox 2">
            <a:extLst>
              <a:ext uri="{FF2B5EF4-FFF2-40B4-BE49-F238E27FC236}">
                <a16:creationId xmlns:a16="http://schemas.microsoft.com/office/drawing/2014/main" id="{B391C667-AFF0-4848-4C28-5F28990C5AAF}"/>
              </a:ext>
            </a:extLst>
          </p:cNvPr>
          <p:cNvSpPr txBox="1"/>
          <p:nvPr/>
        </p:nvSpPr>
        <p:spPr>
          <a:xfrm>
            <a:off x="68970" y="1027349"/>
            <a:ext cx="4214997" cy="6494085"/>
          </a:xfrm>
          <a:prstGeom prst="rect">
            <a:avLst/>
          </a:prstGeom>
          <a:noFill/>
        </p:spPr>
        <p:txBody>
          <a:bodyPr wrap="square" rtlCol="0">
            <a:spAutoFit/>
          </a:bodyPr>
          <a:lstStyle/>
          <a:p>
            <a:endParaRPr lang="en-US" sz="2400" b="0" i="0" dirty="0">
              <a:solidFill>
                <a:srgbClr val="111111"/>
              </a:solidFill>
              <a:effectLst/>
              <a:highlight>
                <a:srgbClr val="FFFFFF"/>
              </a:highlight>
              <a:latin typeface="+mj-lt"/>
            </a:endParaRPr>
          </a:p>
          <a:p>
            <a:pPr>
              <a:buFontTx/>
              <a:buChar char="-"/>
            </a:pPr>
            <a:endParaRPr lang="en-US" sz="2400" dirty="0">
              <a:solidFill>
                <a:srgbClr val="111111"/>
              </a:solidFill>
              <a:highlight>
                <a:srgbClr val="FFFFFF"/>
              </a:highlight>
              <a:latin typeface="+mj-lt"/>
            </a:endParaRPr>
          </a:p>
          <a:p>
            <a:pPr marL="342900" indent="-342900">
              <a:buFontTx/>
              <a:buChar char="-"/>
            </a:pPr>
            <a:r>
              <a:rPr lang="en-AU" sz="2400" b="0" i="0" dirty="0">
                <a:solidFill>
                  <a:srgbClr val="111111"/>
                </a:solidFill>
                <a:effectLst/>
                <a:highlight>
                  <a:srgbClr val="FFFFFF"/>
                </a:highlight>
                <a:latin typeface="+mj-lt"/>
              </a:rPr>
              <a:t>Encounters with dangerous species</a:t>
            </a:r>
          </a:p>
          <a:p>
            <a:pPr marL="342900" indent="-342900">
              <a:buFontTx/>
              <a:buChar char="-"/>
            </a:pPr>
            <a:endParaRPr lang="en-AU" sz="2400" dirty="0">
              <a:solidFill>
                <a:srgbClr val="111111"/>
              </a:solidFill>
              <a:highlight>
                <a:srgbClr val="FFFFFF"/>
              </a:highlight>
              <a:latin typeface="+mj-lt"/>
            </a:endParaRPr>
          </a:p>
          <a:p>
            <a:pPr marL="342900" indent="-342900">
              <a:buFontTx/>
              <a:buChar char="-"/>
            </a:pPr>
            <a:r>
              <a:rPr lang="en-AU" sz="2400" b="1" i="0" dirty="0">
                <a:solidFill>
                  <a:srgbClr val="111111"/>
                </a:solidFill>
                <a:effectLst/>
                <a:highlight>
                  <a:srgbClr val="FFFFFF"/>
                </a:highlight>
                <a:latin typeface="+mj-lt"/>
              </a:rPr>
              <a:t>Example: </a:t>
            </a:r>
            <a:r>
              <a:rPr lang="en-AU" sz="2400" b="0" i="0" dirty="0">
                <a:solidFill>
                  <a:srgbClr val="111111"/>
                </a:solidFill>
                <a:effectLst/>
                <a:highlight>
                  <a:srgbClr val="FFFFFF"/>
                </a:highlight>
                <a:latin typeface="+mj-lt"/>
              </a:rPr>
              <a:t>Shark deterrents</a:t>
            </a:r>
          </a:p>
          <a:p>
            <a:pPr marL="342900" indent="-342900">
              <a:buFontTx/>
              <a:buChar char="-"/>
            </a:pPr>
            <a:endParaRPr lang="en-AU" sz="2400" dirty="0">
              <a:solidFill>
                <a:srgbClr val="111111"/>
              </a:solidFill>
              <a:highlight>
                <a:srgbClr val="FFFFFF"/>
              </a:highlight>
              <a:latin typeface="+mj-lt"/>
            </a:endParaRPr>
          </a:p>
          <a:p>
            <a:pPr marL="342900" indent="-342900">
              <a:buFontTx/>
              <a:buChar char="-"/>
            </a:pPr>
            <a:r>
              <a:rPr lang="en-AU" sz="2400" b="0" i="0" dirty="0">
                <a:solidFill>
                  <a:srgbClr val="111111"/>
                </a:solidFill>
                <a:effectLst/>
                <a:highlight>
                  <a:srgbClr val="FFFFFF"/>
                </a:highlight>
                <a:latin typeface="+mj-lt"/>
              </a:rPr>
              <a:t>Sharks use electric signals in communication and prey detection</a:t>
            </a:r>
          </a:p>
          <a:p>
            <a:pPr marL="342900" indent="-342900">
              <a:buFontTx/>
              <a:buChar char="-"/>
            </a:pPr>
            <a:endParaRPr lang="en-AU" sz="2400" dirty="0">
              <a:solidFill>
                <a:srgbClr val="111111"/>
              </a:solidFill>
              <a:highlight>
                <a:srgbClr val="FFFFFF"/>
              </a:highlight>
              <a:latin typeface="+mj-lt"/>
            </a:endParaRPr>
          </a:p>
          <a:p>
            <a:pPr marL="342900" indent="-342900">
              <a:buFontTx/>
              <a:buChar char="-"/>
            </a:pPr>
            <a:r>
              <a:rPr lang="en-AU" sz="2400" dirty="0">
                <a:solidFill>
                  <a:srgbClr val="111111"/>
                </a:solidFill>
                <a:highlight>
                  <a:srgbClr val="FFFFFF"/>
                </a:highlight>
                <a:latin typeface="+mj-lt"/>
              </a:rPr>
              <a:t>Research into electromagnetic shields used by ocean users</a:t>
            </a:r>
          </a:p>
          <a:p>
            <a:pPr marL="342900" indent="-342900">
              <a:buFontTx/>
              <a:buChar char="-"/>
            </a:pPr>
            <a:endParaRPr lang="en-AU" sz="2000" b="0" i="0" dirty="0">
              <a:solidFill>
                <a:srgbClr val="111111"/>
              </a:solidFill>
              <a:effectLst/>
              <a:highlight>
                <a:srgbClr val="FFFFFF"/>
              </a:highlight>
              <a:latin typeface="+mj-lt"/>
            </a:endParaRPr>
          </a:p>
          <a:p>
            <a:endParaRPr lang="en-AU" sz="2000" dirty="0">
              <a:solidFill>
                <a:srgbClr val="111111"/>
              </a:solidFill>
              <a:highlight>
                <a:srgbClr val="FFFFFF"/>
              </a:highlight>
              <a:latin typeface="+mj-lt"/>
            </a:endParaRPr>
          </a:p>
          <a:p>
            <a:r>
              <a:rPr lang="en-AU" sz="2000" dirty="0">
                <a:solidFill>
                  <a:srgbClr val="111111"/>
                </a:solidFill>
                <a:highlight>
                  <a:srgbClr val="FFFFFF"/>
                </a:highlight>
                <a:latin typeface="+mj-lt"/>
              </a:rPr>
              <a:t> </a:t>
            </a:r>
            <a:endParaRPr lang="en-AU" sz="2000" dirty="0"/>
          </a:p>
          <a:p>
            <a:pPr>
              <a:buFontTx/>
              <a:buChar char="-"/>
            </a:pPr>
            <a:endParaRPr lang="en-AU" sz="2000" dirty="0"/>
          </a:p>
        </p:txBody>
      </p:sp>
      <p:sp>
        <p:nvSpPr>
          <p:cNvPr id="2" name="AutoShape 2" descr="Man-Animal Conflict - Biggest Challenge Before Mankind - The Pamphlet">
            <a:extLst>
              <a:ext uri="{FF2B5EF4-FFF2-40B4-BE49-F238E27FC236}">
                <a16:creationId xmlns:a16="http://schemas.microsoft.com/office/drawing/2014/main" id="{E5403E72-AB29-3333-D616-E396865764A5}"/>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5" name="Picture 4">
            <a:extLst>
              <a:ext uri="{FF2B5EF4-FFF2-40B4-BE49-F238E27FC236}">
                <a16:creationId xmlns:a16="http://schemas.microsoft.com/office/drawing/2014/main" id="{A3283193-8F0F-144A-9E60-73557DFBE96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419600" y="1027349"/>
            <a:ext cx="4474789" cy="3314658"/>
          </a:xfrm>
          <a:prstGeom prst="rect">
            <a:avLst/>
          </a:prstGeom>
        </p:spPr>
      </p:pic>
      <p:pic>
        <p:nvPicPr>
          <p:cNvPr id="6" name="Picture 5">
            <a:extLst>
              <a:ext uri="{FF2B5EF4-FFF2-40B4-BE49-F238E27FC236}">
                <a16:creationId xmlns:a16="http://schemas.microsoft.com/office/drawing/2014/main" id="{FA4B0082-3E82-8D38-0A70-E75885C7AF0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364088" y="4515383"/>
            <a:ext cx="2276872" cy="2276872"/>
          </a:xfrm>
          <a:prstGeom prst="rect">
            <a:avLst/>
          </a:prstGeom>
        </p:spPr>
      </p:pic>
    </p:spTree>
    <p:extLst>
      <p:ext uri="{BB962C8B-B14F-4D97-AF65-F5344CB8AC3E}">
        <p14:creationId xmlns:p14="http://schemas.microsoft.com/office/powerpoint/2010/main" val="17779832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69357"/>
            <a:ext cx="9144000" cy="646331"/>
          </a:xfrm>
          <a:prstGeom prst="rect">
            <a:avLst/>
          </a:prstGeom>
          <a:solidFill>
            <a:srgbClr val="00B050"/>
          </a:solidFill>
        </p:spPr>
        <p:txBody>
          <a:bodyPr wrap="square">
            <a:spAutoFit/>
          </a:bodyPr>
          <a:lstStyle/>
          <a:p>
            <a:r>
              <a:rPr lang="en-AU" sz="3600" b="1" dirty="0"/>
              <a:t>Some examples of local conflict</a:t>
            </a:r>
            <a:endParaRPr lang="en-AU" dirty="0"/>
          </a:p>
        </p:txBody>
      </p:sp>
      <p:sp>
        <p:nvSpPr>
          <p:cNvPr id="3" name="TextBox 2">
            <a:extLst>
              <a:ext uri="{FF2B5EF4-FFF2-40B4-BE49-F238E27FC236}">
                <a16:creationId xmlns:a16="http://schemas.microsoft.com/office/drawing/2014/main" id="{B391C667-AFF0-4848-4C28-5F28990C5AAF}"/>
              </a:ext>
            </a:extLst>
          </p:cNvPr>
          <p:cNvSpPr txBox="1"/>
          <p:nvPr/>
        </p:nvSpPr>
        <p:spPr>
          <a:xfrm>
            <a:off x="19547" y="1347348"/>
            <a:ext cx="3960440" cy="6186309"/>
          </a:xfrm>
          <a:prstGeom prst="rect">
            <a:avLst/>
          </a:prstGeom>
          <a:noFill/>
        </p:spPr>
        <p:txBody>
          <a:bodyPr wrap="square" rtlCol="0">
            <a:spAutoFit/>
          </a:bodyPr>
          <a:lstStyle/>
          <a:p>
            <a:pPr>
              <a:buFontTx/>
              <a:buChar char="-"/>
            </a:pPr>
            <a:r>
              <a:rPr lang="en-US" sz="2400" b="1" dirty="0">
                <a:solidFill>
                  <a:srgbClr val="111111"/>
                </a:solidFill>
                <a:highlight>
                  <a:srgbClr val="FFFFFF"/>
                </a:highlight>
                <a:latin typeface="+mj-lt"/>
              </a:rPr>
              <a:t> 1. Magpie aggression</a:t>
            </a:r>
          </a:p>
          <a:p>
            <a:pPr>
              <a:buFontTx/>
              <a:buChar char="-"/>
            </a:pPr>
            <a:endParaRPr lang="en-US" sz="2400" b="0" i="0" dirty="0">
              <a:solidFill>
                <a:srgbClr val="111111"/>
              </a:solidFill>
              <a:effectLst/>
              <a:highlight>
                <a:srgbClr val="FFFFFF"/>
              </a:highlight>
              <a:latin typeface="+mj-lt"/>
            </a:endParaRPr>
          </a:p>
          <a:p>
            <a:pPr>
              <a:buFontTx/>
              <a:buChar char="-"/>
            </a:pPr>
            <a:r>
              <a:rPr lang="en-US" sz="2400" dirty="0">
                <a:solidFill>
                  <a:srgbClr val="111111"/>
                </a:solidFill>
                <a:highlight>
                  <a:srgbClr val="FFFFFF"/>
                </a:highlight>
                <a:latin typeface="+mj-lt"/>
              </a:rPr>
              <a:t> Magpies become aggressive during nesting season</a:t>
            </a:r>
          </a:p>
          <a:p>
            <a:pPr>
              <a:buFontTx/>
              <a:buChar char="-"/>
            </a:pPr>
            <a:endParaRPr lang="en-US" sz="2400" b="0" i="0" dirty="0">
              <a:solidFill>
                <a:srgbClr val="111111"/>
              </a:solidFill>
              <a:effectLst/>
              <a:highlight>
                <a:srgbClr val="FFFFFF"/>
              </a:highlight>
              <a:latin typeface="+mj-lt"/>
            </a:endParaRPr>
          </a:p>
          <a:p>
            <a:pPr>
              <a:buFontTx/>
              <a:buChar char="-"/>
            </a:pPr>
            <a:r>
              <a:rPr lang="en-AU" sz="2400" b="0" i="0" dirty="0">
                <a:solidFill>
                  <a:srgbClr val="111111"/>
                </a:solidFill>
                <a:effectLst/>
                <a:highlight>
                  <a:srgbClr val="FFFFFF"/>
                </a:highlight>
                <a:latin typeface="+mj-lt"/>
              </a:rPr>
              <a:t> </a:t>
            </a:r>
            <a:r>
              <a:rPr lang="en-AU" sz="2400" b="1" i="0" dirty="0">
                <a:solidFill>
                  <a:srgbClr val="111111"/>
                </a:solidFill>
                <a:effectLst/>
                <a:highlight>
                  <a:srgbClr val="FFFFFF"/>
                </a:highlight>
                <a:latin typeface="+mj-lt"/>
              </a:rPr>
              <a:t>Problem: </a:t>
            </a:r>
            <a:r>
              <a:rPr lang="en-AU" sz="2400" b="0" i="0" dirty="0">
                <a:solidFill>
                  <a:srgbClr val="111111"/>
                </a:solidFill>
                <a:effectLst/>
                <a:highlight>
                  <a:srgbClr val="FFFFFF"/>
                </a:highlight>
                <a:latin typeface="+mj-lt"/>
              </a:rPr>
              <a:t>attack people</a:t>
            </a:r>
          </a:p>
          <a:p>
            <a:pPr>
              <a:buFontTx/>
              <a:buChar char="-"/>
            </a:pPr>
            <a:endParaRPr lang="en-AU" sz="2400" dirty="0">
              <a:solidFill>
                <a:srgbClr val="111111"/>
              </a:solidFill>
              <a:highlight>
                <a:srgbClr val="FFFFFF"/>
              </a:highlight>
              <a:latin typeface="+mj-lt"/>
            </a:endParaRPr>
          </a:p>
          <a:p>
            <a:pPr>
              <a:buFontTx/>
              <a:buChar char="-"/>
            </a:pPr>
            <a:r>
              <a:rPr lang="en-AU" sz="2400" dirty="0">
                <a:solidFill>
                  <a:srgbClr val="111111"/>
                </a:solidFill>
                <a:highlight>
                  <a:srgbClr val="FFFFFF"/>
                </a:highlight>
                <a:latin typeface="+mj-lt"/>
              </a:rPr>
              <a:t> </a:t>
            </a:r>
            <a:r>
              <a:rPr lang="en-AU" sz="2400" b="1" dirty="0">
                <a:solidFill>
                  <a:srgbClr val="111111"/>
                </a:solidFill>
                <a:highlight>
                  <a:srgbClr val="FFFFFF"/>
                </a:highlight>
                <a:latin typeface="+mj-lt"/>
              </a:rPr>
              <a:t>Outcome: </a:t>
            </a:r>
            <a:r>
              <a:rPr lang="en-AU" sz="2400" dirty="0">
                <a:solidFill>
                  <a:srgbClr val="111111"/>
                </a:solidFill>
                <a:highlight>
                  <a:srgbClr val="FFFFFF"/>
                </a:highlight>
                <a:latin typeface="+mj-lt"/>
              </a:rPr>
              <a:t>People killing magpies (biodiversity loss issue)</a:t>
            </a:r>
          </a:p>
          <a:p>
            <a:pPr>
              <a:buFontTx/>
              <a:buChar char="-"/>
            </a:pPr>
            <a:endParaRPr lang="en-AU" sz="2400" dirty="0">
              <a:solidFill>
                <a:srgbClr val="111111"/>
              </a:solidFill>
              <a:highlight>
                <a:srgbClr val="FFFFFF"/>
              </a:highlight>
              <a:latin typeface="+mj-lt"/>
            </a:endParaRPr>
          </a:p>
          <a:p>
            <a:pPr>
              <a:buFontTx/>
              <a:buChar char="-"/>
            </a:pPr>
            <a:r>
              <a:rPr lang="en-AU" sz="2400" dirty="0">
                <a:solidFill>
                  <a:srgbClr val="111111"/>
                </a:solidFill>
                <a:highlight>
                  <a:srgbClr val="FFFFFF"/>
                </a:highlight>
                <a:latin typeface="+mj-lt"/>
              </a:rPr>
              <a:t> Cable tie deterrent makes no difference to incidence of attack</a:t>
            </a:r>
            <a:endParaRPr lang="en-AU" sz="2400" dirty="0">
              <a:latin typeface="+mj-lt"/>
            </a:endParaRPr>
          </a:p>
          <a:p>
            <a:pPr>
              <a:buFontTx/>
              <a:buChar char="-"/>
            </a:pPr>
            <a:endParaRPr lang="en-AU" sz="2000" dirty="0"/>
          </a:p>
          <a:p>
            <a:pPr>
              <a:buFontTx/>
              <a:buChar char="-"/>
            </a:pPr>
            <a:endParaRPr lang="en-AU" sz="2000" dirty="0"/>
          </a:p>
          <a:p>
            <a:pPr>
              <a:buFontTx/>
              <a:buChar char="-"/>
            </a:pPr>
            <a:endParaRPr lang="en-AU" sz="2000" dirty="0"/>
          </a:p>
        </p:txBody>
      </p:sp>
      <p:pic>
        <p:nvPicPr>
          <p:cNvPr id="3074" name="Picture 2" descr="Nation Warned Of Increase In Videos Of Magpies Swooping People This Spring  — The Betoota Advocate">
            <a:extLst>
              <a:ext uri="{FF2B5EF4-FFF2-40B4-BE49-F238E27FC236}">
                <a16:creationId xmlns:a16="http://schemas.microsoft.com/office/drawing/2014/main" id="{7B57FE08-A2CB-84DF-12D2-E27C9E06DCE4}"/>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067944" y="801671"/>
            <a:ext cx="45720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05487878-E082-9EA2-6E58-7F6710CBA0A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427984" y="3887930"/>
            <a:ext cx="3851920" cy="2168399"/>
          </a:xfrm>
          <a:prstGeom prst="rect">
            <a:avLst/>
          </a:prstGeom>
        </p:spPr>
      </p:pic>
    </p:spTree>
    <p:extLst>
      <p:ext uri="{BB962C8B-B14F-4D97-AF65-F5344CB8AC3E}">
        <p14:creationId xmlns:p14="http://schemas.microsoft.com/office/powerpoint/2010/main" val="32744818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69357"/>
            <a:ext cx="9144000" cy="646331"/>
          </a:xfrm>
          <a:prstGeom prst="rect">
            <a:avLst/>
          </a:prstGeom>
          <a:solidFill>
            <a:srgbClr val="00B050"/>
          </a:solidFill>
        </p:spPr>
        <p:txBody>
          <a:bodyPr wrap="square">
            <a:spAutoFit/>
          </a:bodyPr>
          <a:lstStyle/>
          <a:p>
            <a:r>
              <a:rPr lang="en-AU" sz="3600" b="1" dirty="0"/>
              <a:t>Some examples of local conflict</a:t>
            </a:r>
            <a:endParaRPr lang="en-AU" dirty="0"/>
          </a:p>
        </p:txBody>
      </p:sp>
      <p:sp>
        <p:nvSpPr>
          <p:cNvPr id="3" name="TextBox 2">
            <a:extLst>
              <a:ext uri="{FF2B5EF4-FFF2-40B4-BE49-F238E27FC236}">
                <a16:creationId xmlns:a16="http://schemas.microsoft.com/office/drawing/2014/main" id="{B391C667-AFF0-4848-4C28-5F28990C5AAF}"/>
              </a:ext>
            </a:extLst>
          </p:cNvPr>
          <p:cNvSpPr txBox="1"/>
          <p:nvPr/>
        </p:nvSpPr>
        <p:spPr>
          <a:xfrm>
            <a:off x="467544" y="1556792"/>
            <a:ext cx="3960440" cy="4955203"/>
          </a:xfrm>
          <a:prstGeom prst="rect">
            <a:avLst/>
          </a:prstGeom>
          <a:noFill/>
        </p:spPr>
        <p:txBody>
          <a:bodyPr wrap="square" rtlCol="0">
            <a:spAutoFit/>
          </a:bodyPr>
          <a:lstStyle/>
          <a:p>
            <a:pPr>
              <a:buFontTx/>
              <a:buChar char="-"/>
            </a:pPr>
            <a:r>
              <a:rPr lang="en-US" sz="2400" b="1" dirty="0">
                <a:solidFill>
                  <a:srgbClr val="111111"/>
                </a:solidFill>
                <a:highlight>
                  <a:srgbClr val="FFFFFF"/>
                </a:highlight>
                <a:latin typeface="+mj-lt"/>
              </a:rPr>
              <a:t> 2. Feral deer aggression</a:t>
            </a:r>
          </a:p>
          <a:p>
            <a:pPr>
              <a:buFontTx/>
              <a:buChar char="-"/>
            </a:pPr>
            <a:endParaRPr lang="en-US" sz="2400" b="0" i="0" dirty="0">
              <a:solidFill>
                <a:srgbClr val="111111"/>
              </a:solidFill>
              <a:effectLst/>
              <a:highlight>
                <a:srgbClr val="FFFFFF"/>
              </a:highlight>
              <a:latin typeface="+mj-lt"/>
            </a:endParaRPr>
          </a:p>
          <a:p>
            <a:pPr>
              <a:buFontTx/>
              <a:buChar char="-"/>
            </a:pPr>
            <a:r>
              <a:rPr lang="en-US" sz="2400" dirty="0">
                <a:solidFill>
                  <a:srgbClr val="111111"/>
                </a:solidFill>
                <a:highlight>
                  <a:srgbClr val="FFFFFF"/>
                </a:highlight>
                <a:latin typeface="+mj-lt"/>
              </a:rPr>
              <a:t> During breeding season males become aggressive</a:t>
            </a:r>
          </a:p>
          <a:p>
            <a:pPr>
              <a:buFontTx/>
              <a:buChar char="-"/>
            </a:pPr>
            <a:endParaRPr lang="en-US" sz="2400" b="0" i="0" dirty="0">
              <a:solidFill>
                <a:srgbClr val="111111"/>
              </a:solidFill>
              <a:effectLst/>
              <a:highlight>
                <a:srgbClr val="FFFFFF"/>
              </a:highlight>
              <a:latin typeface="+mj-lt"/>
            </a:endParaRPr>
          </a:p>
          <a:p>
            <a:pPr>
              <a:buFontTx/>
              <a:buChar char="-"/>
            </a:pPr>
            <a:r>
              <a:rPr lang="en-AU" sz="2400" b="0" i="0" dirty="0">
                <a:solidFill>
                  <a:srgbClr val="111111"/>
                </a:solidFill>
                <a:effectLst/>
                <a:highlight>
                  <a:srgbClr val="FFFFFF"/>
                </a:highlight>
                <a:latin typeface="+mj-lt"/>
              </a:rPr>
              <a:t> </a:t>
            </a:r>
            <a:r>
              <a:rPr lang="en-AU" sz="2400" b="1" i="0" dirty="0">
                <a:solidFill>
                  <a:srgbClr val="111111"/>
                </a:solidFill>
                <a:effectLst/>
                <a:highlight>
                  <a:srgbClr val="FFFFFF"/>
                </a:highlight>
                <a:latin typeface="+mj-lt"/>
              </a:rPr>
              <a:t>Problem: </a:t>
            </a:r>
            <a:r>
              <a:rPr lang="en-US" sz="2400" dirty="0">
                <a:solidFill>
                  <a:srgbClr val="111111"/>
                </a:solidFill>
                <a:highlight>
                  <a:srgbClr val="FFFFFF"/>
                </a:highlight>
                <a:latin typeface="+mj-lt"/>
              </a:rPr>
              <a:t>damage property</a:t>
            </a:r>
          </a:p>
          <a:p>
            <a:pPr>
              <a:buFontTx/>
              <a:buChar char="-"/>
            </a:pPr>
            <a:endParaRPr lang="en-US" sz="2400" dirty="0">
              <a:solidFill>
                <a:srgbClr val="111111"/>
              </a:solidFill>
              <a:highlight>
                <a:srgbClr val="FFFFFF"/>
              </a:highlight>
              <a:latin typeface="+mj-lt"/>
            </a:endParaRPr>
          </a:p>
          <a:p>
            <a:pPr>
              <a:buFontTx/>
              <a:buChar char="-"/>
            </a:pPr>
            <a:r>
              <a:rPr lang="en-AU" sz="2400" dirty="0">
                <a:solidFill>
                  <a:srgbClr val="111111"/>
                </a:solidFill>
                <a:highlight>
                  <a:srgbClr val="FFFFFF"/>
                </a:highlight>
                <a:latin typeface="+mj-lt"/>
              </a:rPr>
              <a:t> </a:t>
            </a:r>
            <a:r>
              <a:rPr lang="en-AU" sz="2400" b="1" dirty="0">
                <a:solidFill>
                  <a:srgbClr val="111111"/>
                </a:solidFill>
                <a:highlight>
                  <a:srgbClr val="FFFFFF"/>
                </a:highlight>
                <a:latin typeface="+mj-lt"/>
              </a:rPr>
              <a:t>Outcome</a:t>
            </a:r>
            <a:r>
              <a:rPr lang="en-AU" sz="2400" dirty="0">
                <a:solidFill>
                  <a:srgbClr val="111111"/>
                </a:solidFill>
                <a:highlight>
                  <a:srgbClr val="FFFFFF"/>
                </a:highlight>
                <a:latin typeface="+mj-lt"/>
              </a:rPr>
              <a:t>: People killing deer (animal ethics issue)</a:t>
            </a:r>
            <a:endParaRPr lang="en-AU" sz="2400" dirty="0">
              <a:latin typeface="+mj-lt"/>
            </a:endParaRPr>
          </a:p>
          <a:p>
            <a:endParaRPr lang="en-US" sz="2000" dirty="0">
              <a:solidFill>
                <a:srgbClr val="111111"/>
              </a:solidFill>
              <a:highlight>
                <a:srgbClr val="FFFFFF"/>
              </a:highlight>
              <a:latin typeface="+mj-lt"/>
            </a:endParaRPr>
          </a:p>
          <a:p>
            <a:pPr>
              <a:buFontTx/>
              <a:buChar char="-"/>
            </a:pPr>
            <a:endParaRPr lang="en-AU" sz="2000" dirty="0">
              <a:latin typeface="+mj-lt"/>
            </a:endParaRPr>
          </a:p>
          <a:p>
            <a:pPr>
              <a:buFontTx/>
              <a:buChar char="-"/>
            </a:pPr>
            <a:endParaRPr lang="en-AU" sz="2000" dirty="0"/>
          </a:p>
          <a:p>
            <a:pPr>
              <a:buFontTx/>
              <a:buChar char="-"/>
            </a:pPr>
            <a:endParaRPr lang="en-AU" sz="2000" dirty="0"/>
          </a:p>
          <a:p>
            <a:pPr>
              <a:buFontTx/>
              <a:buChar char="-"/>
            </a:pPr>
            <a:endParaRPr lang="en-AU" sz="2000" dirty="0"/>
          </a:p>
        </p:txBody>
      </p:sp>
      <p:pic>
        <p:nvPicPr>
          <p:cNvPr id="2" name="Picture 1">
            <a:extLst>
              <a:ext uri="{FF2B5EF4-FFF2-40B4-BE49-F238E27FC236}">
                <a16:creationId xmlns:a16="http://schemas.microsoft.com/office/drawing/2014/main" id="{5896BBC0-E0F1-64BB-FEE5-3B4C6972F25E}"/>
              </a:ext>
            </a:extLst>
          </p:cNvPr>
          <p:cNvPicPr>
            <a:picLocks noChangeAspect="1"/>
          </p:cNvPicPr>
          <p:nvPr/>
        </p:nvPicPr>
        <p:blipFill>
          <a:blip r:embed="rId2"/>
          <a:stretch>
            <a:fillRect/>
          </a:stretch>
        </p:blipFill>
        <p:spPr>
          <a:xfrm>
            <a:off x="4542561" y="1412776"/>
            <a:ext cx="3660229" cy="4886594"/>
          </a:xfrm>
          <a:prstGeom prst="rect">
            <a:avLst/>
          </a:prstGeom>
        </p:spPr>
      </p:pic>
    </p:spTree>
    <p:extLst>
      <p:ext uri="{BB962C8B-B14F-4D97-AF65-F5344CB8AC3E}">
        <p14:creationId xmlns:p14="http://schemas.microsoft.com/office/powerpoint/2010/main" val="35794213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69357"/>
            <a:ext cx="9144000" cy="646331"/>
          </a:xfrm>
          <a:prstGeom prst="rect">
            <a:avLst/>
          </a:prstGeom>
          <a:solidFill>
            <a:srgbClr val="00B050"/>
          </a:solidFill>
        </p:spPr>
        <p:txBody>
          <a:bodyPr wrap="square">
            <a:spAutoFit/>
          </a:bodyPr>
          <a:lstStyle/>
          <a:p>
            <a:r>
              <a:rPr lang="en-AU" sz="3600" b="1" dirty="0"/>
              <a:t>Some examples of local conflict</a:t>
            </a:r>
            <a:endParaRPr lang="en-AU" dirty="0"/>
          </a:p>
        </p:txBody>
      </p:sp>
      <p:sp>
        <p:nvSpPr>
          <p:cNvPr id="3" name="TextBox 2">
            <a:extLst>
              <a:ext uri="{FF2B5EF4-FFF2-40B4-BE49-F238E27FC236}">
                <a16:creationId xmlns:a16="http://schemas.microsoft.com/office/drawing/2014/main" id="{B391C667-AFF0-4848-4C28-5F28990C5AAF}"/>
              </a:ext>
            </a:extLst>
          </p:cNvPr>
          <p:cNvSpPr txBox="1"/>
          <p:nvPr/>
        </p:nvSpPr>
        <p:spPr>
          <a:xfrm>
            <a:off x="107504" y="1196752"/>
            <a:ext cx="3960440" cy="5632311"/>
          </a:xfrm>
          <a:prstGeom prst="rect">
            <a:avLst/>
          </a:prstGeom>
          <a:noFill/>
        </p:spPr>
        <p:txBody>
          <a:bodyPr wrap="square" rtlCol="0">
            <a:spAutoFit/>
          </a:bodyPr>
          <a:lstStyle/>
          <a:p>
            <a:pPr>
              <a:buFontTx/>
              <a:buChar char="-"/>
            </a:pPr>
            <a:r>
              <a:rPr lang="en-US" sz="2000" b="1" dirty="0">
                <a:solidFill>
                  <a:srgbClr val="111111"/>
                </a:solidFill>
                <a:highlight>
                  <a:srgbClr val="FFFFFF"/>
                </a:highlight>
                <a:latin typeface="+mj-lt"/>
              </a:rPr>
              <a:t> 3. Flying foxes</a:t>
            </a:r>
          </a:p>
          <a:p>
            <a:pPr>
              <a:buFontTx/>
              <a:buChar char="-"/>
            </a:pPr>
            <a:endParaRPr lang="en-US" sz="2000" dirty="0">
              <a:solidFill>
                <a:srgbClr val="111111"/>
              </a:solidFill>
              <a:highlight>
                <a:srgbClr val="FFFFFF"/>
              </a:highlight>
              <a:latin typeface="+mj-lt"/>
            </a:endParaRPr>
          </a:p>
          <a:p>
            <a:pPr>
              <a:buFontTx/>
              <a:buChar char="-"/>
            </a:pPr>
            <a:r>
              <a:rPr lang="en-US" sz="2000" dirty="0">
                <a:solidFill>
                  <a:srgbClr val="111111"/>
                </a:solidFill>
                <a:highlight>
                  <a:srgbClr val="FFFFFF"/>
                </a:highlight>
                <a:latin typeface="+mj-lt"/>
              </a:rPr>
              <a:t> </a:t>
            </a:r>
            <a:r>
              <a:rPr lang="en-US" sz="2000" u="sng" dirty="0">
                <a:solidFill>
                  <a:srgbClr val="111111"/>
                </a:solidFill>
                <a:highlight>
                  <a:srgbClr val="FFFFFF"/>
                </a:highlight>
                <a:latin typeface="+mj-lt"/>
              </a:rPr>
              <a:t>Communal roosting </a:t>
            </a:r>
            <a:r>
              <a:rPr lang="en-US" sz="2000" u="sng" dirty="0" err="1">
                <a:solidFill>
                  <a:srgbClr val="111111"/>
                </a:solidFill>
                <a:highlight>
                  <a:srgbClr val="FFFFFF"/>
                </a:highlight>
                <a:latin typeface="+mj-lt"/>
              </a:rPr>
              <a:t>beahviour</a:t>
            </a:r>
            <a:r>
              <a:rPr lang="en-US" sz="2000" u="sng" dirty="0">
                <a:solidFill>
                  <a:srgbClr val="111111"/>
                </a:solidFill>
                <a:highlight>
                  <a:srgbClr val="FFFFFF"/>
                </a:highlight>
                <a:latin typeface="+mj-lt"/>
              </a:rPr>
              <a:t>. </a:t>
            </a:r>
            <a:r>
              <a:rPr lang="en-US" sz="2000" dirty="0">
                <a:solidFill>
                  <a:srgbClr val="111111"/>
                </a:solidFill>
                <a:highlight>
                  <a:srgbClr val="FFFFFF"/>
                </a:highlight>
                <a:latin typeface="+mj-lt"/>
              </a:rPr>
              <a:t>Roost in large camps (up to 60, 000 bats)</a:t>
            </a:r>
          </a:p>
          <a:p>
            <a:pPr>
              <a:buFontTx/>
              <a:buChar char="-"/>
            </a:pPr>
            <a:endParaRPr lang="en-US" sz="2000" b="0" i="0" dirty="0">
              <a:solidFill>
                <a:srgbClr val="111111"/>
              </a:solidFill>
              <a:effectLst/>
              <a:highlight>
                <a:srgbClr val="FFFFFF"/>
              </a:highlight>
              <a:latin typeface="+mj-lt"/>
            </a:endParaRPr>
          </a:p>
          <a:p>
            <a:pPr>
              <a:buFontTx/>
              <a:buChar char="-"/>
            </a:pPr>
            <a:r>
              <a:rPr lang="en-AU" sz="2000" b="0" i="0" dirty="0">
                <a:solidFill>
                  <a:srgbClr val="111111"/>
                </a:solidFill>
                <a:effectLst/>
                <a:highlight>
                  <a:srgbClr val="FFFFFF"/>
                </a:highlight>
                <a:latin typeface="+mj-lt"/>
              </a:rPr>
              <a:t> </a:t>
            </a:r>
            <a:r>
              <a:rPr lang="en-AU" sz="2000" b="1" i="0" dirty="0">
                <a:solidFill>
                  <a:srgbClr val="111111"/>
                </a:solidFill>
                <a:effectLst/>
                <a:highlight>
                  <a:srgbClr val="FFFFFF"/>
                </a:highlight>
                <a:latin typeface="+mj-lt"/>
              </a:rPr>
              <a:t>Problem: </a:t>
            </a:r>
            <a:r>
              <a:rPr lang="en-AU" sz="2000" i="0" dirty="0">
                <a:solidFill>
                  <a:srgbClr val="111111"/>
                </a:solidFill>
                <a:effectLst/>
                <a:highlight>
                  <a:srgbClr val="FFFFFF"/>
                </a:highlight>
                <a:latin typeface="+mj-lt"/>
              </a:rPr>
              <a:t>Nuisance species. </a:t>
            </a:r>
            <a:r>
              <a:rPr lang="en-US" sz="2000" i="0" dirty="0">
                <a:solidFill>
                  <a:srgbClr val="111111"/>
                </a:solidFill>
                <a:effectLst/>
                <a:highlight>
                  <a:srgbClr val="FFFFFF"/>
                </a:highlight>
                <a:latin typeface="+mj-lt"/>
              </a:rPr>
              <a:t>Noise and smell disturbs residents</a:t>
            </a:r>
            <a:endParaRPr lang="en-US" sz="2000" dirty="0">
              <a:solidFill>
                <a:srgbClr val="111111"/>
              </a:solidFill>
              <a:highlight>
                <a:srgbClr val="FFFFFF"/>
              </a:highlight>
              <a:latin typeface="+mj-lt"/>
            </a:endParaRPr>
          </a:p>
          <a:p>
            <a:pPr>
              <a:buFontTx/>
              <a:buChar char="-"/>
            </a:pPr>
            <a:endParaRPr lang="en-US" sz="2000" dirty="0">
              <a:solidFill>
                <a:srgbClr val="111111"/>
              </a:solidFill>
              <a:highlight>
                <a:srgbClr val="FFFFFF"/>
              </a:highlight>
              <a:latin typeface="+mj-lt"/>
            </a:endParaRPr>
          </a:p>
          <a:p>
            <a:pPr>
              <a:buFontTx/>
              <a:buChar char="-"/>
            </a:pPr>
            <a:r>
              <a:rPr lang="en-AU" sz="2000" dirty="0">
                <a:solidFill>
                  <a:srgbClr val="111111"/>
                </a:solidFill>
                <a:highlight>
                  <a:srgbClr val="FFFFFF"/>
                </a:highlight>
                <a:latin typeface="+mj-lt"/>
              </a:rPr>
              <a:t> </a:t>
            </a:r>
            <a:r>
              <a:rPr lang="en-AU" sz="2000" b="1" dirty="0">
                <a:solidFill>
                  <a:srgbClr val="111111"/>
                </a:solidFill>
                <a:highlight>
                  <a:srgbClr val="FFFFFF"/>
                </a:highlight>
                <a:latin typeface="+mj-lt"/>
              </a:rPr>
              <a:t>Outcome</a:t>
            </a:r>
            <a:r>
              <a:rPr lang="en-AU" sz="2000" dirty="0">
                <a:solidFill>
                  <a:srgbClr val="111111"/>
                </a:solidFill>
                <a:highlight>
                  <a:srgbClr val="FFFFFF"/>
                </a:highlight>
                <a:latin typeface="+mj-lt"/>
              </a:rPr>
              <a:t>: People killing bats (biodiversity issue)</a:t>
            </a:r>
          </a:p>
          <a:p>
            <a:pPr>
              <a:buFontTx/>
              <a:buChar char="-"/>
            </a:pPr>
            <a:endParaRPr lang="en-AU" sz="2000" dirty="0">
              <a:solidFill>
                <a:srgbClr val="111111"/>
              </a:solidFill>
              <a:highlight>
                <a:srgbClr val="FFFFFF"/>
              </a:highlight>
              <a:latin typeface="+mj-lt"/>
            </a:endParaRPr>
          </a:p>
          <a:p>
            <a:pPr>
              <a:buFontTx/>
              <a:buChar char="-"/>
            </a:pPr>
            <a:r>
              <a:rPr lang="en-AU" sz="2000" dirty="0">
                <a:solidFill>
                  <a:srgbClr val="111111"/>
                </a:solidFill>
                <a:highlight>
                  <a:srgbClr val="FFFFFF"/>
                </a:highlight>
                <a:latin typeface="+mj-lt"/>
              </a:rPr>
              <a:t>Bats are an important pollinator species</a:t>
            </a:r>
            <a:r>
              <a:rPr lang="en-AU" sz="2000" dirty="0">
                <a:latin typeface="+mj-lt"/>
              </a:rPr>
              <a:t> </a:t>
            </a:r>
          </a:p>
          <a:p>
            <a:pPr>
              <a:buFontTx/>
              <a:buChar char="-"/>
            </a:pPr>
            <a:endParaRPr lang="en-AU" sz="2000" dirty="0">
              <a:latin typeface="+mj-lt"/>
            </a:endParaRPr>
          </a:p>
          <a:p>
            <a:pPr>
              <a:buFontTx/>
              <a:buChar char="-"/>
            </a:pPr>
            <a:r>
              <a:rPr lang="en-AU" sz="2000" dirty="0">
                <a:latin typeface="+mj-lt"/>
              </a:rPr>
              <a:t>Councils using scare guns, smoke machines and sprinklers</a:t>
            </a:r>
          </a:p>
          <a:p>
            <a:pPr>
              <a:buFontTx/>
              <a:buChar char="-"/>
            </a:pPr>
            <a:endParaRPr lang="en-AU" sz="2000" dirty="0"/>
          </a:p>
        </p:txBody>
      </p:sp>
      <p:pic>
        <p:nvPicPr>
          <p:cNvPr id="2" name="Picture 1">
            <a:extLst>
              <a:ext uri="{FF2B5EF4-FFF2-40B4-BE49-F238E27FC236}">
                <a16:creationId xmlns:a16="http://schemas.microsoft.com/office/drawing/2014/main" id="{7F5B0CE8-7413-7CE2-AD83-8DF77E3703E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108078" y="1412776"/>
            <a:ext cx="4898320" cy="2161792"/>
          </a:xfrm>
          <a:prstGeom prst="rect">
            <a:avLst/>
          </a:prstGeom>
        </p:spPr>
      </p:pic>
      <p:pic>
        <p:nvPicPr>
          <p:cNvPr id="5" name="Picture 4">
            <a:extLst>
              <a:ext uri="{FF2B5EF4-FFF2-40B4-BE49-F238E27FC236}">
                <a16:creationId xmlns:a16="http://schemas.microsoft.com/office/drawing/2014/main" id="{838410F0-063E-BD15-DA56-59A4CD02EB1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499992" y="3717032"/>
            <a:ext cx="4067942" cy="2711961"/>
          </a:xfrm>
          <a:prstGeom prst="rect">
            <a:avLst/>
          </a:prstGeom>
        </p:spPr>
      </p:pic>
    </p:spTree>
    <p:extLst>
      <p:ext uri="{BB962C8B-B14F-4D97-AF65-F5344CB8AC3E}">
        <p14:creationId xmlns:p14="http://schemas.microsoft.com/office/powerpoint/2010/main" val="42602137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69357"/>
            <a:ext cx="9144000" cy="646331"/>
          </a:xfrm>
          <a:prstGeom prst="rect">
            <a:avLst/>
          </a:prstGeom>
          <a:solidFill>
            <a:srgbClr val="00B050"/>
          </a:solidFill>
        </p:spPr>
        <p:txBody>
          <a:bodyPr wrap="square">
            <a:spAutoFit/>
          </a:bodyPr>
          <a:lstStyle/>
          <a:p>
            <a:r>
              <a:rPr lang="en-AU" sz="3600" b="1" dirty="0"/>
              <a:t>What will you be doing?</a:t>
            </a:r>
            <a:endParaRPr lang="en-AU" dirty="0"/>
          </a:p>
        </p:txBody>
      </p:sp>
      <p:sp>
        <p:nvSpPr>
          <p:cNvPr id="3" name="TextBox 2">
            <a:extLst>
              <a:ext uri="{FF2B5EF4-FFF2-40B4-BE49-F238E27FC236}">
                <a16:creationId xmlns:a16="http://schemas.microsoft.com/office/drawing/2014/main" id="{B391C667-AFF0-4848-4C28-5F28990C5AAF}"/>
              </a:ext>
            </a:extLst>
          </p:cNvPr>
          <p:cNvSpPr txBox="1"/>
          <p:nvPr/>
        </p:nvSpPr>
        <p:spPr>
          <a:xfrm>
            <a:off x="251520" y="1375838"/>
            <a:ext cx="3960440" cy="4708981"/>
          </a:xfrm>
          <a:prstGeom prst="rect">
            <a:avLst/>
          </a:prstGeom>
          <a:noFill/>
        </p:spPr>
        <p:txBody>
          <a:bodyPr wrap="square" rtlCol="0">
            <a:spAutoFit/>
          </a:bodyPr>
          <a:lstStyle/>
          <a:p>
            <a:pPr>
              <a:buFontTx/>
              <a:buChar char="-"/>
            </a:pPr>
            <a:r>
              <a:rPr lang="en-US" sz="2000" dirty="0">
                <a:solidFill>
                  <a:srgbClr val="111111"/>
                </a:solidFill>
                <a:highlight>
                  <a:srgbClr val="FFFFFF"/>
                </a:highlight>
                <a:latin typeface="+mj-lt"/>
              </a:rPr>
              <a:t> 1</a:t>
            </a:r>
            <a:r>
              <a:rPr lang="en-AU" sz="2000" dirty="0">
                <a:solidFill>
                  <a:srgbClr val="111111"/>
                </a:solidFill>
                <a:highlight>
                  <a:srgbClr val="FFFFFF"/>
                </a:highlight>
                <a:latin typeface="+mj-lt"/>
              </a:rPr>
              <a:t>. </a:t>
            </a:r>
            <a:r>
              <a:rPr lang="en-AU" sz="2000" b="1" dirty="0">
                <a:solidFill>
                  <a:srgbClr val="111111"/>
                </a:solidFill>
                <a:highlight>
                  <a:srgbClr val="FFFFFF"/>
                </a:highlight>
                <a:latin typeface="+mj-lt"/>
              </a:rPr>
              <a:t>Activity: </a:t>
            </a:r>
            <a:r>
              <a:rPr lang="en-AU" sz="2000" dirty="0">
                <a:solidFill>
                  <a:srgbClr val="111111"/>
                </a:solidFill>
                <a:highlight>
                  <a:srgbClr val="FFFFFF"/>
                </a:highlight>
                <a:latin typeface="+mj-lt"/>
              </a:rPr>
              <a:t>Spend 1-2 </a:t>
            </a:r>
            <a:r>
              <a:rPr lang="en-AU" sz="2000" dirty="0" err="1">
                <a:solidFill>
                  <a:srgbClr val="111111"/>
                </a:solidFill>
                <a:highlight>
                  <a:srgbClr val="FFFFFF"/>
                </a:highlight>
                <a:latin typeface="+mj-lt"/>
              </a:rPr>
              <a:t>prac</a:t>
            </a:r>
            <a:r>
              <a:rPr lang="en-AU" sz="2000" dirty="0">
                <a:solidFill>
                  <a:srgbClr val="111111"/>
                </a:solidFill>
                <a:highlight>
                  <a:srgbClr val="FFFFFF"/>
                </a:highlight>
                <a:latin typeface="+mj-lt"/>
              </a:rPr>
              <a:t> classes wandering the campus, botanic gardens or local green space.</a:t>
            </a:r>
          </a:p>
          <a:p>
            <a:pPr>
              <a:buFontTx/>
              <a:buChar char="-"/>
            </a:pPr>
            <a:endParaRPr lang="en-AU" sz="2000" dirty="0">
              <a:solidFill>
                <a:srgbClr val="111111"/>
              </a:solidFill>
              <a:highlight>
                <a:srgbClr val="FFFFFF"/>
              </a:highlight>
              <a:latin typeface="+mj-lt"/>
            </a:endParaRPr>
          </a:p>
          <a:p>
            <a:pPr>
              <a:buFontTx/>
              <a:buChar char="-"/>
            </a:pPr>
            <a:r>
              <a:rPr lang="en-AU" sz="2000" dirty="0">
                <a:solidFill>
                  <a:srgbClr val="111111"/>
                </a:solidFill>
                <a:highlight>
                  <a:srgbClr val="FFFFFF"/>
                </a:highlight>
                <a:latin typeface="+mj-lt"/>
              </a:rPr>
              <a:t>2. </a:t>
            </a:r>
            <a:r>
              <a:rPr lang="en-AU" sz="2000" b="1" dirty="0">
                <a:solidFill>
                  <a:srgbClr val="111111"/>
                </a:solidFill>
                <a:highlight>
                  <a:srgbClr val="FFFFFF"/>
                </a:highlight>
                <a:latin typeface="+mj-lt"/>
              </a:rPr>
              <a:t>Aim: </a:t>
            </a:r>
            <a:r>
              <a:rPr lang="en-AU" sz="2000" dirty="0">
                <a:solidFill>
                  <a:srgbClr val="111111"/>
                </a:solidFill>
                <a:highlight>
                  <a:srgbClr val="FFFFFF"/>
                </a:highlight>
                <a:latin typeface="+mj-lt"/>
              </a:rPr>
              <a:t>to observe interactions between humans and wildlife and document a human-wildlife conflict.</a:t>
            </a:r>
          </a:p>
          <a:p>
            <a:pPr>
              <a:buFontTx/>
              <a:buChar char="-"/>
            </a:pPr>
            <a:endParaRPr lang="en-AU" sz="2000" dirty="0">
              <a:solidFill>
                <a:srgbClr val="111111"/>
              </a:solidFill>
              <a:highlight>
                <a:srgbClr val="FFFFFF"/>
              </a:highlight>
              <a:latin typeface="+mj-lt"/>
            </a:endParaRPr>
          </a:p>
          <a:p>
            <a:r>
              <a:rPr lang="en-AU" sz="2000" dirty="0">
                <a:solidFill>
                  <a:srgbClr val="111111"/>
                </a:solidFill>
                <a:highlight>
                  <a:srgbClr val="FFFFFF"/>
                </a:highlight>
                <a:latin typeface="+mj-lt"/>
              </a:rPr>
              <a:t>-3 </a:t>
            </a:r>
            <a:r>
              <a:rPr lang="en-AU" sz="2000" b="1" dirty="0">
                <a:solidFill>
                  <a:srgbClr val="111111"/>
                </a:solidFill>
                <a:highlight>
                  <a:srgbClr val="FFFFFF"/>
                </a:highlight>
                <a:latin typeface="+mj-lt"/>
              </a:rPr>
              <a:t>Assessment: </a:t>
            </a:r>
            <a:r>
              <a:rPr lang="en-AU" sz="2000" dirty="0">
                <a:solidFill>
                  <a:srgbClr val="111111"/>
                </a:solidFill>
                <a:highlight>
                  <a:srgbClr val="FFFFFF"/>
                </a:highlight>
                <a:latin typeface="+mj-lt"/>
              </a:rPr>
              <a:t>Present a 5 minute ‘Elevator pitch’ to the class where you draw on </a:t>
            </a:r>
            <a:r>
              <a:rPr lang="en-AU" sz="2000" u="sng" dirty="0">
                <a:solidFill>
                  <a:srgbClr val="111111"/>
                </a:solidFill>
                <a:highlight>
                  <a:srgbClr val="FFFFFF"/>
                </a:highlight>
                <a:latin typeface="+mj-lt"/>
              </a:rPr>
              <a:t>principles of evolution </a:t>
            </a:r>
            <a:r>
              <a:rPr lang="en-AU" sz="2000" dirty="0">
                <a:solidFill>
                  <a:srgbClr val="111111"/>
                </a:solidFill>
                <a:highlight>
                  <a:srgbClr val="FFFFFF"/>
                </a:highlight>
                <a:latin typeface="+mj-lt"/>
              </a:rPr>
              <a:t>and </a:t>
            </a:r>
            <a:r>
              <a:rPr lang="en-AU" sz="2000" u="sng" dirty="0">
                <a:solidFill>
                  <a:srgbClr val="111111"/>
                </a:solidFill>
                <a:highlight>
                  <a:srgbClr val="FFFFFF"/>
                </a:highlight>
                <a:latin typeface="+mj-lt"/>
              </a:rPr>
              <a:t>behavioural ecology </a:t>
            </a:r>
            <a:r>
              <a:rPr lang="en-AU" sz="2000" dirty="0">
                <a:solidFill>
                  <a:srgbClr val="111111"/>
                </a:solidFill>
                <a:highlight>
                  <a:srgbClr val="FFFFFF"/>
                </a:highlight>
                <a:latin typeface="+mj-lt"/>
              </a:rPr>
              <a:t>to pitch a ‘solution focussed project’ to a funding body (e.g. Wollongong City Council, UOW).</a:t>
            </a:r>
            <a:endParaRPr lang="en-AU" sz="2000" dirty="0"/>
          </a:p>
        </p:txBody>
      </p:sp>
      <p:pic>
        <p:nvPicPr>
          <p:cNvPr id="2" name="Picture 1">
            <a:extLst>
              <a:ext uri="{FF2B5EF4-FFF2-40B4-BE49-F238E27FC236}">
                <a16:creationId xmlns:a16="http://schemas.microsoft.com/office/drawing/2014/main" id="{586FE22F-ED8C-6BA6-FB19-86DBBACA288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362917" y="701145"/>
            <a:ext cx="3960440" cy="3029184"/>
          </a:xfrm>
          <a:prstGeom prst="rect">
            <a:avLst/>
          </a:prstGeom>
        </p:spPr>
      </p:pic>
      <p:pic>
        <p:nvPicPr>
          <p:cNvPr id="5" name="Picture 4">
            <a:extLst>
              <a:ext uri="{FF2B5EF4-FFF2-40B4-BE49-F238E27FC236}">
                <a16:creationId xmlns:a16="http://schemas.microsoft.com/office/drawing/2014/main" id="{7F438A76-C442-16BA-7A86-B4B192A7561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88024" y="3854500"/>
            <a:ext cx="3254243" cy="2780730"/>
          </a:xfrm>
          <a:prstGeom prst="rect">
            <a:avLst/>
          </a:prstGeom>
        </p:spPr>
      </p:pic>
    </p:spTree>
    <p:extLst>
      <p:ext uri="{BB962C8B-B14F-4D97-AF65-F5344CB8AC3E}">
        <p14:creationId xmlns:p14="http://schemas.microsoft.com/office/powerpoint/2010/main" val="11405012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69357"/>
            <a:ext cx="9144000" cy="646331"/>
          </a:xfrm>
          <a:prstGeom prst="rect">
            <a:avLst/>
          </a:prstGeom>
          <a:solidFill>
            <a:srgbClr val="00B050"/>
          </a:solidFill>
        </p:spPr>
        <p:txBody>
          <a:bodyPr wrap="square">
            <a:spAutoFit/>
          </a:bodyPr>
          <a:lstStyle/>
          <a:p>
            <a:r>
              <a:rPr lang="en-AU" sz="3600" b="1" dirty="0"/>
              <a:t>What is an elevator pitch ?</a:t>
            </a:r>
            <a:endParaRPr lang="en-AU" dirty="0"/>
          </a:p>
        </p:txBody>
      </p:sp>
      <p:sp>
        <p:nvSpPr>
          <p:cNvPr id="3" name="TextBox 2">
            <a:extLst>
              <a:ext uri="{FF2B5EF4-FFF2-40B4-BE49-F238E27FC236}">
                <a16:creationId xmlns:a16="http://schemas.microsoft.com/office/drawing/2014/main" id="{B391C667-AFF0-4848-4C28-5F28990C5AAF}"/>
              </a:ext>
            </a:extLst>
          </p:cNvPr>
          <p:cNvSpPr txBox="1"/>
          <p:nvPr/>
        </p:nvSpPr>
        <p:spPr>
          <a:xfrm>
            <a:off x="179512" y="908444"/>
            <a:ext cx="4536504" cy="5201424"/>
          </a:xfrm>
          <a:prstGeom prst="rect">
            <a:avLst/>
          </a:prstGeom>
          <a:noFill/>
        </p:spPr>
        <p:txBody>
          <a:bodyPr wrap="square" rtlCol="0">
            <a:spAutoFit/>
          </a:bodyPr>
          <a:lstStyle/>
          <a:p>
            <a:pPr>
              <a:buFontTx/>
              <a:buChar char="-"/>
            </a:pPr>
            <a:r>
              <a:rPr lang="en-AU" sz="2400" kern="100" dirty="0">
                <a:effectLst/>
                <a:latin typeface="+mj-lt"/>
                <a:ea typeface="Calibri" panose="020F0502020204030204" pitchFamily="34" charset="0"/>
                <a:cs typeface="Times New Roman" panose="02020603050405020304" pitchFamily="18" charset="0"/>
              </a:rPr>
              <a:t>An elevator pitch is a brief and succinct speech to outline your background, or your idea for a project, with the goal of drawing someone into a collaborative relationship.</a:t>
            </a:r>
          </a:p>
          <a:p>
            <a:pPr>
              <a:buFontTx/>
              <a:buChar char="-"/>
            </a:pPr>
            <a:endParaRPr lang="en-AU" sz="2400" kern="100" dirty="0">
              <a:latin typeface="+mj-lt"/>
              <a:ea typeface="Calibri" panose="020F0502020204030204" pitchFamily="34" charset="0"/>
              <a:cs typeface="Times New Roman" panose="02020603050405020304" pitchFamily="18" charset="0"/>
            </a:endParaRPr>
          </a:p>
          <a:p>
            <a:pPr>
              <a:buFontTx/>
              <a:buChar char="-"/>
            </a:pPr>
            <a:r>
              <a:rPr lang="en-AU" sz="2400" kern="100" dirty="0">
                <a:effectLst/>
                <a:latin typeface="+mj-lt"/>
                <a:ea typeface="Calibri" panose="020F0502020204030204" pitchFamily="34" charset="0"/>
                <a:cs typeface="Times New Roman" panose="02020603050405020304" pitchFamily="18" charset="0"/>
              </a:rPr>
              <a:t> It should be delivered in </a:t>
            </a:r>
            <a:r>
              <a:rPr lang="en-AU" sz="2400" u="sng" kern="100" dirty="0">
                <a:effectLst/>
                <a:latin typeface="+mj-lt"/>
                <a:ea typeface="Calibri" panose="020F0502020204030204" pitchFamily="34" charset="0"/>
                <a:cs typeface="Times New Roman" panose="02020603050405020304" pitchFamily="18" charset="0"/>
              </a:rPr>
              <a:t>5 minutes</a:t>
            </a:r>
            <a:r>
              <a:rPr lang="en-AU" sz="2400" kern="100" dirty="0">
                <a:effectLst/>
                <a:latin typeface="+mj-lt"/>
                <a:ea typeface="Calibri" panose="020F0502020204030204" pitchFamily="34" charset="0"/>
                <a:cs typeface="Times New Roman" panose="02020603050405020304" pitchFamily="18" charset="0"/>
              </a:rPr>
              <a:t> or less.</a:t>
            </a:r>
          </a:p>
          <a:p>
            <a:pPr>
              <a:buFontTx/>
              <a:buChar char="-"/>
            </a:pPr>
            <a:endParaRPr lang="en-AU" sz="2400" kern="100" dirty="0">
              <a:latin typeface="+mj-lt"/>
              <a:ea typeface="Calibri" panose="020F0502020204030204" pitchFamily="34" charset="0"/>
              <a:cs typeface="Times New Roman" panose="02020603050405020304" pitchFamily="18" charset="0"/>
            </a:endParaRPr>
          </a:p>
          <a:p>
            <a:pPr>
              <a:buFontTx/>
              <a:buChar char="-"/>
            </a:pPr>
            <a:r>
              <a:rPr lang="en-AU" sz="2400" kern="100" dirty="0">
                <a:effectLst/>
                <a:latin typeface="+mj-lt"/>
                <a:ea typeface="Calibri" panose="020F0502020204030204" pitchFamily="34" charset="0"/>
                <a:cs typeface="Times New Roman" panose="02020603050405020304" pitchFamily="18" charset="0"/>
              </a:rPr>
              <a:t>A breakdown of the components of the pitch and a marking guide are provided in Moodle.</a:t>
            </a:r>
            <a:endParaRPr lang="en-AU" sz="2400" dirty="0">
              <a:latin typeface="+mj-lt"/>
            </a:endParaRPr>
          </a:p>
          <a:p>
            <a:pPr>
              <a:buFontTx/>
              <a:buChar char="-"/>
            </a:pPr>
            <a:endParaRPr lang="en-AU" sz="2000" dirty="0"/>
          </a:p>
        </p:txBody>
      </p:sp>
      <p:pic>
        <p:nvPicPr>
          <p:cNvPr id="2" name="Picture 1">
            <a:extLst>
              <a:ext uri="{FF2B5EF4-FFF2-40B4-BE49-F238E27FC236}">
                <a16:creationId xmlns:a16="http://schemas.microsoft.com/office/drawing/2014/main" id="{8F7EE64D-FA0A-8907-9400-84C31395BBB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75204" y="1227197"/>
            <a:ext cx="4286250" cy="3143250"/>
          </a:xfrm>
          <a:prstGeom prst="rect">
            <a:avLst/>
          </a:prstGeom>
        </p:spPr>
      </p:pic>
    </p:spTree>
    <p:extLst>
      <p:ext uri="{BB962C8B-B14F-4D97-AF65-F5344CB8AC3E}">
        <p14:creationId xmlns:p14="http://schemas.microsoft.com/office/powerpoint/2010/main" val="1334603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69357"/>
            <a:ext cx="9144000" cy="646331"/>
          </a:xfrm>
          <a:prstGeom prst="rect">
            <a:avLst/>
          </a:prstGeom>
          <a:solidFill>
            <a:srgbClr val="00B050"/>
          </a:solidFill>
        </p:spPr>
        <p:txBody>
          <a:bodyPr wrap="square">
            <a:spAutoFit/>
          </a:bodyPr>
          <a:lstStyle/>
          <a:p>
            <a:r>
              <a:rPr lang="en-AU" sz="3600" b="1" dirty="0"/>
              <a:t>What will we do in each </a:t>
            </a:r>
            <a:r>
              <a:rPr lang="en-AU" sz="3600" b="1" dirty="0" err="1"/>
              <a:t>prac</a:t>
            </a:r>
            <a:r>
              <a:rPr lang="en-AU" sz="3600" b="1" dirty="0"/>
              <a:t> class?</a:t>
            </a:r>
            <a:endParaRPr lang="en-AU" dirty="0"/>
          </a:p>
        </p:txBody>
      </p:sp>
      <p:sp>
        <p:nvSpPr>
          <p:cNvPr id="5" name="TextBox 4">
            <a:extLst>
              <a:ext uri="{FF2B5EF4-FFF2-40B4-BE49-F238E27FC236}">
                <a16:creationId xmlns:a16="http://schemas.microsoft.com/office/drawing/2014/main" id="{40DFB18B-4374-9BFE-D4DD-46E244F87D02}"/>
              </a:ext>
            </a:extLst>
          </p:cNvPr>
          <p:cNvSpPr txBox="1"/>
          <p:nvPr/>
        </p:nvSpPr>
        <p:spPr>
          <a:xfrm>
            <a:off x="467544" y="1196752"/>
            <a:ext cx="6624736" cy="5302092"/>
          </a:xfrm>
          <a:prstGeom prst="rect">
            <a:avLst/>
          </a:prstGeom>
          <a:noFill/>
        </p:spPr>
        <p:txBody>
          <a:bodyPr wrap="square">
            <a:spAutoFit/>
          </a:bodyPr>
          <a:lstStyle/>
          <a:p>
            <a:pPr>
              <a:lnSpc>
                <a:spcPct val="107000"/>
              </a:lnSpc>
              <a:spcAft>
                <a:spcPts val="800"/>
              </a:spcAft>
            </a:pPr>
            <a:r>
              <a:rPr lang="en-AU" sz="2000" b="1" kern="100" dirty="0">
                <a:effectLst/>
                <a:latin typeface="+mj-lt"/>
                <a:ea typeface="Calibri" panose="020F0502020204030204" pitchFamily="34" charset="0"/>
                <a:cs typeface="Times New Roman" panose="02020603050405020304" pitchFamily="18" charset="0"/>
              </a:rPr>
              <a:t>Week 6: </a:t>
            </a:r>
            <a:r>
              <a:rPr lang="en-AU" sz="2000" kern="100" dirty="0">
                <a:effectLst/>
                <a:latin typeface="+mj-lt"/>
                <a:ea typeface="Calibri" panose="020F0502020204030204" pitchFamily="34" charset="0"/>
                <a:cs typeface="Times New Roman" panose="02020603050405020304" pitchFamily="18" charset="0"/>
              </a:rPr>
              <a:t>Introduction to the </a:t>
            </a:r>
            <a:r>
              <a:rPr lang="en-AU" sz="2000" kern="100" dirty="0" err="1">
                <a:effectLst/>
                <a:latin typeface="+mj-lt"/>
                <a:ea typeface="Calibri" panose="020F0502020204030204" pitchFamily="34" charset="0"/>
                <a:cs typeface="Times New Roman" panose="02020603050405020304" pitchFamily="18" charset="0"/>
              </a:rPr>
              <a:t>prac</a:t>
            </a:r>
            <a:r>
              <a:rPr lang="en-AU" sz="2000" kern="100" dirty="0">
                <a:effectLst/>
                <a:latin typeface="+mj-lt"/>
                <a:ea typeface="Calibri" panose="020F0502020204030204" pitchFamily="34" charset="0"/>
                <a:cs typeface="Times New Roman" panose="02020603050405020304" pitchFamily="18" charset="0"/>
              </a:rPr>
              <a:t> and overview of the assessment and marking guide. Brainstorming session with Phil and peers. Risk assessments.</a:t>
            </a:r>
          </a:p>
          <a:p>
            <a:pPr>
              <a:lnSpc>
                <a:spcPct val="107000"/>
              </a:lnSpc>
              <a:spcAft>
                <a:spcPts val="800"/>
              </a:spcAft>
            </a:pPr>
            <a:endParaRPr lang="en-AU" sz="2000" b="1" kern="100" dirty="0">
              <a:latin typeface="+mj-lt"/>
              <a:ea typeface="Calibri" panose="020F0502020204030204" pitchFamily="34" charset="0"/>
              <a:cs typeface="Times New Roman" panose="02020603050405020304" pitchFamily="18" charset="0"/>
            </a:endParaRPr>
          </a:p>
          <a:p>
            <a:pPr>
              <a:lnSpc>
                <a:spcPct val="107000"/>
              </a:lnSpc>
              <a:spcAft>
                <a:spcPts val="800"/>
              </a:spcAft>
            </a:pPr>
            <a:r>
              <a:rPr lang="en-AU" sz="2000" b="1" kern="100" dirty="0">
                <a:effectLst/>
                <a:latin typeface="+mj-lt"/>
                <a:ea typeface="Calibri" panose="020F0502020204030204" pitchFamily="34" charset="0"/>
                <a:cs typeface="Times New Roman" panose="02020603050405020304" pitchFamily="18" charset="0"/>
              </a:rPr>
              <a:t>Week 8: </a:t>
            </a:r>
            <a:r>
              <a:rPr lang="en-AU" sz="2000" kern="100" dirty="0">
                <a:effectLst/>
                <a:latin typeface="+mj-lt"/>
                <a:ea typeface="Calibri" panose="020F0502020204030204" pitchFamily="34" charset="0"/>
                <a:cs typeface="Times New Roman" panose="02020603050405020304" pitchFamily="18" charset="0"/>
              </a:rPr>
              <a:t>Field work. Observation of a conflict. Take time to walk around campus, botanic gardens, beach or any local greenspace. Opportunity to meet in class to discuss ideas with Phil.</a:t>
            </a:r>
          </a:p>
          <a:p>
            <a:pPr>
              <a:lnSpc>
                <a:spcPct val="107000"/>
              </a:lnSpc>
              <a:spcAft>
                <a:spcPts val="800"/>
              </a:spcAft>
            </a:pPr>
            <a:endParaRPr lang="en-AU" sz="2000" b="1" kern="100" dirty="0">
              <a:latin typeface="+mj-lt"/>
              <a:ea typeface="Calibri" panose="020F0502020204030204" pitchFamily="34" charset="0"/>
              <a:cs typeface="Times New Roman" panose="02020603050405020304" pitchFamily="18" charset="0"/>
            </a:endParaRPr>
          </a:p>
          <a:p>
            <a:pPr>
              <a:lnSpc>
                <a:spcPct val="107000"/>
              </a:lnSpc>
              <a:spcAft>
                <a:spcPts val="800"/>
              </a:spcAft>
            </a:pPr>
            <a:r>
              <a:rPr lang="en-AU" sz="2000" b="1" kern="100" dirty="0">
                <a:effectLst/>
                <a:latin typeface="+mj-lt"/>
                <a:ea typeface="Calibri" panose="020F0502020204030204" pitchFamily="34" charset="0"/>
                <a:cs typeface="Times New Roman" panose="02020603050405020304" pitchFamily="18" charset="0"/>
              </a:rPr>
              <a:t>Week 9: </a:t>
            </a:r>
            <a:r>
              <a:rPr lang="en-AU" sz="2000" kern="100" dirty="0">
                <a:effectLst/>
                <a:latin typeface="+mj-lt"/>
                <a:ea typeface="Calibri" panose="020F0502020204030204" pitchFamily="34" charset="0"/>
                <a:cs typeface="Times New Roman" panose="02020603050405020304" pitchFamily="18" charset="0"/>
              </a:rPr>
              <a:t>Fieldwork and/or </a:t>
            </a:r>
            <a:r>
              <a:rPr lang="en-AU" sz="2000" kern="100" dirty="0">
                <a:latin typeface="+mj-lt"/>
                <a:ea typeface="Calibri" panose="020F0502020204030204" pitchFamily="34" charset="0"/>
                <a:cs typeface="Times New Roman" panose="02020603050405020304" pitchFamily="18" charset="0"/>
              </a:rPr>
              <a:t>o</a:t>
            </a:r>
            <a:r>
              <a:rPr lang="en-AU" sz="2000" kern="100" dirty="0">
                <a:effectLst/>
                <a:latin typeface="+mj-lt"/>
                <a:ea typeface="Calibri" panose="020F0502020204030204" pitchFamily="34" charset="0"/>
                <a:cs typeface="Times New Roman" panose="02020603050405020304" pitchFamily="18" charset="0"/>
              </a:rPr>
              <a:t>pportunity to meet in class to discuss observations with Phil. Opportunity to work on the elevator pitch in class.</a:t>
            </a:r>
          </a:p>
          <a:p>
            <a:pPr>
              <a:lnSpc>
                <a:spcPct val="107000"/>
              </a:lnSpc>
              <a:spcAft>
                <a:spcPts val="800"/>
              </a:spcAft>
            </a:pPr>
            <a:endParaRPr lang="en-AU" sz="2000" b="1" kern="100" dirty="0">
              <a:latin typeface="+mj-lt"/>
              <a:ea typeface="Calibri" panose="020F0502020204030204" pitchFamily="34" charset="0"/>
              <a:cs typeface="Times New Roman" panose="02020603050405020304" pitchFamily="18" charset="0"/>
            </a:endParaRPr>
          </a:p>
          <a:p>
            <a:pPr>
              <a:lnSpc>
                <a:spcPct val="107000"/>
              </a:lnSpc>
              <a:spcAft>
                <a:spcPts val="800"/>
              </a:spcAft>
            </a:pPr>
            <a:r>
              <a:rPr lang="en-AU" sz="2000" b="1" kern="100" dirty="0">
                <a:effectLst/>
                <a:latin typeface="+mj-lt"/>
                <a:ea typeface="Calibri" panose="020F0502020204030204" pitchFamily="34" charset="0"/>
                <a:cs typeface="Times New Roman" panose="02020603050405020304" pitchFamily="18" charset="0"/>
              </a:rPr>
              <a:t>Week 10: </a:t>
            </a:r>
            <a:r>
              <a:rPr lang="en-AU" sz="2000" kern="100" dirty="0">
                <a:effectLst/>
                <a:latin typeface="+mj-lt"/>
                <a:ea typeface="Calibri" panose="020F0502020204030204" pitchFamily="34" charset="0"/>
                <a:cs typeface="Times New Roman" panose="02020603050405020304" pitchFamily="18" charset="0"/>
              </a:rPr>
              <a:t>Presentation of the elevator pitch to the class.</a:t>
            </a:r>
          </a:p>
        </p:txBody>
      </p:sp>
    </p:spTree>
    <p:extLst>
      <p:ext uri="{BB962C8B-B14F-4D97-AF65-F5344CB8AC3E}">
        <p14:creationId xmlns:p14="http://schemas.microsoft.com/office/powerpoint/2010/main" val="30274058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69357"/>
            <a:ext cx="9144000" cy="646331"/>
          </a:xfrm>
          <a:prstGeom prst="rect">
            <a:avLst/>
          </a:prstGeom>
          <a:solidFill>
            <a:srgbClr val="00B050"/>
          </a:solidFill>
        </p:spPr>
        <p:txBody>
          <a:bodyPr wrap="square">
            <a:spAutoFit/>
          </a:bodyPr>
          <a:lstStyle/>
          <a:p>
            <a:r>
              <a:rPr lang="en-AU" sz="3600" b="1" dirty="0"/>
              <a:t>Seminars in weeks 11 and 12</a:t>
            </a:r>
            <a:endParaRPr lang="en-AU" dirty="0"/>
          </a:p>
        </p:txBody>
      </p:sp>
      <p:sp>
        <p:nvSpPr>
          <p:cNvPr id="3" name="TextBox 2">
            <a:extLst>
              <a:ext uri="{FF2B5EF4-FFF2-40B4-BE49-F238E27FC236}">
                <a16:creationId xmlns:a16="http://schemas.microsoft.com/office/drawing/2014/main" id="{B391C667-AFF0-4848-4C28-5F28990C5AAF}"/>
              </a:ext>
            </a:extLst>
          </p:cNvPr>
          <p:cNvSpPr txBox="1"/>
          <p:nvPr/>
        </p:nvSpPr>
        <p:spPr>
          <a:xfrm>
            <a:off x="143825" y="920621"/>
            <a:ext cx="4542087" cy="5016758"/>
          </a:xfrm>
          <a:prstGeom prst="rect">
            <a:avLst/>
          </a:prstGeom>
          <a:noFill/>
        </p:spPr>
        <p:txBody>
          <a:bodyPr wrap="square" rtlCol="0">
            <a:spAutoFit/>
          </a:bodyPr>
          <a:lstStyle/>
          <a:p>
            <a:pPr>
              <a:buFontTx/>
              <a:buChar char="-"/>
            </a:pPr>
            <a:r>
              <a:rPr lang="en-US" sz="2000" dirty="0">
                <a:solidFill>
                  <a:srgbClr val="111111"/>
                </a:solidFill>
                <a:highlight>
                  <a:srgbClr val="FFFFFF"/>
                </a:highlight>
                <a:latin typeface="+mj-lt"/>
              </a:rPr>
              <a:t> Seminars on hot topics in ecology and evolution</a:t>
            </a:r>
            <a:r>
              <a:rPr lang="en-AU" sz="2000" b="0" i="0" dirty="0">
                <a:solidFill>
                  <a:srgbClr val="111111"/>
                </a:solidFill>
                <a:effectLst/>
                <a:highlight>
                  <a:srgbClr val="FFFFFF"/>
                </a:highlight>
                <a:latin typeface="+mj-lt"/>
              </a:rPr>
              <a:t> </a:t>
            </a:r>
          </a:p>
          <a:p>
            <a:pPr>
              <a:buFontTx/>
              <a:buChar char="-"/>
            </a:pPr>
            <a:endParaRPr lang="en-AU" sz="2000" dirty="0">
              <a:solidFill>
                <a:srgbClr val="111111"/>
              </a:solidFill>
              <a:highlight>
                <a:srgbClr val="FFFFFF"/>
              </a:highlight>
              <a:latin typeface="+mj-lt"/>
            </a:endParaRPr>
          </a:p>
          <a:p>
            <a:pPr>
              <a:buFontTx/>
              <a:buChar char="-"/>
            </a:pPr>
            <a:r>
              <a:rPr lang="en-AU" sz="2000" b="0" i="0" dirty="0">
                <a:solidFill>
                  <a:srgbClr val="111111"/>
                </a:solidFill>
                <a:effectLst/>
                <a:highlight>
                  <a:srgbClr val="FFFFFF"/>
                </a:highlight>
                <a:latin typeface="+mj-lt"/>
              </a:rPr>
              <a:t>10 minute talk worth 20% </a:t>
            </a:r>
          </a:p>
          <a:p>
            <a:pPr>
              <a:buFontTx/>
              <a:buChar char="-"/>
            </a:pPr>
            <a:endParaRPr lang="en-AU" sz="2000" dirty="0">
              <a:solidFill>
                <a:srgbClr val="111111"/>
              </a:solidFill>
              <a:highlight>
                <a:srgbClr val="FFFFFF"/>
              </a:highlight>
              <a:latin typeface="+mj-lt"/>
            </a:endParaRPr>
          </a:p>
          <a:p>
            <a:pPr>
              <a:buFontTx/>
              <a:buChar char="-"/>
            </a:pPr>
            <a:r>
              <a:rPr lang="en-AU" sz="2000" b="1" dirty="0">
                <a:solidFill>
                  <a:srgbClr val="111111"/>
                </a:solidFill>
                <a:highlight>
                  <a:srgbClr val="FFFFFF"/>
                </a:highlight>
                <a:latin typeface="+mj-lt"/>
              </a:rPr>
              <a:t> Half the class present in week 11</a:t>
            </a:r>
          </a:p>
          <a:p>
            <a:pPr>
              <a:buFontTx/>
              <a:buChar char="-"/>
            </a:pPr>
            <a:endParaRPr lang="en-AU" sz="2000" dirty="0">
              <a:solidFill>
                <a:srgbClr val="111111"/>
              </a:solidFill>
              <a:highlight>
                <a:srgbClr val="FFFFFF"/>
              </a:highlight>
              <a:latin typeface="+mj-lt"/>
            </a:endParaRPr>
          </a:p>
          <a:p>
            <a:pPr>
              <a:buFontTx/>
              <a:buChar char="-"/>
            </a:pPr>
            <a:r>
              <a:rPr lang="en-AU" sz="2000" b="1" dirty="0">
                <a:solidFill>
                  <a:srgbClr val="111111"/>
                </a:solidFill>
                <a:highlight>
                  <a:srgbClr val="FFFFFF"/>
                </a:highlight>
                <a:latin typeface="+mj-lt"/>
              </a:rPr>
              <a:t> Half the class present in week 12</a:t>
            </a:r>
          </a:p>
          <a:p>
            <a:pPr>
              <a:buFontTx/>
              <a:buChar char="-"/>
            </a:pPr>
            <a:endParaRPr lang="en-AU" sz="2000" b="1" dirty="0">
              <a:solidFill>
                <a:srgbClr val="111111"/>
              </a:solidFill>
              <a:highlight>
                <a:srgbClr val="FFFFFF"/>
              </a:highlight>
              <a:latin typeface="+mj-lt"/>
            </a:endParaRPr>
          </a:p>
          <a:p>
            <a:pPr marL="342900" indent="-342900">
              <a:buFontTx/>
              <a:buChar char="-"/>
            </a:pPr>
            <a:r>
              <a:rPr lang="en-AU" sz="2000" dirty="0">
                <a:solidFill>
                  <a:srgbClr val="111111"/>
                </a:solidFill>
                <a:highlight>
                  <a:srgbClr val="FFFFFF"/>
                </a:highlight>
                <a:latin typeface="+mj-lt"/>
              </a:rPr>
              <a:t>Topics are on </a:t>
            </a:r>
            <a:r>
              <a:rPr lang="en-AU" sz="2000" dirty="0" err="1">
                <a:solidFill>
                  <a:srgbClr val="111111"/>
                </a:solidFill>
                <a:highlight>
                  <a:srgbClr val="FFFFFF"/>
                </a:highlight>
                <a:latin typeface="+mj-lt"/>
              </a:rPr>
              <a:t>moodle</a:t>
            </a:r>
            <a:endParaRPr lang="en-AU" sz="2000" dirty="0">
              <a:solidFill>
                <a:srgbClr val="111111"/>
              </a:solidFill>
              <a:highlight>
                <a:srgbClr val="FFFFFF"/>
              </a:highlight>
              <a:latin typeface="+mj-lt"/>
            </a:endParaRPr>
          </a:p>
          <a:p>
            <a:endParaRPr lang="en-AU" sz="2000" dirty="0">
              <a:solidFill>
                <a:srgbClr val="111111"/>
              </a:solidFill>
              <a:highlight>
                <a:srgbClr val="FFFFFF"/>
              </a:highlight>
              <a:latin typeface="+mj-lt"/>
            </a:endParaRPr>
          </a:p>
          <a:p>
            <a:r>
              <a:rPr lang="en-AU" sz="2000" dirty="0">
                <a:solidFill>
                  <a:srgbClr val="111111"/>
                </a:solidFill>
                <a:highlight>
                  <a:srgbClr val="FFFFFF"/>
                </a:highlight>
                <a:latin typeface="+mj-lt"/>
              </a:rPr>
              <a:t>- Read the description and put your name next to a topic in today’s class</a:t>
            </a:r>
          </a:p>
          <a:p>
            <a:pPr>
              <a:buFontTx/>
              <a:buChar char="-"/>
            </a:pPr>
            <a:endParaRPr lang="en-AU" sz="2000" dirty="0">
              <a:solidFill>
                <a:srgbClr val="111111"/>
              </a:solidFill>
              <a:highlight>
                <a:srgbClr val="FFFFFF"/>
              </a:highlight>
              <a:latin typeface="+mj-lt"/>
            </a:endParaRPr>
          </a:p>
          <a:p>
            <a:pPr>
              <a:buFontTx/>
              <a:buChar char="-"/>
            </a:pPr>
            <a:r>
              <a:rPr lang="en-AU" sz="2000" dirty="0">
                <a:solidFill>
                  <a:srgbClr val="111111"/>
                </a:solidFill>
                <a:highlight>
                  <a:srgbClr val="FFFFFF"/>
                </a:highlight>
                <a:latin typeface="+mj-lt"/>
              </a:rPr>
              <a:t> If you want, you can come up with your own topic</a:t>
            </a:r>
            <a:endParaRPr lang="en-AU" sz="2000" dirty="0"/>
          </a:p>
        </p:txBody>
      </p:sp>
      <p:pic>
        <p:nvPicPr>
          <p:cNvPr id="2" name="Picture 1">
            <a:extLst>
              <a:ext uri="{FF2B5EF4-FFF2-40B4-BE49-F238E27FC236}">
                <a16:creationId xmlns:a16="http://schemas.microsoft.com/office/drawing/2014/main" id="{57C9B708-1409-E0CA-30A0-8680E3E473F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72000" y="1556792"/>
            <a:ext cx="4443712" cy="2740289"/>
          </a:xfrm>
          <a:prstGeom prst="rect">
            <a:avLst/>
          </a:prstGeom>
        </p:spPr>
      </p:pic>
    </p:spTree>
    <p:extLst>
      <p:ext uri="{BB962C8B-B14F-4D97-AF65-F5344CB8AC3E}">
        <p14:creationId xmlns:p14="http://schemas.microsoft.com/office/powerpoint/2010/main" val="26593862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69357"/>
            <a:ext cx="9144000" cy="646331"/>
          </a:xfrm>
          <a:prstGeom prst="rect">
            <a:avLst/>
          </a:prstGeom>
          <a:solidFill>
            <a:srgbClr val="00B050"/>
          </a:solidFill>
        </p:spPr>
        <p:txBody>
          <a:bodyPr wrap="square">
            <a:spAutoFit/>
          </a:bodyPr>
          <a:lstStyle/>
          <a:p>
            <a:r>
              <a:rPr lang="en-AU" sz="3600" b="1" dirty="0"/>
              <a:t>Attendance</a:t>
            </a:r>
            <a:endParaRPr lang="en-AU" dirty="0"/>
          </a:p>
        </p:txBody>
      </p:sp>
      <p:sp>
        <p:nvSpPr>
          <p:cNvPr id="3" name="TextBox 2">
            <a:extLst>
              <a:ext uri="{FF2B5EF4-FFF2-40B4-BE49-F238E27FC236}">
                <a16:creationId xmlns:a16="http://schemas.microsoft.com/office/drawing/2014/main" id="{B391C667-AFF0-4848-4C28-5F28990C5AAF}"/>
              </a:ext>
            </a:extLst>
          </p:cNvPr>
          <p:cNvSpPr txBox="1"/>
          <p:nvPr/>
        </p:nvSpPr>
        <p:spPr>
          <a:xfrm>
            <a:off x="143825" y="920621"/>
            <a:ext cx="4542087" cy="3785652"/>
          </a:xfrm>
          <a:prstGeom prst="rect">
            <a:avLst/>
          </a:prstGeom>
          <a:noFill/>
        </p:spPr>
        <p:txBody>
          <a:bodyPr wrap="square" rtlCol="0">
            <a:spAutoFit/>
          </a:bodyPr>
          <a:lstStyle/>
          <a:p>
            <a:pPr>
              <a:buFontTx/>
              <a:buChar char="-"/>
            </a:pPr>
            <a:r>
              <a:rPr lang="en-US" sz="2000" dirty="0">
                <a:solidFill>
                  <a:srgbClr val="111111"/>
                </a:solidFill>
                <a:highlight>
                  <a:srgbClr val="FFFFFF"/>
                </a:highlight>
                <a:latin typeface="+mj-lt"/>
              </a:rPr>
              <a:t> </a:t>
            </a:r>
            <a:r>
              <a:rPr lang="en-AU" sz="2400" b="1" dirty="0">
                <a:solidFill>
                  <a:srgbClr val="111111"/>
                </a:solidFill>
                <a:highlight>
                  <a:srgbClr val="FFFFFF"/>
                </a:highlight>
                <a:latin typeface="+mj-lt"/>
              </a:rPr>
              <a:t>Lectures: </a:t>
            </a:r>
            <a:r>
              <a:rPr lang="en-AU" sz="2400" dirty="0">
                <a:solidFill>
                  <a:srgbClr val="111111"/>
                </a:solidFill>
                <a:highlight>
                  <a:srgbClr val="FFFFFF"/>
                </a:highlight>
                <a:latin typeface="+mj-lt"/>
              </a:rPr>
              <a:t>Not compulsory (but you stand to benefit by attending)</a:t>
            </a:r>
          </a:p>
          <a:p>
            <a:pPr>
              <a:buFontTx/>
              <a:buChar char="-"/>
            </a:pPr>
            <a:endParaRPr lang="en-AU" sz="2400" dirty="0">
              <a:solidFill>
                <a:srgbClr val="111111"/>
              </a:solidFill>
              <a:highlight>
                <a:srgbClr val="FFFFFF"/>
              </a:highlight>
              <a:latin typeface="+mj-lt"/>
            </a:endParaRPr>
          </a:p>
          <a:p>
            <a:pPr>
              <a:buFontTx/>
              <a:buChar char="-"/>
            </a:pPr>
            <a:r>
              <a:rPr lang="en-AU" sz="2400" dirty="0">
                <a:solidFill>
                  <a:srgbClr val="111111"/>
                </a:solidFill>
                <a:highlight>
                  <a:srgbClr val="FFFFFF"/>
                </a:highlight>
                <a:latin typeface="+mj-lt"/>
              </a:rPr>
              <a:t> </a:t>
            </a:r>
            <a:r>
              <a:rPr lang="en-AU" sz="2400" b="1" dirty="0" err="1">
                <a:solidFill>
                  <a:srgbClr val="111111"/>
                </a:solidFill>
                <a:highlight>
                  <a:srgbClr val="FFFFFF"/>
                </a:highlight>
                <a:latin typeface="+mj-lt"/>
              </a:rPr>
              <a:t>Pracs</a:t>
            </a:r>
            <a:r>
              <a:rPr lang="en-AU" sz="2400" b="1" dirty="0">
                <a:solidFill>
                  <a:srgbClr val="111111"/>
                </a:solidFill>
                <a:highlight>
                  <a:srgbClr val="FFFFFF"/>
                </a:highlight>
                <a:latin typeface="+mj-lt"/>
              </a:rPr>
              <a:t>: </a:t>
            </a:r>
            <a:r>
              <a:rPr lang="en-AU" sz="2400" dirty="0">
                <a:solidFill>
                  <a:srgbClr val="111111"/>
                </a:solidFill>
                <a:highlight>
                  <a:srgbClr val="FFFFFF"/>
                </a:highlight>
                <a:latin typeface="+mj-lt"/>
              </a:rPr>
              <a:t>Compulsory.</a:t>
            </a:r>
          </a:p>
          <a:p>
            <a:pPr>
              <a:buFontTx/>
              <a:buChar char="-"/>
            </a:pPr>
            <a:endParaRPr lang="en-AU" sz="2400" dirty="0">
              <a:solidFill>
                <a:srgbClr val="111111"/>
              </a:solidFill>
              <a:highlight>
                <a:srgbClr val="FFFFFF"/>
              </a:highlight>
              <a:latin typeface="+mj-lt"/>
            </a:endParaRPr>
          </a:p>
          <a:p>
            <a:pPr>
              <a:buFontTx/>
              <a:buChar char="-"/>
            </a:pPr>
            <a:r>
              <a:rPr lang="en-AU" sz="2400" dirty="0">
                <a:solidFill>
                  <a:srgbClr val="111111"/>
                </a:solidFill>
                <a:highlight>
                  <a:srgbClr val="FFFFFF"/>
                </a:highlight>
                <a:latin typeface="+mj-lt"/>
              </a:rPr>
              <a:t> AC: if you can’t make a </a:t>
            </a:r>
            <a:r>
              <a:rPr lang="en-AU" sz="2400" dirty="0" err="1">
                <a:solidFill>
                  <a:srgbClr val="111111"/>
                </a:solidFill>
                <a:highlight>
                  <a:srgbClr val="FFFFFF"/>
                </a:highlight>
                <a:latin typeface="+mj-lt"/>
              </a:rPr>
              <a:t>prac</a:t>
            </a:r>
            <a:r>
              <a:rPr lang="en-AU" sz="2400" dirty="0">
                <a:solidFill>
                  <a:srgbClr val="111111"/>
                </a:solidFill>
                <a:highlight>
                  <a:srgbClr val="FFFFFF"/>
                </a:highlight>
                <a:latin typeface="+mj-lt"/>
              </a:rPr>
              <a:t> you must submit an AC.</a:t>
            </a:r>
          </a:p>
          <a:p>
            <a:pPr>
              <a:buFontTx/>
              <a:buChar char="-"/>
            </a:pPr>
            <a:endParaRPr lang="en-AU" sz="2400" dirty="0">
              <a:solidFill>
                <a:srgbClr val="111111"/>
              </a:solidFill>
              <a:highlight>
                <a:srgbClr val="FFFFFF"/>
              </a:highlight>
              <a:latin typeface="+mj-lt"/>
            </a:endParaRPr>
          </a:p>
          <a:p>
            <a:pPr>
              <a:buFontTx/>
              <a:buChar char="-"/>
            </a:pPr>
            <a:r>
              <a:rPr lang="en-AU" sz="2400" dirty="0">
                <a:latin typeface="+mj-lt"/>
              </a:rPr>
              <a:t> Evidence is needed to support your AC.</a:t>
            </a:r>
          </a:p>
        </p:txBody>
      </p:sp>
    </p:spTree>
    <p:extLst>
      <p:ext uri="{BB962C8B-B14F-4D97-AF65-F5344CB8AC3E}">
        <p14:creationId xmlns:p14="http://schemas.microsoft.com/office/powerpoint/2010/main" val="33873097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333" y="0"/>
            <a:ext cx="9144000" cy="646331"/>
          </a:xfrm>
          <a:prstGeom prst="rect">
            <a:avLst/>
          </a:prstGeom>
          <a:solidFill>
            <a:srgbClr val="00B050"/>
          </a:solidFill>
        </p:spPr>
        <p:txBody>
          <a:bodyPr wrap="square">
            <a:spAutoFit/>
          </a:bodyPr>
          <a:lstStyle/>
          <a:p>
            <a:r>
              <a:rPr lang="en-AU" sz="3600" b="1" dirty="0"/>
              <a:t>Reasonable adjustments</a:t>
            </a:r>
            <a:endParaRPr lang="en-AU" dirty="0"/>
          </a:p>
        </p:txBody>
      </p:sp>
      <p:sp>
        <p:nvSpPr>
          <p:cNvPr id="3" name="TextBox 2">
            <a:extLst>
              <a:ext uri="{FF2B5EF4-FFF2-40B4-BE49-F238E27FC236}">
                <a16:creationId xmlns:a16="http://schemas.microsoft.com/office/drawing/2014/main" id="{B391C667-AFF0-4848-4C28-5F28990C5AAF}"/>
              </a:ext>
            </a:extLst>
          </p:cNvPr>
          <p:cNvSpPr txBox="1"/>
          <p:nvPr/>
        </p:nvSpPr>
        <p:spPr>
          <a:xfrm>
            <a:off x="179512" y="1268760"/>
            <a:ext cx="4542087" cy="3293209"/>
          </a:xfrm>
          <a:prstGeom prst="rect">
            <a:avLst/>
          </a:prstGeom>
          <a:noFill/>
        </p:spPr>
        <p:txBody>
          <a:bodyPr wrap="square" rtlCol="0">
            <a:spAutoFit/>
          </a:bodyPr>
          <a:lstStyle/>
          <a:p>
            <a:pPr>
              <a:buFontTx/>
              <a:buChar char="-"/>
            </a:pPr>
            <a:r>
              <a:rPr lang="en-US" sz="2400" dirty="0">
                <a:solidFill>
                  <a:srgbClr val="111111"/>
                </a:solidFill>
                <a:highlight>
                  <a:srgbClr val="FFFFFF"/>
                </a:highlight>
                <a:latin typeface="+mj-lt"/>
              </a:rPr>
              <a:t> </a:t>
            </a:r>
            <a:r>
              <a:rPr lang="en-AU" sz="2400" dirty="0">
                <a:solidFill>
                  <a:srgbClr val="111111"/>
                </a:solidFill>
                <a:highlight>
                  <a:srgbClr val="FFFFFF"/>
                </a:highlight>
                <a:latin typeface="+mj-lt"/>
              </a:rPr>
              <a:t>Some students have RAs</a:t>
            </a:r>
          </a:p>
          <a:p>
            <a:pPr>
              <a:buFontTx/>
              <a:buChar char="-"/>
            </a:pPr>
            <a:endParaRPr lang="en-AU" sz="2400" dirty="0">
              <a:solidFill>
                <a:srgbClr val="111111"/>
              </a:solidFill>
              <a:highlight>
                <a:srgbClr val="FFFFFF"/>
              </a:highlight>
              <a:latin typeface="+mj-lt"/>
            </a:endParaRPr>
          </a:p>
          <a:p>
            <a:pPr>
              <a:buFontTx/>
              <a:buChar char="-"/>
            </a:pPr>
            <a:r>
              <a:rPr lang="en-AU" sz="2400" dirty="0">
                <a:solidFill>
                  <a:srgbClr val="111111"/>
                </a:solidFill>
                <a:highlight>
                  <a:srgbClr val="FFFFFF"/>
                </a:highlight>
                <a:latin typeface="+mj-lt"/>
              </a:rPr>
              <a:t> Please make yourselves known to James and myself</a:t>
            </a:r>
          </a:p>
          <a:p>
            <a:pPr>
              <a:buFontTx/>
              <a:buChar char="-"/>
            </a:pPr>
            <a:endParaRPr lang="en-AU" sz="2400" dirty="0">
              <a:solidFill>
                <a:srgbClr val="111111"/>
              </a:solidFill>
              <a:highlight>
                <a:srgbClr val="FFFFFF"/>
              </a:highlight>
              <a:latin typeface="+mj-lt"/>
            </a:endParaRPr>
          </a:p>
          <a:p>
            <a:pPr>
              <a:buFontTx/>
              <a:buChar char="-"/>
            </a:pPr>
            <a:r>
              <a:rPr lang="en-AU" sz="2400" dirty="0">
                <a:solidFill>
                  <a:srgbClr val="111111"/>
                </a:solidFill>
                <a:highlight>
                  <a:srgbClr val="FFFFFF"/>
                </a:highlight>
                <a:latin typeface="+mj-lt"/>
              </a:rPr>
              <a:t> We will work closely with you to help you succeed</a:t>
            </a:r>
          </a:p>
          <a:p>
            <a:pPr>
              <a:buFontTx/>
              <a:buChar char="-"/>
            </a:pPr>
            <a:endParaRPr lang="en-AU" sz="2000" dirty="0">
              <a:solidFill>
                <a:srgbClr val="111111"/>
              </a:solidFill>
              <a:highlight>
                <a:srgbClr val="FFFFFF"/>
              </a:highlight>
              <a:latin typeface="+mj-lt"/>
            </a:endParaRPr>
          </a:p>
          <a:p>
            <a:pPr>
              <a:buFontTx/>
              <a:buChar char="-"/>
            </a:pPr>
            <a:endParaRPr lang="en-AU" sz="2000" dirty="0"/>
          </a:p>
        </p:txBody>
      </p:sp>
    </p:spTree>
    <p:extLst>
      <p:ext uri="{BB962C8B-B14F-4D97-AF65-F5344CB8AC3E}">
        <p14:creationId xmlns:p14="http://schemas.microsoft.com/office/powerpoint/2010/main" val="10790763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69357"/>
            <a:ext cx="9144000" cy="646331"/>
          </a:xfrm>
          <a:prstGeom prst="rect">
            <a:avLst/>
          </a:prstGeom>
          <a:solidFill>
            <a:srgbClr val="00B050"/>
          </a:solidFill>
        </p:spPr>
        <p:txBody>
          <a:bodyPr wrap="square">
            <a:spAutoFit/>
          </a:bodyPr>
          <a:lstStyle/>
          <a:p>
            <a:r>
              <a:rPr lang="en-AU" sz="3600" b="1" dirty="0"/>
              <a:t>Communication during session</a:t>
            </a:r>
            <a:endParaRPr lang="en-AU" dirty="0"/>
          </a:p>
        </p:txBody>
      </p:sp>
      <p:sp>
        <p:nvSpPr>
          <p:cNvPr id="3" name="TextBox 2">
            <a:extLst>
              <a:ext uri="{FF2B5EF4-FFF2-40B4-BE49-F238E27FC236}">
                <a16:creationId xmlns:a16="http://schemas.microsoft.com/office/drawing/2014/main" id="{B391C667-AFF0-4848-4C28-5F28990C5AAF}"/>
              </a:ext>
            </a:extLst>
          </p:cNvPr>
          <p:cNvSpPr txBox="1"/>
          <p:nvPr/>
        </p:nvSpPr>
        <p:spPr>
          <a:xfrm>
            <a:off x="143825" y="920621"/>
            <a:ext cx="6444399" cy="4893647"/>
          </a:xfrm>
          <a:prstGeom prst="rect">
            <a:avLst/>
          </a:prstGeom>
          <a:noFill/>
        </p:spPr>
        <p:txBody>
          <a:bodyPr wrap="square" rtlCol="0">
            <a:spAutoFit/>
          </a:bodyPr>
          <a:lstStyle/>
          <a:p>
            <a:pPr>
              <a:buFontTx/>
              <a:buChar char="-"/>
            </a:pPr>
            <a:r>
              <a:rPr lang="en-US" sz="2400" dirty="0">
                <a:solidFill>
                  <a:srgbClr val="111111"/>
                </a:solidFill>
                <a:highlight>
                  <a:srgbClr val="FFFFFF"/>
                </a:highlight>
                <a:latin typeface="+mj-lt"/>
              </a:rPr>
              <a:t> </a:t>
            </a:r>
            <a:r>
              <a:rPr lang="en-AU" sz="2400" dirty="0">
                <a:solidFill>
                  <a:srgbClr val="111111"/>
                </a:solidFill>
                <a:highlight>
                  <a:srgbClr val="FFFFFF"/>
                </a:highlight>
                <a:latin typeface="+mj-lt"/>
              </a:rPr>
              <a:t>Communication will be made via SOLS message</a:t>
            </a:r>
          </a:p>
          <a:p>
            <a:pPr>
              <a:buFontTx/>
              <a:buChar char="-"/>
            </a:pPr>
            <a:endParaRPr lang="en-AU" sz="2400" dirty="0">
              <a:solidFill>
                <a:srgbClr val="111111"/>
              </a:solidFill>
              <a:highlight>
                <a:srgbClr val="FFFFFF"/>
              </a:highlight>
              <a:latin typeface="+mj-lt"/>
            </a:endParaRPr>
          </a:p>
          <a:p>
            <a:pPr>
              <a:buFontTx/>
              <a:buChar char="-"/>
            </a:pPr>
            <a:r>
              <a:rPr lang="en-AU" sz="2400" dirty="0">
                <a:solidFill>
                  <a:srgbClr val="111111"/>
                </a:solidFill>
                <a:highlight>
                  <a:srgbClr val="FFFFFF"/>
                </a:highlight>
                <a:latin typeface="+mj-lt"/>
              </a:rPr>
              <a:t> Please check messages regularly (every day)</a:t>
            </a:r>
          </a:p>
          <a:p>
            <a:pPr>
              <a:buFontTx/>
              <a:buChar char="-"/>
            </a:pPr>
            <a:endParaRPr lang="en-AU" sz="2400" dirty="0">
              <a:solidFill>
                <a:srgbClr val="111111"/>
              </a:solidFill>
              <a:highlight>
                <a:srgbClr val="FFFFFF"/>
              </a:highlight>
              <a:latin typeface="+mj-lt"/>
            </a:endParaRPr>
          </a:p>
          <a:p>
            <a:pPr>
              <a:buFontTx/>
              <a:buChar char="-"/>
            </a:pPr>
            <a:r>
              <a:rPr lang="en-AU" sz="2400" dirty="0">
                <a:solidFill>
                  <a:srgbClr val="111111"/>
                </a:solidFill>
                <a:highlight>
                  <a:srgbClr val="FFFFFF"/>
                </a:highlight>
                <a:latin typeface="+mj-lt"/>
              </a:rPr>
              <a:t> If you have specific questions, you can email James and/or myself.</a:t>
            </a:r>
          </a:p>
          <a:p>
            <a:pPr>
              <a:buFontTx/>
              <a:buChar char="-"/>
            </a:pPr>
            <a:endParaRPr lang="en-AU" sz="2400" dirty="0">
              <a:solidFill>
                <a:srgbClr val="111111"/>
              </a:solidFill>
              <a:highlight>
                <a:srgbClr val="FFFFFF"/>
              </a:highlight>
              <a:latin typeface="+mj-lt"/>
            </a:endParaRPr>
          </a:p>
          <a:p>
            <a:r>
              <a:rPr lang="en-AU" sz="2400" dirty="0">
                <a:solidFill>
                  <a:srgbClr val="111111"/>
                </a:solidFill>
                <a:highlight>
                  <a:srgbClr val="FFFFFF"/>
                </a:highlight>
                <a:latin typeface="+mj-lt"/>
              </a:rPr>
              <a:t>- Please do your best to avoid sending emails after 5pm on a Friday or over the weekends.</a:t>
            </a:r>
          </a:p>
          <a:p>
            <a:pPr marL="342900" indent="-342900">
              <a:buFontTx/>
              <a:buChar char="-"/>
            </a:pPr>
            <a:endParaRPr lang="en-AU" sz="2400" dirty="0">
              <a:solidFill>
                <a:srgbClr val="111111"/>
              </a:solidFill>
              <a:highlight>
                <a:srgbClr val="FFFFFF"/>
              </a:highlight>
              <a:latin typeface="+mj-lt"/>
            </a:endParaRPr>
          </a:p>
          <a:p>
            <a:r>
              <a:rPr lang="en-AU" sz="2400" dirty="0">
                <a:solidFill>
                  <a:srgbClr val="111111"/>
                </a:solidFill>
                <a:highlight>
                  <a:srgbClr val="FFFFFF"/>
                </a:highlight>
                <a:latin typeface="+mj-lt"/>
              </a:rPr>
              <a:t>- If you haven’t received a reply within </a:t>
            </a:r>
            <a:r>
              <a:rPr lang="en-AU" sz="2400" b="1" dirty="0">
                <a:solidFill>
                  <a:srgbClr val="111111"/>
                </a:solidFill>
                <a:highlight>
                  <a:srgbClr val="FFFFFF"/>
                </a:highlight>
                <a:latin typeface="+mj-lt"/>
              </a:rPr>
              <a:t>2 working days</a:t>
            </a:r>
            <a:r>
              <a:rPr lang="en-AU" sz="2400" dirty="0">
                <a:solidFill>
                  <a:srgbClr val="111111"/>
                </a:solidFill>
                <a:highlight>
                  <a:srgbClr val="FFFFFF"/>
                </a:highlight>
                <a:latin typeface="+mj-lt"/>
              </a:rPr>
              <a:t>, please send a follow up email, forwarding the original email.</a:t>
            </a:r>
            <a:endParaRPr lang="en-AU" sz="2400" dirty="0"/>
          </a:p>
        </p:txBody>
      </p:sp>
    </p:spTree>
    <p:extLst>
      <p:ext uri="{BB962C8B-B14F-4D97-AF65-F5344CB8AC3E}">
        <p14:creationId xmlns:p14="http://schemas.microsoft.com/office/powerpoint/2010/main" val="41163693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69357"/>
            <a:ext cx="9144000" cy="646331"/>
          </a:xfrm>
          <a:prstGeom prst="rect">
            <a:avLst/>
          </a:prstGeom>
          <a:solidFill>
            <a:srgbClr val="00B050"/>
          </a:solidFill>
        </p:spPr>
        <p:txBody>
          <a:bodyPr wrap="square">
            <a:spAutoFit/>
          </a:bodyPr>
          <a:lstStyle/>
          <a:p>
            <a:r>
              <a:rPr lang="en-AU" sz="3600" b="1" dirty="0"/>
              <a:t>Questions</a:t>
            </a:r>
            <a:endParaRPr lang="en-AU" dirty="0"/>
          </a:p>
        </p:txBody>
      </p:sp>
      <p:sp>
        <p:nvSpPr>
          <p:cNvPr id="3" name="TextBox 2">
            <a:extLst>
              <a:ext uri="{FF2B5EF4-FFF2-40B4-BE49-F238E27FC236}">
                <a16:creationId xmlns:a16="http://schemas.microsoft.com/office/drawing/2014/main" id="{B391C667-AFF0-4848-4C28-5F28990C5AAF}"/>
              </a:ext>
            </a:extLst>
          </p:cNvPr>
          <p:cNvSpPr txBox="1"/>
          <p:nvPr/>
        </p:nvSpPr>
        <p:spPr>
          <a:xfrm>
            <a:off x="107504" y="1196752"/>
            <a:ext cx="3960440" cy="1323439"/>
          </a:xfrm>
          <a:prstGeom prst="rect">
            <a:avLst/>
          </a:prstGeom>
          <a:noFill/>
        </p:spPr>
        <p:txBody>
          <a:bodyPr wrap="square" rtlCol="0">
            <a:spAutoFit/>
          </a:bodyPr>
          <a:lstStyle/>
          <a:p>
            <a:endParaRPr lang="en-AU" sz="2000" dirty="0">
              <a:latin typeface="+mj-lt"/>
            </a:endParaRPr>
          </a:p>
          <a:p>
            <a:pPr>
              <a:buFontTx/>
              <a:buChar char="-"/>
            </a:pPr>
            <a:endParaRPr lang="en-AU" sz="2000" dirty="0"/>
          </a:p>
          <a:p>
            <a:pPr>
              <a:buFontTx/>
              <a:buChar char="-"/>
            </a:pPr>
            <a:endParaRPr lang="en-AU" sz="2000" dirty="0"/>
          </a:p>
          <a:p>
            <a:pPr>
              <a:buFontTx/>
              <a:buChar char="-"/>
            </a:pPr>
            <a:endParaRPr lang="en-AU" sz="2000" dirty="0"/>
          </a:p>
        </p:txBody>
      </p:sp>
    </p:spTree>
    <p:extLst>
      <p:ext uri="{BB962C8B-B14F-4D97-AF65-F5344CB8AC3E}">
        <p14:creationId xmlns:p14="http://schemas.microsoft.com/office/powerpoint/2010/main" val="37303048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hyloTemplate" id="{47EAE3C8-EEF7-B44B-AA90-67D3BA9F8622}" vid="{075996EB-0C29-FE42-AD65-7D372753E31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6649</TotalTime>
  <Words>1733</Words>
  <Application>Microsoft Macintosh PowerPoint</Application>
  <PresentationFormat>On-screen Show (4:3)</PresentationFormat>
  <Paragraphs>322</Paragraphs>
  <Slides>32</Slides>
  <Notes>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32</vt:i4>
      </vt:variant>
    </vt:vector>
  </HeadingPairs>
  <TitlesOfParts>
    <vt:vector size="39" baseType="lpstr">
      <vt:lpstr>Aptos</vt:lpstr>
      <vt:lpstr>Aptos Display</vt:lpstr>
      <vt:lpstr>Arial</vt:lpstr>
      <vt:lpstr>Calibri</vt:lpstr>
      <vt:lpstr>Times New Roman</vt:lpstr>
      <vt:lpstr>Office Theme</vt:lpstr>
      <vt:lpstr>1_Office Theme</vt:lpstr>
      <vt:lpstr>BIOL365: Marine and Terrestrial Ecology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Conservation Behaviour?</vt:lpstr>
      <vt:lpstr>Conservation Behaviour Framework</vt:lpstr>
      <vt:lpstr>Theme 1. Behaviour Based management</vt:lpstr>
      <vt:lpstr>Theme 2. Anthropogenic impacts on animal behaviour</vt:lpstr>
      <vt:lpstr>Theme 3. Behavioural indicators</vt:lpstr>
      <vt:lpstr>Conservation behaviour valuable for resolving Human-wildlife conflict</vt:lpstr>
      <vt:lpstr>A global example of conflict</vt:lpstr>
      <vt:lpstr>Some examples of local conflict</vt:lpstr>
      <vt:lpstr>Some examples of local conflict</vt:lpstr>
      <vt:lpstr>Some examples of local conflict</vt:lpstr>
      <vt:lpstr>What will you be doing?</vt:lpstr>
      <vt:lpstr>What is an elevator pitch ?</vt:lpstr>
      <vt:lpstr>What will we do in each prac class?</vt:lpstr>
      <vt:lpstr>Seminars in weeks 11 and 12</vt:lpstr>
      <vt:lpstr>Attendance</vt:lpstr>
      <vt:lpstr>Reasonable adjustments</vt:lpstr>
      <vt:lpstr>Communication during session</vt:lpstr>
      <vt:lpstr>Questions</vt:lpstr>
    </vt:vector>
  </TitlesOfParts>
  <Company>University of Wollongong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pbyrne</dc:creator>
  <cp:lastModifiedBy>James Dorey</cp:lastModifiedBy>
  <cp:revision>761</cp:revision>
  <dcterms:created xsi:type="dcterms:W3CDTF">2011-05-31T01:37:10Z</dcterms:created>
  <dcterms:modified xsi:type="dcterms:W3CDTF">2026-07-28T04:44:50Z</dcterms:modified>
</cp:coreProperties>
</file>