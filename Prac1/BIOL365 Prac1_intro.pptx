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35"/>
  </p:notesMasterIdLst>
  <p:sldIdLst>
    <p:sldId id="419" r:id="rId3"/>
    <p:sldId id="256" r:id="rId4"/>
    <p:sldId id="407" r:id="rId5"/>
    <p:sldId id="409" r:id="rId6"/>
    <p:sldId id="410" r:id="rId7"/>
    <p:sldId id="411" r:id="rId8"/>
    <p:sldId id="412" r:id="rId9"/>
    <p:sldId id="415" r:id="rId10"/>
    <p:sldId id="413" r:id="rId11"/>
    <p:sldId id="414" r:id="rId12"/>
    <p:sldId id="416" r:id="rId13"/>
    <p:sldId id="417" r:id="rId14"/>
    <p:sldId id="420" r:id="rId15"/>
    <p:sldId id="408" r:id="rId16"/>
    <p:sldId id="381" r:id="rId17"/>
    <p:sldId id="382" r:id="rId18"/>
    <p:sldId id="385" r:id="rId19"/>
    <p:sldId id="386" r:id="rId20"/>
    <p:sldId id="387" r:id="rId21"/>
    <p:sldId id="388" r:id="rId22"/>
    <p:sldId id="406" r:id="rId23"/>
    <p:sldId id="389" r:id="rId24"/>
    <p:sldId id="390" r:id="rId25"/>
    <p:sldId id="391" r:id="rId26"/>
    <p:sldId id="392" r:id="rId27"/>
    <p:sldId id="393" r:id="rId28"/>
    <p:sldId id="394" r:id="rId29"/>
    <p:sldId id="395" r:id="rId30"/>
    <p:sldId id="421" r:id="rId31"/>
    <p:sldId id="423" r:id="rId32"/>
    <p:sldId id="422" r:id="rId33"/>
    <p:sldId id="400" r:id="rId34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3F3D1"/>
    <a:srgbClr val="F2D8BC"/>
    <a:srgbClr val="FF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33" autoAdjust="0"/>
    <p:restoredTop sz="93562" autoAdjust="0"/>
  </p:normalViewPr>
  <p:slideViewPr>
    <p:cSldViewPr>
      <p:cViewPr varScale="1">
        <p:scale>
          <a:sx n="119" d="100"/>
          <a:sy n="119" d="100"/>
        </p:scale>
        <p:origin x="1992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tableStyles" Target="tableStyles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6.xml"/><Relationship Id="rId3" Type="http://schemas.openxmlformats.org/officeDocument/2006/relationships/slide" Target="slides/slid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FE3E860-F498-4C2D-BF82-4BB6A34F4482}" type="datetimeFigureOut">
              <a:rPr lang="en-AU" smtClean="0"/>
              <a:pPr/>
              <a:t>30/7/2025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4A4A7FC-93D4-471E-AF44-B8576D30FAFC}" type="slidenum">
              <a:rPr lang="en-AU" smtClean="0"/>
              <a:pPr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43563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BF1ACB0-3C65-F547-8B15-5A68E23AECEB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AU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060139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54E8A4-552B-4E06-8CBF-D7F5DBFD49F6}" type="datetimeFigureOut">
              <a:rPr lang="en-AU" smtClean="0"/>
              <a:pPr/>
              <a:t>30/7/2025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38D9E0-DFDE-4DB8-973D-24A4997ED404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54E8A4-552B-4E06-8CBF-D7F5DBFD49F6}" type="datetimeFigureOut">
              <a:rPr lang="en-AU" smtClean="0"/>
              <a:pPr/>
              <a:t>30/7/2025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38D9E0-DFDE-4DB8-973D-24A4997ED404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54E8A4-552B-4E06-8CBF-D7F5DBFD49F6}" type="datetimeFigureOut">
              <a:rPr lang="en-AU" smtClean="0"/>
              <a:pPr/>
              <a:t>30/7/2025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38D9E0-DFDE-4DB8-973D-24A4997ED404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54E8A4-552B-4E06-8CBF-D7F5DBFD49F6}" type="datetimeFigureOut">
              <a:rPr lang="en-AU" smtClean="0"/>
              <a:pPr/>
              <a:t>30/7/2025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38D9E0-DFDE-4DB8-973D-24A4997ED404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54E8A4-552B-4E06-8CBF-D7F5DBFD49F6}" type="datetimeFigureOut">
              <a:rPr lang="en-AU" smtClean="0"/>
              <a:pPr/>
              <a:t>30/7/2025</a:t>
            </a:fld>
            <a:endParaRPr lang="en-A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38D9E0-DFDE-4DB8-973D-24A4997ED404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54E8A4-552B-4E06-8CBF-D7F5DBFD49F6}" type="datetimeFigureOut">
              <a:rPr lang="en-AU" smtClean="0"/>
              <a:pPr/>
              <a:t>30/7/2025</a:t>
            </a:fld>
            <a:endParaRPr lang="en-A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38D9E0-DFDE-4DB8-973D-24A4997ED404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54E8A4-552B-4E06-8CBF-D7F5DBFD49F6}" type="datetimeFigureOut">
              <a:rPr lang="en-AU" smtClean="0"/>
              <a:pPr/>
              <a:t>30/7/2025</a:t>
            </a:fld>
            <a:endParaRPr lang="en-A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38D9E0-DFDE-4DB8-973D-24A4997ED404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54E8A4-552B-4E06-8CBF-D7F5DBFD49F6}" type="datetimeFigureOut">
              <a:rPr lang="en-AU" smtClean="0"/>
              <a:pPr/>
              <a:t>30/7/2025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38D9E0-DFDE-4DB8-973D-24A4997ED404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54E8A4-552B-4E06-8CBF-D7F5DBFD49F6}" type="datetimeFigureOut">
              <a:rPr lang="en-AU" smtClean="0"/>
              <a:pPr/>
              <a:t>30/7/2025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38D9E0-DFDE-4DB8-973D-24A4997ED404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54E8A4-552B-4E06-8CBF-D7F5DBFD49F6}" type="datetimeFigureOut">
              <a:rPr lang="en-AU" smtClean="0"/>
              <a:pPr/>
              <a:t>30/7/2025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38D9E0-DFDE-4DB8-973D-24A4997ED404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54E8A4-552B-4E06-8CBF-D7F5DBFD49F6}" type="datetimeFigureOut">
              <a:rPr lang="en-AU" smtClean="0"/>
              <a:pPr/>
              <a:t>30/7/2025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38D9E0-DFDE-4DB8-973D-24A4997ED404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0DF9C9-A483-8000-FCF3-6D19336C88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1045029"/>
          </a:xfrm>
          <a:gradFill>
            <a:gsLst>
              <a:gs pos="100000">
                <a:schemeClr val="bg1"/>
              </a:gs>
              <a:gs pos="73000">
                <a:schemeClr val="bg1">
                  <a:lumMod val="95000"/>
                </a:schemeClr>
              </a:gs>
            </a:gsLst>
            <a:lin ang="5400000" scaled="1"/>
          </a:gradFill>
        </p:spPr>
        <p:txBody>
          <a:bodyPr anchor="b"/>
          <a:lstStyle>
            <a:lvl1pPr algn="ctr">
              <a:defRPr sz="4500"/>
            </a:lvl1pPr>
          </a:lstStyle>
          <a:p>
            <a:r>
              <a:rPr lang="en-GB" dirty="0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83FEE1-9FA9-43C8-0361-4A4389F5B2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1282536"/>
            <a:ext cx="6858000" cy="1045029"/>
          </a:xfrm>
        </p:spPr>
        <p:txBody>
          <a:bodyPr>
            <a:normAutofit/>
          </a:bodyPr>
          <a:lstStyle>
            <a:lvl1pPr marL="0" indent="0" algn="ctr">
              <a:buNone/>
              <a:defRPr sz="33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  <a:endParaRPr lang="en-AU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05D074-8FEB-6FD9-370A-3CE65B9BDD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D85FED-E5C6-2640-857E-7DCFF39350D1}" type="datetimeFigureOut">
              <a:rPr lang="en-AU" smtClean="0"/>
              <a:t>30/7/2025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081D84-477D-E7C4-06DA-580D6A82CC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5224F6-AFB9-C22C-E5B3-CAA382A5F3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762B4D-0541-7043-9EA4-25F1D3BAEAE8}" type="slidenum">
              <a:rPr lang="en-AU" smtClean="0"/>
              <a:t>‹#›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7891629-96AF-DE34-AF93-C8E3F5ADA180}"/>
              </a:ext>
            </a:extLst>
          </p:cNvPr>
          <p:cNvSpPr txBox="1"/>
          <p:nvPr userDrawn="1"/>
        </p:nvSpPr>
        <p:spPr>
          <a:xfrm>
            <a:off x="2686050" y="5355771"/>
            <a:ext cx="377190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100" dirty="0"/>
              <a:t>Dr James Dorey</a:t>
            </a:r>
          </a:p>
        </p:txBody>
      </p:sp>
    </p:spTree>
    <p:extLst>
      <p:ext uri="{BB962C8B-B14F-4D97-AF65-F5344CB8AC3E}">
        <p14:creationId xmlns:p14="http://schemas.microsoft.com/office/powerpoint/2010/main" val="42601863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3E600F-1D0E-64FA-CB94-D8DA7D4171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95EDEF-C97C-77A3-A3E6-7CE10CA5DD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C40EE7-792A-F6C4-7493-2FE7D9F3AB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D85FED-E5C6-2640-857E-7DCFF39350D1}" type="datetimeFigureOut">
              <a:rPr lang="en-AU" smtClean="0"/>
              <a:t>30/7/2025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8E9998-974E-D8AD-81C5-4482B42322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3B6A1F-D2DE-343F-ECAD-5A9A15D689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762B4D-0541-7043-9EA4-25F1D3BAEAE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6304354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7D344A-1493-3ADA-D704-D0788E40F3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16E5CE-3620-C57A-21F5-4A0F78188D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92F182-08AF-8BBF-2B3E-8DC91FCB3F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D85FED-E5C6-2640-857E-7DCFF39350D1}" type="datetimeFigureOut">
              <a:rPr lang="en-AU" smtClean="0"/>
              <a:t>30/7/2025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387F78-3A7B-A6B1-6D48-000730EF88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603750-D14F-86D7-2DFA-7D7DFC8E05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762B4D-0541-7043-9EA4-25F1D3BAEAE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2511838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6C98C4-98EE-A15A-1BDD-E37A7965C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E1EF52-C0C5-F6A9-319F-275348884F9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D4905D-68EB-DFC3-C2C7-5F676C049B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DF5BD9-1D81-EC3D-62DD-9EFFE19644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D85FED-E5C6-2640-857E-7DCFF39350D1}" type="datetimeFigureOut">
              <a:rPr lang="en-AU" smtClean="0"/>
              <a:t>30/7/2025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BC4DD7-C57E-F6C6-FD17-0BB82596A3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F92267-857E-B2E5-AD88-AB11396FB0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762B4D-0541-7043-9EA4-25F1D3BAEAE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6899008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A5E627-DE1F-8A6E-13D6-95D46A490A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D13B15-4B1F-957D-0960-4F74078C7B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155CDD3-4F3F-8252-E3D1-7EF449C9DE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9CF13E-C5A3-0270-73CF-A1F37407FD7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3C3340F-403E-9A36-7D19-104AFBE3F6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2421B93-4814-28B5-3ACC-1F500CC317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D85FED-E5C6-2640-857E-7DCFF39350D1}" type="datetimeFigureOut">
              <a:rPr lang="en-AU" smtClean="0"/>
              <a:t>30/7/2025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2CDC5F9-0A25-61DE-CEA4-3C7CEE4250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9CA25C4-3352-A451-4B3C-0A074A0FE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762B4D-0541-7043-9EA4-25F1D3BAEAE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1508050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9DF222-FC80-AD82-4C69-6445AFE6F7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E03087F-C0BB-DA74-6102-C34973A03E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D85FED-E5C6-2640-857E-7DCFF39350D1}" type="datetimeFigureOut">
              <a:rPr lang="en-AU" smtClean="0"/>
              <a:t>30/7/2025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C1B2FCF-1271-3A09-41A4-F28A875271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704931C-A30F-0D87-0E41-F8AA77C757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762B4D-0541-7043-9EA4-25F1D3BAEAE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369752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4ED6194-A6A8-6D85-A927-CCCBD84A37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D85FED-E5C6-2640-857E-7DCFF39350D1}" type="datetimeFigureOut">
              <a:rPr lang="en-AU" smtClean="0"/>
              <a:t>30/7/2025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5231830-E2E4-0486-78AA-CD331D10AB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DCC9C7-A171-282C-A071-9CE4D28DBB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762B4D-0541-7043-9EA4-25F1D3BAEAE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3168353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3FE9EF-D566-E38C-C8BA-FC4429EBF1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5B433C-C21F-1164-0A8E-45500B3393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9AB22ED-679E-1AE2-75C6-A6FF613A83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5B5E69-74E8-6456-2A40-E88D9CBBAE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D85FED-E5C6-2640-857E-7DCFF39350D1}" type="datetimeFigureOut">
              <a:rPr lang="en-AU" smtClean="0"/>
              <a:t>30/7/2025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AAC898-4656-9007-2717-770B78BA3E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EF363A-2F33-9662-5CD8-AF0778C926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762B4D-0541-7043-9EA4-25F1D3BAEAE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3348961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A3B445-CF30-FFAA-3CAD-0ABD2C7F9E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1B581D7-FE45-31C3-8359-889F0FA48F9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520484-C4B2-9053-159A-AC28BCF092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4AB345-FFFB-4407-6179-B0216786B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D85FED-E5C6-2640-857E-7DCFF39350D1}" type="datetimeFigureOut">
              <a:rPr lang="en-AU" smtClean="0"/>
              <a:t>30/7/2025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74334C-A258-3F0C-8434-0D9658996D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F2953A-E046-48A7-7E5A-49452714B4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762B4D-0541-7043-9EA4-25F1D3BAEAE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8574045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569427-D8D5-E26D-FAB8-6EDC56B478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989954-23B8-49ED-E59A-D57C908C8B6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68CB85-2C64-0E54-381F-89BAD677DE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D85FED-E5C6-2640-857E-7DCFF39350D1}" type="datetimeFigureOut">
              <a:rPr lang="en-AU" smtClean="0"/>
              <a:t>30/7/2025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E375B0-98F3-9D7F-3A90-2F42022D09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24BCF1-A4DC-9470-DE00-9C5F4358E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762B4D-0541-7043-9EA4-25F1D3BAEAE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6933163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C8B2892-251A-96A8-BEA9-F24F4166B86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9FFD8B7-279E-BC01-64DF-F4F382CB52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A7E3AB-4FD5-3D2D-5228-272D710610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D85FED-E5C6-2640-857E-7DCFF39350D1}" type="datetimeFigureOut">
              <a:rPr lang="en-AU" smtClean="0"/>
              <a:t>30/7/2025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A6E4D0-0083-5082-B4F3-A27A1E5F0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E45CC8-AF07-A4C8-CA56-764CAEA775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762B4D-0541-7043-9EA4-25F1D3BAEAE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8616043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xt &amp; image slide (1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/>
          <p:cNvSpPr>
            <a:spLocks noGrp="1"/>
          </p:cNvSpPr>
          <p:nvPr>
            <p:ph idx="1"/>
          </p:nvPr>
        </p:nvSpPr>
        <p:spPr>
          <a:xfrm>
            <a:off x="355922" y="2537640"/>
            <a:ext cx="4010526" cy="3900593"/>
          </a:xfrm>
        </p:spPr>
        <p:txBody>
          <a:bodyPr>
            <a:normAutofit/>
          </a:bodyPr>
          <a:lstStyle>
            <a:lvl1pPr>
              <a:defRPr sz="1200">
                <a:solidFill>
                  <a:schemeClr val="accent3"/>
                </a:solidFill>
              </a:defRPr>
            </a:lvl1pPr>
            <a:lvl2pPr>
              <a:defRPr sz="1200">
                <a:solidFill>
                  <a:schemeClr val="accent3"/>
                </a:solidFill>
              </a:defRPr>
            </a:lvl2pPr>
            <a:lvl3pPr>
              <a:defRPr sz="1200">
                <a:solidFill>
                  <a:schemeClr val="accent3"/>
                </a:solidFill>
              </a:defRPr>
            </a:lvl3pPr>
            <a:lvl4pPr>
              <a:defRPr sz="1200">
                <a:solidFill>
                  <a:schemeClr val="accent3"/>
                </a:solidFill>
              </a:defRPr>
            </a:lvl4pPr>
            <a:lvl5pPr>
              <a:defRPr sz="1200">
                <a:solidFill>
                  <a:schemeClr val="accent3"/>
                </a:solidFill>
              </a:defRPr>
            </a:lvl5pPr>
            <a:lvl6pPr>
              <a:defRPr sz="1125"/>
            </a:lvl6pPr>
            <a:lvl7pPr>
              <a:defRPr sz="1125"/>
            </a:lvl7pPr>
            <a:lvl8pPr>
              <a:defRPr sz="1125"/>
            </a:lvl8pPr>
            <a:lvl9pPr>
              <a:defRPr sz="1125"/>
            </a:lvl9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355921" y="457202"/>
            <a:ext cx="8160621" cy="783389"/>
          </a:xfrm>
        </p:spPr>
        <p:txBody>
          <a:bodyPr anchor="b">
            <a:normAutofit/>
          </a:bodyPr>
          <a:lstStyle>
            <a:lvl1pPr>
              <a:defRPr sz="210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13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355921" y="1262145"/>
            <a:ext cx="8160620" cy="781552"/>
          </a:xfrm>
        </p:spPr>
        <p:txBody>
          <a:bodyPr>
            <a:normAutofit/>
          </a:bodyPr>
          <a:lstStyle>
            <a:lvl1pPr marL="0" indent="0">
              <a:buNone/>
              <a:defRPr sz="1050" b="1">
                <a:solidFill>
                  <a:schemeClr val="accent1"/>
                </a:solidFill>
              </a:defRPr>
            </a:lvl1pPr>
            <a:lvl2pPr marL="257175" indent="0">
              <a:buNone/>
              <a:defRPr sz="788"/>
            </a:lvl2pPr>
            <a:lvl3pPr marL="514350" indent="0">
              <a:buNone/>
              <a:defRPr sz="675"/>
            </a:lvl3pPr>
            <a:lvl4pPr marL="771525" indent="0">
              <a:buNone/>
              <a:defRPr sz="563"/>
            </a:lvl4pPr>
            <a:lvl5pPr marL="1028700" indent="0">
              <a:buNone/>
              <a:defRPr sz="563"/>
            </a:lvl5pPr>
            <a:lvl6pPr marL="1285875" indent="0">
              <a:buNone/>
              <a:defRPr sz="563"/>
            </a:lvl6pPr>
            <a:lvl7pPr marL="1543050" indent="0">
              <a:buNone/>
              <a:defRPr sz="563"/>
            </a:lvl7pPr>
            <a:lvl8pPr marL="1800225" indent="0">
              <a:buNone/>
              <a:defRPr sz="563"/>
            </a:lvl8pPr>
            <a:lvl9pPr marL="2057400" indent="0">
              <a:buNone/>
              <a:defRPr sz="563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750719949"/>
      </p:ext>
    </p:extLst>
  </p:cSld>
  <p:clrMapOvr>
    <a:masterClrMapping/>
  </p:clrMapOvr>
  <p:hf hd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54E8A4-552B-4E06-8CBF-D7F5DBFD49F6}" type="datetimeFigureOut">
              <a:rPr lang="en-AU" smtClean="0"/>
              <a:pPr/>
              <a:t>30/7/2025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538D9E0-DFDE-4DB8-973D-24A4997ED404}" type="slidenum">
              <a:rPr lang="en-AU" smtClean="0"/>
              <a:pPr/>
              <a:t>‹#›</a:t>
            </a:fld>
            <a:endParaRPr lang="en-A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9727970-D282-B9A9-602B-3A3B1C3DE2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18256"/>
            <a:ext cx="7886700" cy="114552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en-A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46B0AD-AD7F-1DE3-03B6-761E210C25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AU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7D071-9066-31B8-0905-D0C7A410CBE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D85FED-E5C6-2640-857E-7DCFF39350D1}" type="datetimeFigureOut">
              <a:rPr lang="en-AU" smtClean="0"/>
              <a:t>30/7/2025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F69345-1EDC-7506-8E6A-F698587EDBE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14A4FD-5724-EF9B-5F6A-49C7873D9F9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F762B4D-0541-7043-9EA4-25F1D3BAEAE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24527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rgbClr val="9579B9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Clr>
          <a:srgbClr val="AF90D8"/>
        </a:buClr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Clr>
          <a:srgbClr val="5DC184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Clr>
          <a:srgbClr val="F7D684"/>
        </a:buClr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Clr>
          <a:srgbClr val="8F798D"/>
        </a:buClr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em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e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eg"/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jpe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C51810B-DC30-3BB9-1C03-7900884A04FD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" y="0"/>
            <a:ext cx="9143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B5AFE40-84D2-8688-B940-274FAF8AE4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2214"/>
            <a:ext cx="9144000" cy="783772"/>
          </a:xfrm>
          <a:solidFill>
            <a:schemeClr val="tx1">
              <a:alpha val="52597"/>
            </a:schemeClr>
          </a:solidFill>
        </p:spPr>
        <p:txBody>
          <a:bodyPr>
            <a:normAutofit fontScale="90000"/>
          </a:bodyPr>
          <a:lstStyle/>
          <a:p>
            <a:r>
              <a:rPr lang="en-AU" b="1" dirty="0">
                <a:solidFill>
                  <a:schemeClr val="bg1"/>
                </a:solidFill>
              </a:rPr>
              <a:t>BIOL365: Marine and Terrestrial Ecology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2886DAD-D7A2-C7B1-6D84-AD445B7417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8847" y="977540"/>
            <a:ext cx="7686303" cy="534389"/>
          </a:xfrm>
          <a:prstGeom prst="roundRect">
            <a:avLst/>
          </a:prstGeom>
          <a:solidFill>
            <a:schemeClr val="bg1">
              <a:alpha val="62056"/>
            </a:schemeClr>
          </a:solidFill>
        </p:spPr>
        <p:txBody>
          <a:bodyPr>
            <a:noAutofit/>
          </a:bodyPr>
          <a:lstStyle/>
          <a:p>
            <a:r>
              <a:rPr lang="en-AU" b="1" dirty="0"/>
              <a:t>Lecture 1: Practical introduction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283DBAC-8D4D-001B-D417-2BE34F1BB7DD}"/>
              </a:ext>
            </a:extLst>
          </p:cNvPr>
          <p:cNvSpPr txBox="1"/>
          <p:nvPr/>
        </p:nvSpPr>
        <p:spPr>
          <a:xfrm>
            <a:off x="1547662" y="5880460"/>
            <a:ext cx="6048672" cy="459700"/>
          </a:xfrm>
          <a:prstGeom prst="roundRect">
            <a:avLst/>
          </a:prstGeom>
          <a:solidFill>
            <a:schemeClr val="bg1">
              <a:alpha val="62000"/>
            </a:schemeClr>
          </a:solidFill>
        </p:spPr>
        <p:txBody>
          <a:bodyPr wrap="square">
            <a:spAutoFit/>
          </a:bodyPr>
          <a:lstStyle/>
          <a:p>
            <a:pPr algn="ctr" defTabSz="685800"/>
            <a:r>
              <a:rPr lang="en-AU" sz="2100" b="1" dirty="0">
                <a:solidFill>
                  <a:prstClr val="black"/>
                </a:solidFill>
                <a:latin typeface="Aptos" panose="02110004020202020204"/>
              </a:rPr>
              <a:t>James Dorey, Damien </a:t>
            </a:r>
            <a:r>
              <a:rPr lang="en-AU" sz="2100" b="1" dirty="0" err="1">
                <a:solidFill>
                  <a:prstClr val="black"/>
                </a:solidFill>
                <a:latin typeface="Aptos" panose="02110004020202020204"/>
              </a:rPr>
              <a:t>Esquerré</a:t>
            </a:r>
            <a:r>
              <a:rPr lang="en-AU" sz="2100" b="1" dirty="0">
                <a:solidFill>
                  <a:prstClr val="black"/>
                </a:solidFill>
                <a:latin typeface="Aptos" panose="02110004020202020204"/>
              </a:rPr>
              <a:t>, and Phil Byrne</a:t>
            </a:r>
          </a:p>
        </p:txBody>
      </p:sp>
    </p:spTree>
    <p:extLst>
      <p:ext uri="{BB962C8B-B14F-4D97-AF65-F5344CB8AC3E}">
        <p14:creationId xmlns:p14="http://schemas.microsoft.com/office/powerpoint/2010/main" val="5774475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 txBox="1">
            <a:spLocks/>
          </p:cNvSpPr>
          <p:nvPr/>
        </p:nvSpPr>
        <p:spPr>
          <a:xfrm>
            <a:off x="0" y="0"/>
            <a:ext cx="9144000" cy="908719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rmAutofit fontScale="97500"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4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+mj-lt"/>
                <a:ea typeface="+mj-ea"/>
                <a:cs typeface="+mj-cs"/>
              </a:rPr>
              <a:t>Welcome to the BIOL365/971  </a:t>
            </a:r>
          </a:p>
        </p:txBody>
      </p:sp>
      <p:sp>
        <p:nvSpPr>
          <p:cNvPr id="2" name="AutoShape 2" descr="Illawarra Birders Publications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/>
          </a:p>
        </p:txBody>
      </p:sp>
      <p:sp>
        <p:nvSpPr>
          <p:cNvPr id="3" name="AutoShape 4" descr="Illawarra Birders Publications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EAF8FB-3710-94CF-6BCD-95D9CF751613}"/>
              </a:ext>
            </a:extLst>
          </p:cNvPr>
          <p:cNvSpPr txBox="1"/>
          <p:nvPr/>
        </p:nvSpPr>
        <p:spPr>
          <a:xfrm>
            <a:off x="244351" y="1053182"/>
            <a:ext cx="865529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A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</a:t>
            </a:r>
          </a:p>
          <a:p>
            <a:pPr algn="l"/>
            <a:r>
              <a:rPr lang="en-AU" b="1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Prac</a:t>
            </a:r>
            <a:r>
              <a:rPr lang="en-AU" b="1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schedule</a:t>
            </a:r>
          </a:p>
          <a:p>
            <a:pPr algn="l"/>
            <a:endParaRPr lang="en-AU" dirty="0">
              <a:solidFill>
                <a:srgbClr val="000000"/>
              </a:solidFill>
              <a:latin typeface="Times New Roman" panose="02020603050405020304" pitchFamily="18" charset="0"/>
            </a:endParaRPr>
          </a:p>
          <a:p>
            <a:pPr algn="l"/>
            <a:r>
              <a:rPr lang="en-A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</a:t>
            </a:r>
          </a:p>
          <a:p>
            <a:pPr algn="l"/>
            <a:r>
              <a:rPr lang="en-A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</a:t>
            </a:r>
          </a:p>
          <a:p>
            <a:pPr algn="l"/>
            <a:r>
              <a:rPr lang="en-A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524F1FA-C741-5DA2-D811-F313703CDE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9559572"/>
              </p:ext>
            </p:extLst>
          </p:nvPr>
        </p:nvGraphicFramePr>
        <p:xfrm>
          <a:off x="1897361" y="980728"/>
          <a:ext cx="7211143" cy="5784399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162472">
                  <a:extLst>
                    <a:ext uri="{9D8B030D-6E8A-4147-A177-3AD203B41FA5}">
                      <a16:colId xmlns:a16="http://schemas.microsoft.com/office/drawing/2014/main" val="1148351342"/>
                    </a:ext>
                  </a:extLst>
                </a:gridCol>
                <a:gridCol w="1800200">
                  <a:extLst>
                    <a:ext uri="{9D8B030D-6E8A-4147-A177-3AD203B41FA5}">
                      <a16:colId xmlns:a16="http://schemas.microsoft.com/office/drawing/2014/main" val="1461983139"/>
                    </a:ext>
                  </a:extLst>
                </a:gridCol>
                <a:gridCol w="4248471">
                  <a:extLst>
                    <a:ext uri="{9D8B030D-6E8A-4147-A177-3AD203B41FA5}">
                      <a16:colId xmlns:a16="http://schemas.microsoft.com/office/drawing/2014/main" val="2487162319"/>
                    </a:ext>
                  </a:extLst>
                </a:gridCol>
              </a:tblGrid>
              <a:tr h="2453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600">
                          <a:effectLst/>
                        </a:rPr>
                        <a:t>Week</a:t>
                      </a:r>
                      <a:endParaRPr lang="en-AU" sz="2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8575" marR="28575" marT="28575" marB="2857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600">
                          <a:effectLst/>
                        </a:rPr>
                        <a:t>Week Commencing</a:t>
                      </a:r>
                      <a:endParaRPr lang="en-AU" sz="2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8575" marR="28575" marT="28575" marB="2857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600">
                          <a:effectLst/>
                        </a:rPr>
                        <a:t>Topics Covered</a:t>
                      </a:r>
                      <a:endParaRPr lang="en-AU" sz="2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8575" marR="28575" marT="28575" marB="28575" anchor="ctr"/>
                </a:tc>
                <a:extLst>
                  <a:ext uri="{0D108BD9-81ED-4DB2-BD59-A6C34878D82A}">
                    <a16:rowId xmlns:a16="http://schemas.microsoft.com/office/drawing/2014/main" val="2830411312"/>
                  </a:ext>
                </a:extLst>
              </a:tr>
              <a:tr h="42372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600">
                          <a:effectLst/>
                        </a:rPr>
                        <a:t>1</a:t>
                      </a:r>
                      <a:endParaRPr lang="en-AU" sz="2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8575" marR="28575" marT="28575" marB="2857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600">
                          <a:effectLst/>
                        </a:rPr>
                        <a:t>28 Jul 2025</a:t>
                      </a:r>
                      <a:endParaRPr lang="en-AU" sz="2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8575" marR="28575" marT="28575" marB="2857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600">
                          <a:effectLst/>
                        </a:rPr>
                        <a:t>Introduction to the practical schedule of learning</a:t>
                      </a:r>
                      <a:endParaRPr lang="en-AU" sz="16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8575" marR="28575" marT="28575" marB="28575" anchor="ctr"/>
                </a:tc>
                <a:extLst>
                  <a:ext uri="{0D108BD9-81ED-4DB2-BD59-A6C34878D82A}">
                    <a16:rowId xmlns:a16="http://schemas.microsoft.com/office/drawing/2014/main" val="2724472881"/>
                  </a:ext>
                </a:extLst>
              </a:tr>
              <a:tr h="2453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600">
                          <a:effectLst/>
                        </a:rPr>
                        <a:t>2</a:t>
                      </a:r>
                      <a:endParaRPr lang="en-AU" sz="2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8575" marR="28575" marT="28575" marB="2857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600">
                          <a:effectLst/>
                        </a:rPr>
                        <a:t>04 Aug 2025</a:t>
                      </a:r>
                      <a:endParaRPr lang="en-AU" sz="2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8575" marR="28575" marT="28575" marB="2857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600">
                          <a:effectLst/>
                        </a:rPr>
                        <a:t>Phylogenetic module</a:t>
                      </a:r>
                      <a:endParaRPr lang="en-AU" sz="16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8575" marR="28575" marT="28575" marB="28575" anchor="ctr"/>
                </a:tc>
                <a:extLst>
                  <a:ext uri="{0D108BD9-81ED-4DB2-BD59-A6C34878D82A}">
                    <a16:rowId xmlns:a16="http://schemas.microsoft.com/office/drawing/2014/main" val="875796261"/>
                  </a:ext>
                </a:extLst>
              </a:tr>
              <a:tr h="2453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600">
                          <a:effectLst/>
                        </a:rPr>
                        <a:t>3</a:t>
                      </a:r>
                      <a:endParaRPr lang="en-AU" sz="2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8575" marR="28575" marT="28575" marB="2857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600">
                          <a:effectLst/>
                        </a:rPr>
                        <a:t>11 Aug 2025</a:t>
                      </a:r>
                      <a:endParaRPr lang="en-AU" sz="2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8575" marR="28575" marT="28575" marB="2857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600">
                          <a:effectLst/>
                        </a:rPr>
                        <a:t>Phylogenetic module</a:t>
                      </a:r>
                      <a:endParaRPr lang="en-AU" sz="16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8575" marR="28575" marT="28575" marB="28575" anchor="ctr"/>
                </a:tc>
                <a:extLst>
                  <a:ext uri="{0D108BD9-81ED-4DB2-BD59-A6C34878D82A}">
                    <a16:rowId xmlns:a16="http://schemas.microsoft.com/office/drawing/2014/main" val="2167852418"/>
                  </a:ext>
                </a:extLst>
              </a:tr>
              <a:tr h="2453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600">
                          <a:effectLst/>
                        </a:rPr>
                        <a:t>4</a:t>
                      </a:r>
                      <a:endParaRPr lang="en-AU" sz="2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8575" marR="28575" marT="28575" marB="2857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600">
                          <a:effectLst/>
                        </a:rPr>
                        <a:t>18 Aug 2025</a:t>
                      </a:r>
                      <a:endParaRPr lang="en-AU" sz="2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8575" marR="28575" marT="28575" marB="2857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600">
                          <a:effectLst/>
                        </a:rPr>
                        <a:t>Phylogenetic module</a:t>
                      </a:r>
                      <a:endParaRPr lang="en-AU" sz="16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8575" marR="28575" marT="28575" marB="28575" anchor="ctr"/>
                </a:tc>
                <a:extLst>
                  <a:ext uri="{0D108BD9-81ED-4DB2-BD59-A6C34878D82A}">
                    <a16:rowId xmlns:a16="http://schemas.microsoft.com/office/drawing/2014/main" val="3629734125"/>
                  </a:ext>
                </a:extLst>
              </a:tr>
              <a:tr h="2453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600">
                          <a:effectLst/>
                        </a:rPr>
                        <a:t>5</a:t>
                      </a:r>
                      <a:endParaRPr lang="en-AU" sz="2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8575" marR="28575" marT="28575" marB="2857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600">
                          <a:effectLst/>
                        </a:rPr>
                        <a:t>25 Aug 2025</a:t>
                      </a:r>
                      <a:endParaRPr lang="en-AU" sz="2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8575" marR="28575" marT="28575" marB="2857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600">
                          <a:effectLst/>
                        </a:rPr>
                        <a:t>Phylogenetic module</a:t>
                      </a:r>
                      <a:endParaRPr lang="en-AU" sz="16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8575" marR="28575" marT="28575" marB="28575" anchor="ctr"/>
                </a:tc>
                <a:extLst>
                  <a:ext uri="{0D108BD9-81ED-4DB2-BD59-A6C34878D82A}">
                    <a16:rowId xmlns:a16="http://schemas.microsoft.com/office/drawing/2014/main" val="3450603441"/>
                  </a:ext>
                </a:extLst>
              </a:tr>
              <a:tr h="2453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600">
                          <a:effectLst/>
                        </a:rPr>
                        <a:t>6</a:t>
                      </a:r>
                      <a:endParaRPr lang="en-AU" sz="2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8575" marR="28575" marT="28575" marB="2857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600">
                          <a:effectLst/>
                        </a:rPr>
                        <a:t>01 Sep 2025</a:t>
                      </a:r>
                      <a:endParaRPr lang="en-AU" sz="2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8575" marR="28575" marT="28575" marB="2857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600">
                          <a:effectLst/>
                        </a:rPr>
                        <a:t>Conservation Behaviour module</a:t>
                      </a:r>
                      <a:endParaRPr lang="en-AU" sz="16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8575" marR="28575" marT="28575" marB="28575" anchor="ctr"/>
                </a:tc>
                <a:extLst>
                  <a:ext uri="{0D108BD9-81ED-4DB2-BD59-A6C34878D82A}">
                    <a16:rowId xmlns:a16="http://schemas.microsoft.com/office/drawing/2014/main" val="308622818"/>
                  </a:ext>
                </a:extLst>
              </a:tr>
              <a:tr h="2453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600">
                          <a:effectLst/>
                        </a:rPr>
                        <a:t>7</a:t>
                      </a:r>
                      <a:endParaRPr lang="en-AU" sz="2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8575" marR="28575" marT="28575" marB="2857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600" dirty="0">
                          <a:effectLst/>
                        </a:rPr>
                        <a:t>08 Sep 2025</a:t>
                      </a:r>
                      <a:endParaRPr lang="en-AU" sz="2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8575" marR="28575" marT="28575" marB="28575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600" dirty="0">
                          <a:effectLst/>
                        </a:rPr>
                        <a:t>Quiz 1 (covering lectures 1–13). </a:t>
                      </a:r>
                      <a:endParaRPr lang="en-A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8575" marR="28575" marT="28575" marB="28575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1467653"/>
                  </a:ext>
                </a:extLst>
              </a:tr>
              <a:tr h="2453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600">
                          <a:effectLst/>
                        </a:rPr>
                        <a:t>8</a:t>
                      </a:r>
                      <a:endParaRPr lang="en-AU" sz="2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8575" marR="28575" marT="28575" marB="2857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600" dirty="0">
                          <a:effectLst/>
                        </a:rPr>
                        <a:t>15 Sep 2025</a:t>
                      </a:r>
                      <a:endParaRPr lang="en-AU" sz="2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8575" marR="28575" marT="28575" marB="2857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600">
                          <a:effectLst/>
                        </a:rPr>
                        <a:t>Conservation Behaviour module</a:t>
                      </a:r>
                      <a:endParaRPr lang="en-AU" sz="16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8575" marR="28575" marT="28575" marB="28575" anchor="ctr"/>
                </a:tc>
                <a:extLst>
                  <a:ext uri="{0D108BD9-81ED-4DB2-BD59-A6C34878D82A}">
                    <a16:rowId xmlns:a16="http://schemas.microsoft.com/office/drawing/2014/main" val="2086568991"/>
                  </a:ext>
                </a:extLst>
              </a:tr>
              <a:tr h="2453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600">
                          <a:effectLst/>
                        </a:rPr>
                        <a:t>9</a:t>
                      </a:r>
                      <a:endParaRPr lang="en-AU" sz="2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8575" marR="28575" marT="28575" marB="2857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600" dirty="0">
                          <a:effectLst/>
                        </a:rPr>
                        <a:t>22 Sep 2025</a:t>
                      </a:r>
                      <a:endParaRPr lang="en-AU" sz="2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8575" marR="28575" marT="28575" marB="2857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600">
                          <a:effectLst/>
                        </a:rPr>
                        <a:t>Conservation Behaviour module</a:t>
                      </a:r>
                      <a:endParaRPr lang="en-AU" sz="16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8575" marR="28575" marT="28575" marB="28575" anchor="ctr"/>
                </a:tc>
                <a:extLst>
                  <a:ext uri="{0D108BD9-81ED-4DB2-BD59-A6C34878D82A}">
                    <a16:rowId xmlns:a16="http://schemas.microsoft.com/office/drawing/2014/main" val="1501103259"/>
                  </a:ext>
                </a:extLst>
              </a:tr>
              <a:tr h="2453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600">
                          <a:effectLst/>
                        </a:rPr>
                        <a:t> </a:t>
                      </a:r>
                      <a:endParaRPr lang="en-AU" sz="2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8575" marR="28575" marT="28575" marB="28575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600">
                          <a:effectLst/>
                        </a:rPr>
                        <a:t>29 Sep 2025</a:t>
                      </a:r>
                      <a:endParaRPr lang="en-AU" sz="2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8575" marR="28575" marT="28575" marB="28575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600" dirty="0">
                          <a:effectLst/>
                        </a:rPr>
                        <a:t>Mid-Session Recess</a:t>
                      </a:r>
                      <a:endParaRPr lang="en-AU" sz="2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8575" marR="28575" marT="28575" marB="28575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8642333"/>
                  </a:ext>
                </a:extLst>
              </a:tr>
              <a:tr h="42372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600">
                          <a:effectLst/>
                        </a:rPr>
                        <a:t>10</a:t>
                      </a:r>
                      <a:endParaRPr lang="en-AU" sz="2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8575" marR="28575" marT="28575" marB="28575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None/>
                      </a:pPr>
                      <a:r>
                        <a:rPr lang="en-AU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06 Oct 2025</a:t>
                      </a:r>
                    </a:p>
                  </a:txBody>
                  <a:tcPr marL="28575" marR="28575" marT="28575" marB="28575"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600" dirty="0">
                          <a:effectLst/>
                        </a:rPr>
                        <a:t>Conservation Behaviour module — Elevator pitch delivered to the class</a:t>
                      </a:r>
                      <a:endParaRPr lang="en-A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8575" marR="28575" marT="28575" marB="28575"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300689"/>
                  </a:ext>
                </a:extLst>
              </a:tr>
              <a:tr h="2453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600">
                          <a:effectLst/>
                        </a:rPr>
                        <a:t>11</a:t>
                      </a:r>
                      <a:endParaRPr lang="en-AU" sz="2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8575" marR="28575" marT="28575" marB="2857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600">
                          <a:effectLst/>
                        </a:rPr>
                        <a:t>13 Oct 2025</a:t>
                      </a:r>
                      <a:endParaRPr lang="en-AU" sz="2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8575" marR="28575" marT="28575" marB="28575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600">
                          <a:effectLst/>
                        </a:rPr>
                        <a:t>Seminar delivery (group 1)</a:t>
                      </a:r>
                      <a:endParaRPr lang="en-AU" sz="16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8575" marR="28575" marT="28575" marB="28575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8485714"/>
                  </a:ext>
                </a:extLst>
              </a:tr>
              <a:tr h="2453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600">
                          <a:effectLst/>
                        </a:rPr>
                        <a:t>12</a:t>
                      </a:r>
                      <a:endParaRPr lang="en-AU" sz="2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8575" marR="28575" marT="28575" marB="2857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600" dirty="0">
                          <a:effectLst/>
                        </a:rPr>
                        <a:t>20 Oct 2025</a:t>
                      </a:r>
                      <a:endParaRPr lang="en-AU" sz="2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8575" marR="28575" marT="28575" marB="28575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600" dirty="0">
                          <a:effectLst/>
                        </a:rPr>
                        <a:t>Seminar delivery (group 2)</a:t>
                      </a:r>
                      <a:endParaRPr lang="en-A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8575" marR="28575" marT="28575" marB="28575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1705103"/>
                  </a:ext>
                </a:extLst>
              </a:tr>
              <a:tr h="2453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600">
                          <a:effectLst/>
                        </a:rPr>
                        <a:t>13</a:t>
                      </a:r>
                      <a:endParaRPr lang="en-AU" sz="2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8575" marR="28575" marT="28575" marB="2857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600" dirty="0">
                          <a:effectLst/>
                        </a:rPr>
                        <a:t>27 Oct 2025</a:t>
                      </a:r>
                      <a:endParaRPr lang="en-AU" sz="2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8575" marR="28575" marT="28575" marB="28575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600" dirty="0">
                          <a:effectLst/>
                        </a:rPr>
                        <a:t>Quiz 2 (covering lectures 14–26)</a:t>
                      </a:r>
                      <a:endParaRPr lang="en-A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8575" marR="28575" marT="28575" marB="28575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6967617"/>
                  </a:ext>
                </a:extLst>
              </a:tr>
              <a:tr h="2453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600" dirty="0">
                          <a:effectLst/>
                        </a:rPr>
                        <a:t> </a:t>
                      </a:r>
                      <a:endParaRPr lang="en-AU" sz="2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8575" marR="28575" marT="28575" marB="28575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600" dirty="0">
                          <a:effectLst/>
                        </a:rPr>
                        <a:t>03 Nov 2025</a:t>
                      </a:r>
                      <a:endParaRPr lang="en-AU" sz="2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8575" marR="28575" marT="28575" marB="28575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600">
                          <a:effectLst/>
                        </a:rPr>
                        <a:t>Study Recess</a:t>
                      </a:r>
                      <a:endParaRPr lang="en-AU" sz="2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8575" marR="28575" marT="28575" marB="28575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1942"/>
                  </a:ext>
                </a:extLst>
              </a:tr>
              <a:tr h="2453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600">
                          <a:effectLst/>
                        </a:rPr>
                        <a:t> </a:t>
                      </a:r>
                      <a:endParaRPr lang="en-AU" sz="2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8575" marR="28575" marT="28575" marB="28575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600" dirty="0">
                          <a:effectLst/>
                        </a:rPr>
                        <a:t>08 Nov 2025</a:t>
                      </a:r>
                      <a:endParaRPr lang="en-AU" sz="2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8575" marR="28575" marT="28575" marB="28575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600" dirty="0">
                          <a:effectLst/>
                        </a:rPr>
                        <a:t>Examinations</a:t>
                      </a:r>
                      <a:endParaRPr lang="en-AU" sz="2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8575" marR="28575" marT="28575" marB="28575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164639"/>
                  </a:ext>
                </a:extLst>
              </a:tr>
              <a:tr h="2453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600">
                          <a:effectLst/>
                        </a:rPr>
                        <a:t> </a:t>
                      </a:r>
                      <a:endParaRPr lang="en-AU" sz="2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8575" marR="28575" marT="28575" marB="28575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600">
                          <a:effectLst/>
                        </a:rPr>
                        <a:t>15 Nov 2025</a:t>
                      </a:r>
                      <a:endParaRPr lang="en-AU" sz="2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8575" marR="28575" marT="28575" marB="28575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600" dirty="0">
                          <a:effectLst/>
                        </a:rPr>
                        <a:t>Examinations</a:t>
                      </a:r>
                      <a:endParaRPr lang="en-AU" sz="2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8575" marR="28575" marT="28575" marB="28575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835625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 txBox="1">
            <a:spLocks/>
          </p:cNvSpPr>
          <p:nvPr/>
        </p:nvSpPr>
        <p:spPr>
          <a:xfrm>
            <a:off x="0" y="0"/>
            <a:ext cx="9144000" cy="908719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rmAutofit fontScale="97500"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4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+mj-lt"/>
                <a:ea typeface="+mj-ea"/>
                <a:cs typeface="+mj-cs"/>
              </a:rPr>
              <a:t>Phylogenetics module</a:t>
            </a:r>
          </a:p>
        </p:txBody>
      </p:sp>
      <p:sp>
        <p:nvSpPr>
          <p:cNvPr id="2" name="AutoShape 2" descr="Illawarra Birders Publications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/>
          </a:p>
        </p:txBody>
      </p:sp>
      <p:sp>
        <p:nvSpPr>
          <p:cNvPr id="3" name="AutoShape 4" descr="Illawarra Birders Publications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147B3F1-A27B-EC86-CD6B-A1A7DFA16C77}"/>
              </a:ext>
            </a:extLst>
          </p:cNvPr>
          <p:cNvSpPr txBox="1"/>
          <p:nvPr/>
        </p:nvSpPr>
        <p:spPr>
          <a:xfrm>
            <a:off x="971600" y="1772816"/>
            <a:ext cx="4891056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Tx/>
              <a:buChar char="-"/>
            </a:pPr>
            <a:r>
              <a:rPr lang="en-AU" sz="2800" dirty="0"/>
              <a:t> Four-week module</a:t>
            </a:r>
          </a:p>
          <a:p>
            <a:endParaRPr lang="en-AU" sz="2800" dirty="0"/>
          </a:p>
          <a:p>
            <a:pPr>
              <a:buFontTx/>
              <a:buChar char="-"/>
            </a:pPr>
            <a:r>
              <a:rPr lang="en-AU" sz="2800" dirty="0"/>
              <a:t> Tied to an assessment task</a:t>
            </a:r>
          </a:p>
          <a:p>
            <a:endParaRPr lang="en-AU" sz="2800" dirty="0"/>
          </a:p>
          <a:p>
            <a:pPr>
              <a:buFontTx/>
              <a:buChar char="-"/>
            </a:pPr>
            <a:r>
              <a:rPr lang="en-AU" sz="2800" dirty="0"/>
              <a:t>You will present grant proposal (phylogeny + 1,200 words)</a:t>
            </a:r>
          </a:p>
          <a:p>
            <a:endParaRPr lang="en-AU" sz="2800" dirty="0"/>
          </a:p>
          <a:p>
            <a:pPr>
              <a:buFontTx/>
              <a:buChar char="-"/>
            </a:pPr>
            <a:r>
              <a:rPr lang="en-AU" sz="2800" dirty="0"/>
              <a:t>Worth 20%</a:t>
            </a:r>
          </a:p>
          <a:p>
            <a:endParaRPr lang="en-AU" sz="2800" dirty="0"/>
          </a:p>
          <a:p>
            <a:pPr>
              <a:buFontTx/>
              <a:buChar char="-"/>
            </a:pPr>
            <a:endParaRPr lang="en-AU" sz="2000" dirty="0"/>
          </a:p>
          <a:p>
            <a:pPr>
              <a:buFontTx/>
              <a:buChar char="-"/>
            </a:pPr>
            <a:endParaRPr lang="en-AU" sz="2000" dirty="0"/>
          </a:p>
          <a:p>
            <a:pPr>
              <a:buFontTx/>
              <a:buChar char="-"/>
            </a:pPr>
            <a:endParaRPr lang="en-AU" sz="2000" dirty="0"/>
          </a:p>
        </p:txBody>
      </p:sp>
    </p:spTree>
    <p:extLst>
      <p:ext uri="{BB962C8B-B14F-4D97-AF65-F5344CB8AC3E}">
        <p14:creationId xmlns:p14="http://schemas.microsoft.com/office/powerpoint/2010/main" val="24770079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 txBox="1">
            <a:spLocks/>
          </p:cNvSpPr>
          <p:nvPr/>
        </p:nvSpPr>
        <p:spPr>
          <a:xfrm>
            <a:off x="0" y="0"/>
            <a:ext cx="9144000" cy="908719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rmAutofit fontScale="97500"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4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+mj-lt"/>
                <a:ea typeface="+mj-ea"/>
                <a:cs typeface="+mj-cs"/>
              </a:rPr>
              <a:t>What </a:t>
            </a:r>
            <a:r>
              <a:rPr lang="en-AU" sz="4400" dirty="0">
                <a:latin typeface="+mj-lt"/>
                <a:ea typeface="+mj-ea"/>
                <a:cs typeface="+mj-cs"/>
              </a:rPr>
              <a:t>are phylogenies?</a:t>
            </a:r>
            <a:endParaRPr kumimoji="0" lang="en-AU" sz="44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2" name="AutoShape 2" descr="Illawarra Birders Publications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/>
          </a:p>
        </p:txBody>
      </p:sp>
      <p:sp>
        <p:nvSpPr>
          <p:cNvPr id="3" name="AutoShape 4" descr="Illawarra Birders Publications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147B3F1-A27B-EC86-CD6B-A1A7DFA16C77}"/>
              </a:ext>
            </a:extLst>
          </p:cNvPr>
          <p:cNvSpPr txBox="1"/>
          <p:nvPr/>
        </p:nvSpPr>
        <p:spPr>
          <a:xfrm>
            <a:off x="971600" y="1772816"/>
            <a:ext cx="5400600" cy="44627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Tx/>
              <a:buChar char="-"/>
            </a:pPr>
            <a:r>
              <a:rPr lang="en-AU" sz="2800" dirty="0"/>
              <a:t> Phylogenies are a representation of [possible] evolutionary patterns</a:t>
            </a:r>
          </a:p>
          <a:p>
            <a:pPr lvl="1">
              <a:buFontTx/>
              <a:buChar char="-"/>
            </a:pPr>
            <a:r>
              <a:rPr lang="en-AU" sz="2800" dirty="0"/>
              <a:t>Genetic data</a:t>
            </a:r>
          </a:p>
          <a:p>
            <a:pPr lvl="1">
              <a:buFontTx/>
              <a:buChar char="-"/>
            </a:pPr>
            <a:r>
              <a:rPr lang="en-AU" sz="2800" dirty="0"/>
              <a:t>Amino acids</a:t>
            </a:r>
          </a:p>
          <a:p>
            <a:pPr lvl="1">
              <a:buFontTx/>
              <a:buChar char="-"/>
            </a:pPr>
            <a:r>
              <a:rPr lang="en-AU" sz="2800" dirty="0"/>
              <a:t>Morphology</a:t>
            </a:r>
          </a:p>
          <a:p>
            <a:pPr>
              <a:buFontTx/>
              <a:buChar char="-"/>
            </a:pPr>
            <a:r>
              <a:rPr lang="en-AU" sz="2800" dirty="0"/>
              <a:t>Rooted or unrooted</a:t>
            </a:r>
          </a:p>
          <a:p>
            <a:pPr lvl="1">
              <a:buFontTx/>
              <a:buChar char="-"/>
            </a:pPr>
            <a:r>
              <a:rPr lang="en-AU" sz="2800" dirty="0"/>
              <a:t>outgroup</a:t>
            </a:r>
          </a:p>
          <a:p>
            <a:endParaRPr lang="en-AU" sz="2800" dirty="0"/>
          </a:p>
          <a:p>
            <a:pPr>
              <a:buFontTx/>
              <a:buChar char="-"/>
            </a:pPr>
            <a:endParaRPr lang="en-AU" sz="2000" dirty="0"/>
          </a:p>
          <a:p>
            <a:pPr>
              <a:buFontTx/>
              <a:buChar char="-"/>
            </a:pPr>
            <a:endParaRPr lang="en-AU" sz="2000" dirty="0"/>
          </a:p>
          <a:p>
            <a:pPr>
              <a:buFontTx/>
              <a:buChar char="-"/>
            </a:pPr>
            <a:endParaRPr lang="en-AU" sz="2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87D38CC-8849-5B35-63FE-37CEEDE2E0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8184" y="1779087"/>
            <a:ext cx="2376264" cy="4279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60636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 txBox="1">
            <a:spLocks/>
          </p:cNvSpPr>
          <p:nvPr/>
        </p:nvSpPr>
        <p:spPr>
          <a:xfrm>
            <a:off x="0" y="0"/>
            <a:ext cx="9144000" cy="908719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rmAutofit fontScale="97500"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4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+mj-lt"/>
                <a:ea typeface="+mj-ea"/>
                <a:cs typeface="+mj-cs"/>
              </a:rPr>
              <a:t>I’m an ecologist…</a:t>
            </a:r>
          </a:p>
        </p:txBody>
      </p:sp>
      <p:sp>
        <p:nvSpPr>
          <p:cNvPr id="2" name="AutoShape 2" descr="Illawarra Birders Publications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/>
          </a:p>
        </p:txBody>
      </p:sp>
      <p:sp>
        <p:nvSpPr>
          <p:cNvPr id="3" name="AutoShape 4" descr="Illawarra Birders Publications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B75C046-5C3A-7CAE-AEAD-9E57BD112A93}"/>
              </a:ext>
            </a:extLst>
          </p:cNvPr>
          <p:cNvSpPr txBox="1"/>
          <p:nvPr/>
        </p:nvSpPr>
        <p:spPr>
          <a:xfrm>
            <a:off x="971600" y="1772816"/>
            <a:ext cx="5400600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Tx/>
              <a:buChar char="-"/>
            </a:pPr>
            <a:r>
              <a:rPr lang="en-AU" sz="2800" dirty="0"/>
              <a:t> Evolution is ecology</a:t>
            </a:r>
          </a:p>
          <a:p>
            <a:pPr lvl="1">
              <a:buFontTx/>
              <a:buChar char="-"/>
            </a:pPr>
            <a:r>
              <a:rPr lang="en-AU" sz="2800" dirty="0"/>
              <a:t>Over a longer time period</a:t>
            </a:r>
          </a:p>
          <a:p>
            <a:pPr lvl="1">
              <a:buFontTx/>
              <a:buChar char="-"/>
            </a:pPr>
            <a:r>
              <a:rPr lang="en-AU" sz="2800" dirty="0"/>
              <a:t>Answer questions that you cannot with classical ecological inquiry  </a:t>
            </a:r>
          </a:p>
          <a:p>
            <a:endParaRPr lang="en-AU" sz="2800" dirty="0"/>
          </a:p>
          <a:p>
            <a:pPr>
              <a:buFontTx/>
              <a:buChar char="-"/>
            </a:pPr>
            <a:endParaRPr lang="en-AU" sz="2000" dirty="0"/>
          </a:p>
          <a:p>
            <a:pPr>
              <a:buFontTx/>
              <a:buChar char="-"/>
            </a:pPr>
            <a:endParaRPr lang="en-AU" sz="2000" dirty="0"/>
          </a:p>
          <a:p>
            <a:pPr>
              <a:buFontTx/>
              <a:buChar char="-"/>
            </a:pPr>
            <a:endParaRPr lang="en-AU" sz="2000" dirty="0"/>
          </a:p>
        </p:txBody>
      </p:sp>
      <p:pic>
        <p:nvPicPr>
          <p:cNvPr id="8" name="Picture 7" descr="A close-up of a lizard&#10;&#10;Description automatically generated">
            <a:extLst>
              <a:ext uri="{FF2B5EF4-FFF2-40B4-BE49-F238E27FC236}">
                <a16:creationId xmlns:a16="http://schemas.microsoft.com/office/drawing/2014/main" id="{0B79F741-FEBC-44DD-E2A0-A4D74665FD2B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5579720" flipH="1" flipV="1">
            <a:off x="6806146" y="647629"/>
            <a:ext cx="1577399" cy="2366099"/>
          </a:xfrm>
          <a:prstGeom prst="rect">
            <a:avLst/>
          </a:prstGeom>
        </p:spPr>
      </p:pic>
      <p:pic>
        <p:nvPicPr>
          <p:cNvPr id="10" name="Picture 9" descr="A close-up of a lizard&#10;&#10;Description automatically generated">
            <a:extLst>
              <a:ext uri="{FF2B5EF4-FFF2-40B4-BE49-F238E27FC236}">
                <a16:creationId xmlns:a16="http://schemas.microsoft.com/office/drawing/2014/main" id="{E5AD1B37-A8FB-956B-6138-27F4EA2AC00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20442573">
            <a:off x="1385" y="4828979"/>
            <a:ext cx="2577357" cy="1719410"/>
          </a:xfrm>
          <a:prstGeom prst="rect">
            <a:avLst/>
          </a:prstGeom>
        </p:spPr>
      </p:pic>
      <p:pic>
        <p:nvPicPr>
          <p:cNvPr id="11" name="Picture 10" descr="A close-up of a lizard&#10;&#10;Description automatically generated">
            <a:extLst>
              <a:ext uri="{FF2B5EF4-FFF2-40B4-BE49-F238E27FC236}">
                <a16:creationId xmlns:a16="http://schemas.microsoft.com/office/drawing/2014/main" id="{DE7BF385-07B5-61B5-7479-45F1C65A02D6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flipV="1">
            <a:off x="6146078" y="4797152"/>
            <a:ext cx="2795662" cy="18651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92541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 txBox="1">
            <a:spLocks/>
          </p:cNvSpPr>
          <p:nvPr/>
        </p:nvSpPr>
        <p:spPr>
          <a:xfrm>
            <a:off x="0" y="0"/>
            <a:ext cx="9144000" cy="908719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rmAutofit fontScale="97500"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4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+mj-lt"/>
                <a:ea typeface="+mj-ea"/>
                <a:cs typeface="+mj-cs"/>
              </a:rPr>
              <a:t>Example: Fijian </a:t>
            </a:r>
            <a:r>
              <a:rPr kumimoji="0" lang="en-AU" sz="4400" b="0" i="1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+mj-lt"/>
                <a:ea typeface="+mj-ea"/>
                <a:cs typeface="+mj-cs"/>
              </a:rPr>
              <a:t>Lasioglossum</a:t>
            </a:r>
            <a:r>
              <a:rPr kumimoji="0" lang="en-AU" sz="4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+mj-lt"/>
                <a:ea typeface="+mj-ea"/>
                <a:cs typeface="+mj-cs"/>
              </a:rPr>
              <a:t> bees</a:t>
            </a:r>
          </a:p>
        </p:txBody>
      </p:sp>
      <p:sp>
        <p:nvSpPr>
          <p:cNvPr id="2" name="AutoShape 2" descr="Illawarra Birders Publications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/>
          </a:p>
        </p:txBody>
      </p:sp>
      <p:sp>
        <p:nvSpPr>
          <p:cNvPr id="3" name="AutoShape 4" descr="Illawarra Birders Publications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B75C046-5C3A-7CAE-AEAD-9E57BD112A93}"/>
              </a:ext>
            </a:extLst>
          </p:cNvPr>
          <p:cNvSpPr txBox="1"/>
          <p:nvPr/>
        </p:nvSpPr>
        <p:spPr>
          <a:xfrm>
            <a:off x="971600" y="1772816"/>
            <a:ext cx="5400600" cy="18774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Tx/>
              <a:buChar char="-"/>
            </a:pPr>
            <a:r>
              <a:rPr lang="en-AU" sz="2800" dirty="0"/>
              <a:t> Describe new species</a:t>
            </a:r>
          </a:p>
          <a:p>
            <a:endParaRPr lang="en-AU" sz="2800" dirty="0"/>
          </a:p>
          <a:p>
            <a:pPr>
              <a:buFontTx/>
              <a:buChar char="-"/>
            </a:pPr>
            <a:endParaRPr lang="en-AU" sz="2000" dirty="0"/>
          </a:p>
          <a:p>
            <a:pPr>
              <a:buFontTx/>
              <a:buChar char="-"/>
            </a:pPr>
            <a:endParaRPr lang="en-AU" sz="2000" dirty="0"/>
          </a:p>
          <a:p>
            <a:pPr>
              <a:buFontTx/>
              <a:buChar char="-"/>
            </a:pPr>
            <a:endParaRPr lang="en-AU" sz="2000" dirty="0"/>
          </a:p>
        </p:txBody>
      </p:sp>
      <p:pic>
        <p:nvPicPr>
          <p:cNvPr id="9" name="Picture 8" descr="A close up of a bee&#10;&#10;Description automatically generated">
            <a:extLst>
              <a:ext uri="{FF2B5EF4-FFF2-40B4-BE49-F238E27FC236}">
                <a16:creationId xmlns:a16="http://schemas.microsoft.com/office/drawing/2014/main" id="{B27E086A-C239-E1C5-8491-6CE0D457593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688233" y="2819603"/>
            <a:ext cx="3160567" cy="2016224"/>
          </a:xfrm>
          <a:prstGeom prst="rect">
            <a:avLst/>
          </a:prstGeom>
        </p:spPr>
      </p:pic>
      <p:pic>
        <p:nvPicPr>
          <p:cNvPr id="13" name="Picture 12" descr="A close up of a bee&#10;&#10;Description automatically generated">
            <a:extLst>
              <a:ext uri="{FF2B5EF4-FFF2-40B4-BE49-F238E27FC236}">
                <a16:creationId xmlns:a16="http://schemas.microsoft.com/office/drawing/2014/main" id="{29C6FEB1-C25D-D84D-E109-E2B32F744F26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flipH="1">
            <a:off x="0" y="4797152"/>
            <a:ext cx="3823593" cy="1734548"/>
          </a:xfrm>
          <a:prstGeom prst="rect">
            <a:avLst/>
          </a:prstGeom>
        </p:spPr>
      </p:pic>
      <p:pic>
        <p:nvPicPr>
          <p:cNvPr id="15" name="Picture 14" descr="A screenshot of a computer screen&#10;&#10;Description automatically generated">
            <a:extLst>
              <a:ext uri="{FF2B5EF4-FFF2-40B4-BE49-F238E27FC236}">
                <a16:creationId xmlns:a16="http://schemas.microsoft.com/office/drawing/2014/main" id="{821E1887-F960-8EC1-4B17-221300845618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54521" y="1053182"/>
            <a:ext cx="3089479" cy="58048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68177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 txBox="1">
            <a:spLocks/>
          </p:cNvSpPr>
          <p:nvPr/>
        </p:nvSpPr>
        <p:spPr>
          <a:xfrm>
            <a:off x="0" y="0"/>
            <a:ext cx="9144000" cy="908719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rmAutofit fontScale="97500"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4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+mj-lt"/>
                <a:ea typeface="+mj-ea"/>
                <a:cs typeface="+mj-cs"/>
              </a:rPr>
              <a:t>Example: Fijian </a:t>
            </a:r>
            <a:r>
              <a:rPr kumimoji="0" lang="en-AU" sz="4400" b="0" i="1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+mj-lt"/>
                <a:ea typeface="+mj-ea"/>
                <a:cs typeface="+mj-cs"/>
              </a:rPr>
              <a:t>Lasioglossum</a:t>
            </a:r>
            <a:r>
              <a:rPr kumimoji="0" lang="en-AU" sz="4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+mj-lt"/>
                <a:ea typeface="+mj-ea"/>
                <a:cs typeface="+mj-cs"/>
              </a:rPr>
              <a:t> bees</a:t>
            </a:r>
          </a:p>
        </p:txBody>
      </p:sp>
      <p:sp>
        <p:nvSpPr>
          <p:cNvPr id="2" name="AutoShape 2" descr="Illawarra Birders Publications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/>
          </a:p>
        </p:txBody>
      </p:sp>
      <p:sp>
        <p:nvSpPr>
          <p:cNvPr id="3" name="AutoShape 4" descr="Illawarra Birders Publications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B75C046-5C3A-7CAE-AEAD-9E57BD112A93}"/>
              </a:ext>
            </a:extLst>
          </p:cNvPr>
          <p:cNvSpPr txBox="1"/>
          <p:nvPr/>
        </p:nvSpPr>
        <p:spPr>
          <a:xfrm>
            <a:off x="971600" y="1772816"/>
            <a:ext cx="5400600" cy="18774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Tx/>
              <a:buChar char="-"/>
            </a:pPr>
            <a:r>
              <a:rPr lang="en-AU" sz="2800" dirty="0"/>
              <a:t> Infer traits &amp; biogeography</a:t>
            </a:r>
          </a:p>
          <a:p>
            <a:endParaRPr lang="en-AU" sz="2800" dirty="0"/>
          </a:p>
          <a:p>
            <a:pPr>
              <a:buFontTx/>
              <a:buChar char="-"/>
            </a:pPr>
            <a:endParaRPr lang="en-AU" sz="2000" dirty="0"/>
          </a:p>
          <a:p>
            <a:pPr>
              <a:buFontTx/>
              <a:buChar char="-"/>
            </a:pPr>
            <a:endParaRPr lang="en-AU" sz="2000" dirty="0"/>
          </a:p>
          <a:p>
            <a:pPr>
              <a:buFontTx/>
              <a:buChar char="-"/>
            </a:pPr>
            <a:endParaRPr lang="en-AU" sz="2000" dirty="0"/>
          </a:p>
        </p:txBody>
      </p:sp>
      <p:pic>
        <p:nvPicPr>
          <p:cNvPr id="5" name="Picture 4" descr="A close up of a bee&#10;&#10;Description automatically generated">
            <a:extLst>
              <a:ext uri="{FF2B5EF4-FFF2-40B4-BE49-F238E27FC236}">
                <a16:creationId xmlns:a16="http://schemas.microsoft.com/office/drawing/2014/main" id="{7DEE601C-1A4A-2D8D-8B8C-345E86BBA9D8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688233" y="2819603"/>
            <a:ext cx="3160567" cy="2016224"/>
          </a:xfrm>
          <a:prstGeom prst="rect">
            <a:avLst/>
          </a:prstGeom>
        </p:spPr>
      </p:pic>
      <p:pic>
        <p:nvPicPr>
          <p:cNvPr id="8" name="Picture 7" descr="A close up of a bee&#10;&#10;Description automatically generated">
            <a:extLst>
              <a:ext uri="{FF2B5EF4-FFF2-40B4-BE49-F238E27FC236}">
                <a16:creationId xmlns:a16="http://schemas.microsoft.com/office/drawing/2014/main" id="{2C22CA92-8246-A633-12AF-1026A0DD82A6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flipH="1">
            <a:off x="0" y="4797152"/>
            <a:ext cx="3823593" cy="173454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12BEA82-6F96-3148-3769-97D5482E72C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0409" y="1658574"/>
            <a:ext cx="4082317" cy="4338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71980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 txBox="1">
            <a:spLocks/>
          </p:cNvSpPr>
          <p:nvPr/>
        </p:nvSpPr>
        <p:spPr>
          <a:xfrm>
            <a:off x="0" y="0"/>
            <a:ext cx="9144000" cy="908719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rmAutofit fontScale="97500"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4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+mj-lt"/>
                <a:ea typeface="+mj-ea"/>
                <a:cs typeface="+mj-cs"/>
              </a:rPr>
              <a:t>Example: Fijian </a:t>
            </a:r>
            <a:r>
              <a:rPr kumimoji="0" lang="en-AU" sz="4400" b="0" i="1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+mj-lt"/>
                <a:ea typeface="+mj-ea"/>
                <a:cs typeface="+mj-cs"/>
              </a:rPr>
              <a:t>Lasioglossum</a:t>
            </a:r>
            <a:r>
              <a:rPr kumimoji="0" lang="en-AU" sz="4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+mj-lt"/>
                <a:ea typeface="+mj-ea"/>
                <a:cs typeface="+mj-cs"/>
              </a:rPr>
              <a:t> bees</a:t>
            </a:r>
          </a:p>
        </p:txBody>
      </p:sp>
      <p:sp>
        <p:nvSpPr>
          <p:cNvPr id="2" name="AutoShape 2" descr="Illawarra Birders Publications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/>
          </a:p>
        </p:txBody>
      </p:sp>
      <p:sp>
        <p:nvSpPr>
          <p:cNvPr id="3" name="AutoShape 4" descr="Illawarra Birders Publications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B75C046-5C3A-7CAE-AEAD-9E57BD112A93}"/>
              </a:ext>
            </a:extLst>
          </p:cNvPr>
          <p:cNvSpPr txBox="1"/>
          <p:nvPr/>
        </p:nvSpPr>
        <p:spPr>
          <a:xfrm>
            <a:off x="971600" y="1772816"/>
            <a:ext cx="5400600" cy="18774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Tx/>
              <a:buChar char="-"/>
            </a:pPr>
            <a:r>
              <a:rPr lang="en-AU" sz="2800" dirty="0"/>
              <a:t> Infer traits &amp; biogeography</a:t>
            </a:r>
          </a:p>
          <a:p>
            <a:endParaRPr lang="en-AU" sz="2800" dirty="0"/>
          </a:p>
          <a:p>
            <a:pPr>
              <a:buFontTx/>
              <a:buChar char="-"/>
            </a:pPr>
            <a:endParaRPr lang="en-AU" sz="2000" dirty="0"/>
          </a:p>
          <a:p>
            <a:pPr>
              <a:buFontTx/>
              <a:buChar char="-"/>
            </a:pPr>
            <a:endParaRPr lang="en-AU" sz="2000" dirty="0"/>
          </a:p>
          <a:p>
            <a:pPr>
              <a:buFontTx/>
              <a:buChar char="-"/>
            </a:pPr>
            <a:endParaRPr lang="en-AU" sz="2000" dirty="0"/>
          </a:p>
        </p:txBody>
      </p:sp>
      <p:pic>
        <p:nvPicPr>
          <p:cNvPr id="5" name="Picture 4" descr="A close up of a bee&#10;&#10;Description automatically generated">
            <a:extLst>
              <a:ext uri="{FF2B5EF4-FFF2-40B4-BE49-F238E27FC236}">
                <a16:creationId xmlns:a16="http://schemas.microsoft.com/office/drawing/2014/main" id="{7DEE601C-1A4A-2D8D-8B8C-345E86BBA9D8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807181" y="2601083"/>
            <a:ext cx="3160567" cy="2016224"/>
          </a:xfrm>
          <a:prstGeom prst="rect">
            <a:avLst/>
          </a:prstGeom>
        </p:spPr>
      </p:pic>
      <p:pic>
        <p:nvPicPr>
          <p:cNvPr id="8" name="Picture 7" descr="A close up of a bee&#10;&#10;Description automatically generated">
            <a:extLst>
              <a:ext uri="{FF2B5EF4-FFF2-40B4-BE49-F238E27FC236}">
                <a16:creationId xmlns:a16="http://schemas.microsoft.com/office/drawing/2014/main" id="{2C22CA92-8246-A633-12AF-1026A0DD82A6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flipH="1">
            <a:off x="0" y="4797152"/>
            <a:ext cx="3823593" cy="173454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EA849E9-F27F-F3F1-4FEA-3E286C6A357E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55275" y="2294476"/>
            <a:ext cx="4188725" cy="4563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59886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 txBox="1">
            <a:spLocks/>
          </p:cNvSpPr>
          <p:nvPr/>
        </p:nvSpPr>
        <p:spPr>
          <a:xfrm>
            <a:off x="0" y="0"/>
            <a:ext cx="9144000" cy="908719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rmAutofit fontScale="97500"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4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+mj-lt"/>
                <a:ea typeface="+mj-ea"/>
                <a:cs typeface="+mj-cs"/>
              </a:rPr>
              <a:t>Example: Fijian </a:t>
            </a:r>
            <a:r>
              <a:rPr kumimoji="0" lang="en-AU" sz="4400" b="0" i="1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+mj-lt"/>
                <a:ea typeface="+mj-ea"/>
                <a:cs typeface="+mj-cs"/>
              </a:rPr>
              <a:t>Lasioglossum</a:t>
            </a:r>
            <a:r>
              <a:rPr kumimoji="0" lang="en-AU" sz="4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+mj-lt"/>
                <a:ea typeface="+mj-ea"/>
                <a:cs typeface="+mj-cs"/>
              </a:rPr>
              <a:t> bees</a:t>
            </a:r>
          </a:p>
        </p:txBody>
      </p:sp>
      <p:sp>
        <p:nvSpPr>
          <p:cNvPr id="2" name="AutoShape 2" descr="Illawarra Birders Publications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/>
          </a:p>
        </p:txBody>
      </p:sp>
      <p:sp>
        <p:nvSpPr>
          <p:cNvPr id="3" name="AutoShape 4" descr="Illawarra Birders Publications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B75C046-5C3A-7CAE-AEAD-9E57BD112A93}"/>
              </a:ext>
            </a:extLst>
          </p:cNvPr>
          <p:cNvSpPr txBox="1"/>
          <p:nvPr/>
        </p:nvSpPr>
        <p:spPr>
          <a:xfrm>
            <a:off x="971600" y="1772816"/>
            <a:ext cx="5400600" cy="18774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Tx/>
              <a:buChar char="-"/>
            </a:pPr>
            <a:r>
              <a:rPr lang="en-AU" sz="2800" dirty="0"/>
              <a:t> Infer demographic changes</a:t>
            </a:r>
          </a:p>
          <a:p>
            <a:endParaRPr lang="en-AU" sz="2800" dirty="0"/>
          </a:p>
          <a:p>
            <a:pPr>
              <a:buFontTx/>
              <a:buChar char="-"/>
            </a:pPr>
            <a:endParaRPr lang="en-AU" sz="2000" dirty="0"/>
          </a:p>
          <a:p>
            <a:pPr>
              <a:buFontTx/>
              <a:buChar char="-"/>
            </a:pPr>
            <a:endParaRPr lang="en-AU" sz="2000" dirty="0"/>
          </a:p>
          <a:p>
            <a:pPr>
              <a:buFontTx/>
              <a:buChar char="-"/>
            </a:pPr>
            <a:endParaRPr lang="en-AU" sz="2000" dirty="0"/>
          </a:p>
        </p:txBody>
      </p:sp>
      <p:pic>
        <p:nvPicPr>
          <p:cNvPr id="4" name="Content Placeholder 6">
            <a:extLst>
              <a:ext uri="{FF2B5EF4-FFF2-40B4-BE49-F238E27FC236}">
                <a16:creationId xmlns:a16="http://schemas.microsoft.com/office/drawing/2014/main" id="{8C77DC3E-FD01-263A-54FB-3C5C6C129D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90607" y="2385502"/>
            <a:ext cx="8362785" cy="4257695"/>
          </a:xfrm>
          <a:prstGeom prst="rect">
            <a:avLst/>
          </a:prstGeom>
        </p:spPr>
      </p:pic>
      <p:pic>
        <p:nvPicPr>
          <p:cNvPr id="9" name="Picture 8" descr="A close up of a bee&#10;&#10;Description automatically generated">
            <a:extLst>
              <a:ext uri="{FF2B5EF4-FFF2-40B4-BE49-F238E27FC236}">
                <a16:creationId xmlns:a16="http://schemas.microsoft.com/office/drawing/2014/main" id="{19F3061C-C8D2-4873-EE19-6BBB1D9D8894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flipH="1">
            <a:off x="2075358" y="3284984"/>
            <a:ext cx="2323856" cy="1054202"/>
          </a:xfrm>
          <a:prstGeom prst="rect">
            <a:avLst/>
          </a:prstGeom>
        </p:spPr>
      </p:pic>
      <p:pic>
        <p:nvPicPr>
          <p:cNvPr id="10" name="Picture 9" descr="A close up of a bee&#10;&#10;Description automatically generated">
            <a:extLst>
              <a:ext uri="{FF2B5EF4-FFF2-40B4-BE49-F238E27FC236}">
                <a16:creationId xmlns:a16="http://schemas.microsoft.com/office/drawing/2014/main" id="{05C3D065-F406-131D-1D74-738FC2B92EEA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504895" y="3284984"/>
            <a:ext cx="2323856" cy="1054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60302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 txBox="1">
            <a:spLocks/>
          </p:cNvSpPr>
          <p:nvPr/>
        </p:nvSpPr>
        <p:spPr>
          <a:xfrm>
            <a:off x="0" y="0"/>
            <a:ext cx="9144000" cy="908719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rmAutofit fontScale="97500"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AU" sz="4400" b="1" dirty="0"/>
              <a:t>What will you be doing?</a:t>
            </a:r>
            <a:endParaRPr kumimoji="0" lang="en-AU" sz="44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2" name="AutoShape 2" descr="Illawarra Birders Publications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/>
          </a:p>
        </p:txBody>
      </p:sp>
      <p:sp>
        <p:nvSpPr>
          <p:cNvPr id="3" name="AutoShape 4" descr="Illawarra Birders Publications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B75C046-5C3A-7CAE-AEAD-9E57BD112A93}"/>
              </a:ext>
            </a:extLst>
          </p:cNvPr>
          <p:cNvSpPr txBox="1"/>
          <p:nvPr/>
        </p:nvSpPr>
        <p:spPr>
          <a:xfrm>
            <a:off x="171235" y="1268760"/>
            <a:ext cx="4025396" cy="66171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Tx/>
              <a:buChar char="-"/>
            </a:pPr>
            <a:r>
              <a:rPr lang="en-US" sz="2800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1. </a:t>
            </a:r>
            <a:r>
              <a:rPr lang="en-US" sz="2800" b="1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Activity:</a:t>
            </a:r>
            <a:r>
              <a:rPr lang="en-US" sz="2800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 Address a macroevolutionary question</a:t>
            </a:r>
          </a:p>
          <a:p>
            <a:pPr>
              <a:buFontTx/>
              <a:buChar char="-"/>
            </a:pPr>
            <a:endParaRPr lang="en-US" sz="2800" dirty="0">
              <a:solidFill>
                <a:srgbClr val="111111"/>
              </a:solidFill>
              <a:highlight>
                <a:srgbClr val="FFFFFF"/>
              </a:highlight>
              <a:latin typeface="+mj-lt"/>
            </a:endParaRPr>
          </a:p>
          <a:p>
            <a:pPr>
              <a:buFontTx/>
              <a:buChar char="-"/>
            </a:pPr>
            <a:r>
              <a:rPr lang="en-US" sz="2800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2. </a:t>
            </a:r>
            <a:r>
              <a:rPr lang="en-US" sz="2800" b="1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Aim:</a:t>
            </a:r>
            <a:r>
              <a:rPr lang="en-US" sz="2800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 2–3 </a:t>
            </a:r>
            <a:r>
              <a:rPr lang="en-US" sz="2800" dirty="0" err="1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pracs</a:t>
            </a:r>
            <a:r>
              <a:rPr lang="en-US" sz="2800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 learning about phylogenetics in </a:t>
            </a:r>
            <a:r>
              <a:rPr lang="en-AU" sz="2800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R</a:t>
            </a:r>
          </a:p>
          <a:p>
            <a:pPr>
              <a:buFontTx/>
              <a:buChar char="-"/>
            </a:pPr>
            <a:endParaRPr lang="en-AU" sz="2800" dirty="0">
              <a:solidFill>
                <a:srgbClr val="111111"/>
              </a:solidFill>
              <a:highlight>
                <a:srgbClr val="FFFFFF"/>
              </a:highlight>
              <a:latin typeface="+mj-lt"/>
            </a:endParaRPr>
          </a:p>
          <a:p>
            <a:r>
              <a:rPr lang="en-AU" sz="2800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-3 </a:t>
            </a:r>
            <a:r>
              <a:rPr lang="en-AU" sz="2800" b="1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Assessment: </a:t>
            </a:r>
            <a:r>
              <a:rPr lang="en-AU" sz="2800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Apply this knowledge to your question in a Grant Proposal (20%)</a:t>
            </a:r>
            <a:endParaRPr lang="en-AU" sz="2800" dirty="0"/>
          </a:p>
          <a:p>
            <a:endParaRPr lang="en-AU" sz="2800" dirty="0"/>
          </a:p>
          <a:p>
            <a:pPr>
              <a:buFontTx/>
              <a:buChar char="-"/>
            </a:pPr>
            <a:endParaRPr lang="en-AU" sz="2000" dirty="0"/>
          </a:p>
          <a:p>
            <a:pPr>
              <a:buFontTx/>
              <a:buChar char="-"/>
            </a:pPr>
            <a:endParaRPr lang="en-AU" sz="2000" dirty="0"/>
          </a:p>
          <a:p>
            <a:pPr>
              <a:buFontTx/>
              <a:buChar char="-"/>
            </a:pPr>
            <a:endParaRPr lang="en-AU" sz="20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A7A2181-8B10-31E3-AE56-800868353204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196631" y="908720"/>
            <a:ext cx="4947369" cy="59492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93118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 txBox="1">
            <a:spLocks/>
          </p:cNvSpPr>
          <p:nvPr/>
        </p:nvSpPr>
        <p:spPr>
          <a:xfrm>
            <a:off x="0" y="0"/>
            <a:ext cx="9144000" cy="908719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rmAutofit fontScale="97500"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AU" sz="4400" b="1" dirty="0"/>
              <a:t>Grant Proposal assessment</a:t>
            </a:r>
            <a:endParaRPr kumimoji="0" lang="en-AU" sz="44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2" name="AutoShape 2" descr="Illawarra Birders Publications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/>
          </a:p>
        </p:txBody>
      </p:sp>
      <p:sp>
        <p:nvSpPr>
          <p:cNvPr id="3" name="AutoShape 4" descr="Illawarra Birders Publications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B75C046-5C3A-7CAE-AEAD-9E57BD112A93}"/>
              </a:ext>
            </a:extLst>
          </p:cNvPr>
          <p:cNvSpPr txBox="1"/>
          <p:nvPr/>
        </p:nvSpPr>
        <p:spPr>
          <a:xfrm>
            <a:off x="171235" y="1268760"/>
            <a:ext cx="4025396" cy="66171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2800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In two parts:</a:t>
            </a:r>
          </a:p>
          <a:p>
            <a:pPr marL="514350" indent="-514350">
              <a:buFont typeface="+mj-lt"/>
              <a:buAutoNum type="arabicPeriod"/>
            </a:pPr>
            <a:r>
              <a:rPr lang="en-AU" sz="2800" b="1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Preliminary phylogeny (10%)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AU" sz="2800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Apply your R skills to answer a question</a:t>
            </a:r>
            <a:br>
              <a:rPr lang="en-AU" sz="2800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</a:br>
            <a:endParaRPr lang="en-AU" sz="2800" dirty="0">
              <a:solidFill>
                <a:srgbClr val="111111"/>
              </a:solidFill>
              <a:highlight>
                <a:srgbClr val="FFFFFF"/>
              </a:highlight>
              <a:latin typeface="+mj-lt"/>
            </a:endParaRPr>
          </a:p>
          <a:p>
            <a:pPr marL="514350" indent="-514350">
              <a:buFont typeface="+mj-lt"/>
              <a:buAutoNum type="arabicPeriod"/>
            </a:pPr>
            <a:r>
              <a:rPr lang="en-AU" sz="2800" b="1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Grant proposal (10%)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AU" sz="2800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Apply your writing skills to a grant</a:t>
            </a:r>
            <a:br>
              <a:rPr lang="en-AU" sz="2800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</a:br>
            <a:endParaRPr lang="en-AU" sz="2800" dirty="0">
              <a:solidFill>
                <a:srgbClr val="111111"/>
              </a:solidFill>
              <a:highlight>
                <a:srgbClr val="FFFFFF"/>
              </a:highlight>
              <a:latin typeface="+mj-lt"/>
            </a:endParaRPr>
          </a:p>
          <a:p>
            <a:endParaRPr lang="en-AU" sz="2800" dirty="0"/>
          </a:p>
          <a:p>
            <a:endParaRPr lang="en-AU" sz="2800" dirty="0"/>
          </a:p>
          <a:p>
            <a:pPr>
              <a:buFontTx/>
              <a:buChar char="-"/>
            </a:pPr>
            <a:endParaRPr lang="en-AU" sz="2000" dirty="0"/>
          </a:p>
          <a:p>
            <a:pPr>
              <a:buFontTx/>
              <a:buChar char="-"/>
            </a:pPr>
            <a:endParaRPr lang="en-AU" sz="2000" dirty="0"/>
          </a:p>
          <a:p>
            <a:pPr>
              <a:buFontTx/>
              <a:buChar char="-"/>
            </a:pPr>
            <a:endParaRPr lang="en-AU" sz="20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A7A2181-8B10-31E3-AE56-800868353204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196631" y="908720"/>
            <a:ext cx="4947369" cy="59492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00898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 txBox="1">
            <a:spLocks/>
          </p:cNvSpPr>
          <p:nvPr/>
        </p:nvSpPr>
        <p:spPr>
          <a:xfrm>
            <a:off x="0" y="0"/>
            <a:ext cx="9144000" cy="908719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rmAutofit fontScale="97500"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AU" sz="4400" b="1" dirty="0"/>
              <a:t>Grant Proposal assessment</a:t>
            </a:r>
            <a:endParaRPr kumimoji="0" lang="en-AU" sz="44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2" name="AutoShape 2" descr="Illawarra Birders Publications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/>
          </a:p>
        </p:txBody>
      </p:sp>
      <p:sp>
        <p:nvSpPr>
          <p:cNvPr id="3" name="AutoShape 4" descr="Illawarra Birders Publications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B75C046-5C3A-7CAE-AEAD-9E57BD112A93}"/>
              </a:ext>
            </a:extLst>
          </p:cNvPr>
          <p:cNvSpPr txBox="1"/>
          <p:nvPr/>
        </p:nvSpPr>
        <p:spPr>
          <a:xfrm>
            <a:off x="171235" y="1268760"/>
            <a:ext cx="4025396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2800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What is a grant proposal?</a:t>
            </a:r>
            <a:br>
              <a:rPr lang="en-AU" sz="2800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</a:br>
            <a:endParaRPr lang="en-AU" sz="2800" dirty="0">
              <a:solidFill>
                <a:srgbClr val="111111"/>
              </a:solidFill>
              <a:highlight>
                <a:srgbClr val="FFFFFF"/>
              </a:highlight>
              <a:latin typeface="+mj-lt"/>
            </a:endParaRPr>
          </a:p>
          <a:p>
            <a:pPr marL="514350" indent="-514350">
              <a:buFont typeface="Arial" panose="020B0604020202020204" pitchFamily="34" charset="0"/>
              <a:buChar char="•"/>
            </a:pPr>
            <a:r>
              <a:rPr lang="en-AU" sz="2800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Request project funds</a:t>
            </a:r>
          </a:p>
          <a:p>
            <a:pPr marL="514350" indent="-514350">
              <a:buFont typeface="Arial" panose="020B0604020202020204" pitchFamily="34" charset="0"/>
              <a:buChar char="•"/>
            </a:pPr>
            <a:r>
              <a:rPr lang="en-AU" sz="2800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Relevant in many fields</a:t>
            </a:r>
          </a:p>
          <a:p>
            <a:pPr marL="514350" indent="-514350">
              <a:buFont typeface="Arial" panose="020B0604020202020204" pitchFamily="34" charset="0"/>
              <a:buChar char="•"/>
            </a:pPr>
            <a:r>
              <a:rPr lang="en-AU" sz="2800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Requires:</a:t>
            </a:r>
          </a:p>
          <a:p>
            <a:pPr marL="971550" lvl="1" indent="-514350">
              <a:buFont typeface="Arial" panose="020B0604020202020204" pitchFamily="34" charset="0"/>
              <a:buChar char="•"/>
            </a:pPr>
            <a:r>
              <a:rPr lang="en-AU" sz="2800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Understanding priorities</a:t>
            </a:r>
          </a:p>
          <a:p>
            <a:pPr marL="971550" lvl="1" indent="-514350">
              <a:buFont typeface="Arial" panose="020B0604020202020204" pitchFamily="34" charset="0"/>
              <a:buChar char="•"/>
            </a:pPr>
            <a:r>
              <a:rPr lang="en-AU" sz="2800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Excellent writing</a:t>
            </a:r>
          </a:p>
          <a:p>
            <a:pPr marL="971550" lvl="1" indent="-514350">
              <a:buFont typeface="Arial" panose="020B0604020202020204" pitchFamily="34" charset="0"/>
              <a:buChar char="•"/>
            </a:pPr>
            <a:r>
              <a:rPr lang="en-AU" sz="2800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Evidence</a:t>
            </a:r>
          </a:p>
          <a:p>
            <a:pPr marL="971550" lvl="1" indent="-514350">
              <a:buFont typeface="Arial" panose="020B0604020202020204" pitchFamily="34" charset="0"/>
              <a:buChar char="•"/>
            </a:pPr>
            <a:r>
              <a:rPr lang="en-AU" sz="2800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Following guidelines</a:t>
            </a:r>
          </a:p>
          <a:p>
            <a:pPr marL="971550" lvl="1" indent="-514350">
              <a:buFont typeface="Arial" panose="020B0604020202020204" pitchFamily="34" charset="0"/>
              <a:buChar char="•"/>
            </a:pPr>
            <a:r>
              <a:rPr lang="en-AU" sz="2800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…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A7A2181-8B10-31E3-AE56-800868353204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196631" y="908720"/>
            <a:ext cx="4947369" cy="59492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57692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 txBox="1">
            <a:spLocks/>
          </p:cNvSpPr>
          <p:nvPr/>
        </p:nvSpPr>
        <p:spPr>
          <a:xfrm>
            <a:off x="0" y="0"/>
            <a:ext cx="9144000" cy="908719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rmAutofit fontScale="97500"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AU" sz="4400" b="1" dirty="0"/>
              <a:t>Grant Proposal assessment</a:t>
            </a:r>
            <a:endParaRPr kumimoji="0" lang="en-AU" sz="44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2" name="AutoShape 2" descr="Illawarra Birders Publications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/>
          </a:p>
        </p:txBody>
      </p:sp>
      <p:sp>
        <p:nvSpPr>
          <p:cNvPr id="3" name="AutoShape 4" descr="Illawarra Birders Publications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B75C046-5C3A-7CAE-AEAD-9E57BD112A93}"/>
              </a:ext>
            </a:extLst>
          </p:cNvPr>
          <p:cNvSpPr txBox="1"/>
          <p:nvPr/>
        </p:nvSpPr>
        <p:spPr>
          <a:xfrm>
            <a:off x="171235" y="1268760"/>
            <a:ext cx="4025396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2800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A last word on R…</a:t>
            </a:r>
            <a:br>
              <a:rPr lang="en-AU" sz="2800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</a:br>
            <a:endParaRPr lang="en-AU" sz="2800" dirty="0">
              <a:solidFill>
                <a:srgbClr val="111111"/>
              </a:solidFill>
              <a:highlight>
                <a:srgbClr val="FFFFFF"/>
              </a:highlight>
              <a:latin typeface="+mj-lt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AU" sz="2800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I don’t expect mastery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AU" sz="2800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Errors are totally fine (we want to help you deal with them)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AU" sz="2800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Not just phylogenetics or data manipulation — you are learning a language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AU" sz="2800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It’s a tool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A7A2181-8B10-31E3-AE56-800868353204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281" r="22281"/>
          <a:stretch/>
        </p:blipFill>
        <p:spPr>
          <a:xfrm flipH="1">
            <a:off x="4196631" y="908718"/>
            <a:ext cx="4947369" cy="59492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77558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 txBox="1">
            <a:spLocks/>
          </p:cNvSpPr>
          <p:nvPr/>
        </p:nvSpPr>
        <p:spPr>
          <a:xfrm>
            <a:off x="0" y="0"/>
            <a:ext cx="9144000" cy="908719"/>
          </a:xfrm>
          <a:prstGeom prst="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rmAutofit fontScale="97500"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4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+mj-lt"/>
                <a:ea typeface="+mj-ea"/>
                <a:cs typeface="+mj-cs"/>
              </a:rPr>
              <a:t>Conservation Behaviour module</a:t>
            </a:r>
          </a:p>
        </p:txBody>
      </p:sp>
      <p:sp>
        <p:nvSpPr>
          <p:cNvPr id="2" name="AutoShape 2" descr="Illawarra Birders Publications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/>
          </a:p>
        </p:txBody>
      </p:sp>
      <p:sp>
        <p:nvSpPr>
          <p:cNvPr id="3" name="AutoShape 4" descr="Illawarra Birders Publications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147B3F1-A27B-EC86-CD6B-A1A7DFA16C77}"/>
              </a:ext>
            </a:extLst>
          </p:cNvPr>
          <p:cNvSpPr txBox="1"/>
          <p:nvPr/>
        </p:nvSpPr>
        <p:spPr>
          <a:xfrm>
            <a:off x="155575" y="1700808"/>
            <a:ext cx="4891056" cy="53245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Tx/>
              <a:buChar char="-"/>
            </a:pPr>
            <a:r>
              <a:rPr lang="en-AU" sz="2800" dirty="0"/>
              <a:t> Four-week module.</a:t>
            </a:r>
          </a:p>
          <a:p>
            <a:endParaRPr lang="en-AU" sz="2800" dirty="0"/>
          </a:p>
          <a:p>
            <a:pPr>
              <a:buFontTx/>
              <a:buChar char="-"/>
            </a:pPr>
            <a:r>
              <a:rPr lang="en-AU" sz="2800" dirty="0"/>
              <a:t> Tied to an assessment task.</a:t>
            </a:r>
          </a:p>
          <a:p>
            <a:endParaRPr lang="en-AU" sz="2800" dirty="0"/>
          </a:p>
          <a:p>
            <a:pPr>
              <a:buFontTx/>
              <a:buChar char="-"/>
            </a:pPr>
            <a:r>
              <a:rPr lang="en-AU" sz="2800" dirty="0"/>
              <a:t>You will present an elevator pitch to the class (5 minute talk).</a:t>
            </a:r>
          </a:p>
          <a:p>
            <a:pPr>
              <a:buFontTx/>
              <a:buChar char="-"/>
            </a:pPr>
            <a:endParaRPr lang="en-AU" sz="2800" dirty="0"/>
          </a:p>
          <a:p>
            <a:pPr>
              <a:buFontTx/>
              <a:buChar char="-"/>
            </a:pPr>
            <a:r>
              <a:rPr lang="en-AU" sz="2800" dirty="0"/>
              <a:t>Worth 20%.</a:t>
            </a:r>
          </a:p>
          <a:p>
            <a:endParaRPr lang="en-AU" sz="2800" dirty="0"/>
          </a:p>
          <a:p>
            <a:pPr>
              <a:buFontTx/>
              <a:buChar char="-"/>
            </a:pPr>
            <a:endParaRPr lang="en-AU" sz="2000" dirty="0"/>
          </a:p>
          <a:p>
            <a:pPr>
              <a:buFontTx/>
              <a:buChar char="-"/>
            </a:pPr>
            <a:endParaRPr lang="en-AU" sz="2000" dirty="0"/>
          </a:p>
          <a:p>
            <a:pPr>
              <a:buFontTx/>
              <a:buChar char="-"/>
            </a:pPr>
            <a:endParaRPr lang="en-AU" sz="2000" dirty="0"/>
          </a:p>
        </p:txBody>
      </p:sp>
    </p:spTree>
    <p:extLst>
      <p:ext uri="{BB962C8B-B14F-4D97-AF65-F5344CB8AC3E}">
        <p14:creationId xmlns:p14="http://schemas.microsoft.com/office/powerpoint/2010/main" val="23039682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0" y="-69357"/>
            <a:ext cx="9144000" cy="646331"/>
          </a:xfrm>
          <a:prstGeom prst="rect">
            <a:avLst/>
          </a:prstGeom>
          <a:solidFill>
            <a:srgbClr val="00B050"/>
          </a:solidFill>
        </p:spPr>
        <p:txBody>
          <a:bodyPr wrap="square">
            <a:spAutoFit/>
          </a:bodyPr>
          <a:lstStyle/>
          <a:p>
            <a:r>
              <a:rPr lang="en-AU" sz="3600" b="1" dirty="0"/>
              <a:t>What is Conservation Behaviour?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391C667-AFF0-4848-4C28-5F28990C5AAF}"/>
              </a:ext>
            </a:extLst>
          </p:cNvPr>
          <p:cNvSpPr txBox="1"/>
          <p:nvPr/>
        </p:nvSpPr>
        <p:spPr>
          <a:xfrm>
            <a:off x="251520" y="1412776"/>
            <a:ext cx="3960440" cy="53245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Tx/>
              <a:buChar char="-"/>
            </a:pPr>
            <a:r>
              <a:rPr lang="en-US" sz="2800" b="1" i="1" dirty="0">
                <a:solidFill>
                  <a:srgbClr val="111111"/>
                </a:solidFill>
                <a:effectLst/>
                <a:highlight>
                  <a:srgbClr val="FFFFFF"/>
                </a:highlight>
                <a:latin typeface="+mj-lt"/>
              </a:rPr>
              <a:t>Conservation behavior </a:t>
            </a:r>
            <a:r>
              <a:rPr lang="en-US" sz="2800" b="0" i="0" dirty="0">
                <a:solidFill>
                  <a:srgbClr val="111111"/>
                </a:solidFill>
                <a:effectLst/>
                <a:highlight>
                  <a:srgbClr val="FFFFFF"/>
                </a:highlight>
                <a:latin typeface="+mj-lt"/>
              </a:rPr>
              <a:t>is a relatively new interdisciplinary field. </a:t>
            </a:r>
          </a:p>
          <a:p>
            <a:pPr>
              <a:buFontTx/>
              <a:buChar char="-"/>
            </a:pPr>
            <a:endParaRPr lang="en-US" sz="2800" dirty="0">
              <a:solidFill>
                <a:srgbClr val="111111"/>
              </a:solidFill>
              <a:highlight>
                <a:srgbClr val="FFFFFF"/>
              </a:highlight>
              <a:latin typeface="+mj-lt"/>
            </a:endParaRPr>
          </a:p>
          <a:p>
            <a:pPr>
              <a:buFontTx/>
              <a:buChar char="-"/>
            </a:pPr>
            <a:r>
              <a:rPr lang="en-US" sz="2800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A</a:t>
            </a:r>
            <a:r>
              <a:rPr lang="en-US" sz="2800" b="0" i="0" dirty="0">
                <a:solidFill>
                  <a:srgbClr val="111111"/>
                </a:solidFill>
                <a:effectLst/>
                <a:highlight>
                  <a:srgbClr val="FFFFFF"/>
                </a:highlight>
                <a:latin typeface="+mj-lt"/>
              </a:rPr>
              <a:t>imed at investigating how proximate and ultimate aspects of animal behavior can be of value in preventing the loss of biodiversity. </a:t>
            </a:r>
            <a:r>
              <a:rPr lang="en-AU" sz="2800" dirty="0">
                <a:latin typeface="+mj-lt"/>
              </a:rPr>
              <a:t>  </a:t>
            </a:r>
          </a:p>
          <a:p>
            <a:pPr>
              <a:buFontTx/>
              <a:buChar char="-"/>
            </a:pPr>
            <a:endParaRPr lang="en-AU" sz="2000" dirty="0"/>
          </a:p>
          <a:p>
            <a:pPr>
              <a:buFontTx/>
              <a:buChar char="-"/>
            </a:pPr>
            <a:endParaRPr lang="en-AU" sz="2000" dirty="0"/>
          </a:p>
          <a:p>
            <a:pPr>
              <a:buFontTx/>
              <a:buChar char="-"/>
            </a:pPr>
            <a:endParaRPr lang="en-AU" sz="2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9EEA3D4-C3F1-3A1B-944D-99DD791ACAF4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55976" y="1052736"/>
            <a:ext cx="4028615" cy="5445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46816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0" y="-69357"/>
            <a:ext cx="9144000" cy="646331"/>
          </a:xfrm>
          <a:prstGeom prst="rect">
            <a:avLst/>
          </a:prstGeom>
          <a:solidFill>
            <a:srgbClr val="00B050"/>
          </a:solidFill>
        </p:spPr>
        <p:txBody>
          <a:bodyPr wrap="square">
            <a:spAutoFit/>
          </a:bodyPr>
          <a:lstStyle/>
          <a:p>
            <a:r>
              <a:rPr lang="en-AU" sz="3600" b="1" dirty="0"/>
              <a:t>Conservation Behaviour Framework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391C667-AFF0-4848-4C28-5F28990C5AAF}"/>
              </a:ext>
            </a:extLst>
          </p:cNvPr>
          <p:cNvSpPr txBox="1"/>
          <p:nvPr/>
        </p:nvSpPr>
        <p:spPr>
          <a:xfrm>
            <a:off x="0" y="1196752"/>
            <a:ext cx="3563888" cy="55707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Tx/>
              <a:buChar char="-"/>
            </a:pPr>
            <a:r>
              <a:rPr lang="en-US" sz="2400" b="0" i="0" dirty="0">
                <a:solidFill>
                  <a:srgbClr val="111111"/>
                </a:solidFill>
                <a:effectLst/>
                <a:highlight>
                  <a:srgbClr val="FFFFFF"/>
                </a:highlight>
              </a:rPr>
              <a:t>The conservation behavior framework is composed of 3 basic interrelated conservation </a:t>
            </a:r>
            <a:r>
              <a:rPr lang="en-US" sz="2400" b="0" i="0" u="sng" dirty="0">
                <a:solidFill>
                  <a:srgbClr val="111111"/>
                </a:solidFill>
                <a:effectLst/>
                <a:highlight>
                  <a:srgbClr val="FFFFFF"/>
                </a:highlight>
              </a:rPr>
              <a:t>themes </a:t>
            </a:r>
          </a:p>
          <a:p>
            <a:pPr>
              <a:buFontTx/>
              <a:buChar char="-"/>
            </a:pPr>
            <a:endParaRPr lang="en-US" sz="2400" dirty="0">
              <a:solidFill>
                <a:srgbClr val="111111"/>
              </a:solidFill>
              <a:highlight>
                <a:srgbClr val="FFFFFF"/>
              </a:highlight>
            </a:endParaRPr>
          </a:p>
          <a:p>
            <a:pPr>
              <a:buFontTx/>
              <a:buChar char="-"/>
            </a:pPr>
            <a:r>
              <a:rPr lang="en-US" sz="2400" b="0" i="0" dirty="0">
                <a:solidFill>
                  <a:srgbClr val="111111"/>
                </a:solidFill>
                <a:effectLst/>
                <a:highlight>
                  <a:srgbClr val="FFFFFF"/>
                </a:highlight>
              </a:rPr>
              <a:t>The black arrows represent interactions between the conservation themes.</a:t>
            </a:r>
          </a:p>
          <a:p>
            <a:pPr>
              <a:buFontTx/>
              <a:buChar char="-"/>
            </a:pPr>
            <a:endParaRPr lang="en-US" sz="2400" dirty="0">
              <a:solidFill>
                <a:srgbClr val="111111"/>
              </a:solidFill>
              <a:highlight>
                <a:srgbClr val="FFFFFF"/>
              </a:highlight>
            </a:endParaRPr>
          </a:p>
          <a:p>
            <a:pPr>
              <a:buFontTx/>
              <a:buChar char="-"/>
            </a:pPr>
            <a:r>
              <a:rPr lang="en-US" sz="2400" b="0" i="0" dirty="0">
                <a:solidFill>
                  <a:srgbClr val="111111"/>
                </a:solidFill>
                <a:effectLst/>
                <a:highlight>
                  <a:srgbClr val="FFFFFF"/>
                </a:highlight>
              </a:rPr>
              <a:t> Gray arrows represent the pathways that connect each theme to the behavioral domains.</a:t>
            </a:r>
            <a:r>
              <a:rPr lang="en-AU" sz="2400" b="0" i="0" dirty="0">
                <a:solidFill>
                  <a:srgbClr val="111111"/>
                </a:solidFill>
                <a:effectLst/>
                <a:highlight>
                  <a:srgbClr val="FFFFFF"/>
                </a:highlight>
              </a:rPr>
              <a:t> </a:t>
            </a:r>
            <a:endParaRPr lang="en-AU" sz="2400" dirty="0"/>
          </a:p>
          <a:p>
            <a:pPr>
              <a:buFontTx/>
              <a:buChar char="-"/>
            </a:pPr>
            <a:endParaRPr lang="en-AU" sz="200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1CBB3A6-CAA5-301B-D8C6-0D60193370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7864" y="1520788"/>
            <a:ext cx="5672308" cy="3816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33546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0" y="-69357"/>
            <a:ext cx="9144000" cy="646331"/>
          </a:xfrm>
          <a:prstGeom prst="rect">
            <a:avLst/>
          </a:prstGeom>
          <a:solidFill>
            <a:srgbClr val="00B050"/>
          </a:solidFill>
        </p:spPr>
        <p:txBody>
          <a:bodyPr wrap="square">
            <a:spAutoFit/>
          </a:bodyPr>
          <a:lstStyle/>
          <a:p>
            <a:r>
              <a:rPr lang="en-AU" sz="3600" b="1" dirty="0"/>
              <a:t>Theme 1. Behaviour Based management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391C667-AFF0-4848-4C28-5F28990C5AAF}"/>
              </a:ext>
            </a:extLst>
          </p:cNvPr>
          <p:cNvSpPr txBox="1"/>
          <p:nvPr/>
        </p:nvSpPr>
        <p:spPr>
          <a:xfrm>
            <a:off x="0" y="576974"/>
            <a:ext cx="4427984" cy="62478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Tx/>
              <a:buChar char="-"/>
            </a:pPr>
            <a:r>
              <a:rPr lang="en-US" sz="2000" b="1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Concept: </a:t>
            </a:r>
            <a:r>
              <a:rPr lang="en-US" sz="2000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Manipulate environments to control </a:t>
            </a:r>
            <a:r>
              <a:rPr lang="en-US" sz="2000" dirty="0" err="1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behaviour</a:t>
            </a:r>
            <a:endParaRPr lang="en-US" sz="2000" dirty="0">
              <a:solidFill>
                <a:srgbClr val="111111"/>
              </a:solidFill>
              <a:highlight>
                <a:srgbClr val="FFFFFF"/>
              </a:highlight>
              <a:latin typeface="+mj-lt"/>
            </a:endParaRPr>
          </a:p>
          <a:p>
            <a:pPr>
              <a:buFontTx/>
              <a:buChar char="-"/>
            </a:pPr>
            <a:endParaRPr lang="en-US" sz="2000" dirty="0">
              <a:solidFill>
                <a:srgbClr val="111111"/>
              </a:solidFill>
              <a:highlight>
                <a:srgbClr val="FFFFFF"/>
              </a:highlight>
              <a:latin typeface="+mj-lt"/>
            </a:endParaRPr>
          </a:p>
          <a:p>
            <a:pPr>
              <a:buFontTx/>
              <a:buChar char="-"/>
            </a:pPr>
            <a:r>
              <a:rPr lang="en-US" sz="2000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 </a:t>
            </a:r>
            <a:r>
              <a:rPr lang="en-US" sz="2000" b="1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Example: </a:t>
            </a:r>
            <a:r>
              <a:rPr lang="en-US" sz="2000" u="sng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Predatory </a:t>
            </a:r>
            <a:r>
              <a:rPr lang="en-US" sz="2000" u="sng" dirty="0" err="1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behaviour</a:t>
            </a:r>
            <a:r>
              <a:rPr lang="en-US" sz="2000" u="sng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 </a:t>
            </a:r>
            <a:r>
              <a:rPr lang="en-US" sz="2000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in NZ mammals and shorebirds</a:t>
            </a:r>
          </a:p>
          <a:p>
            <a:pPr>
              <a:buFontTx/>
              <a:buChar char="-"/>
            </a:pPr>
            <a:endParaRPr lang="en-US" sz="2000" dirty="0">
              <a:solidFill>
                <a:srgbClr val="111111"/>
              </a:solidFill>
              <a:highlight>
                <a:srgbClr val="FFFFFF"/>
              </a:highlight>
              <a:latin typeface="+mj-lt"/>
            </a:endParaRPr>
          </a:p>
          <a:p>
            <a:pPr>
              <a:buFontTx/>
              <a:buChar char="-"/>
            </a:pPr>
            <a:r>
              <a:rPr lang="en-US" sz="2000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Use of aversive stimuli (unpleasant stimuli) to condition predators </a:t>
            </a:r>
          </a:p>
          <a:p>
            <a:endParaRPr lang="en-US" sz="2000" dirty="0">
              <a:solidFill>
                <a:srgbClr val="111111"/>
              </a:solidFill>
              <a:highlight>
                <a:srgbClr val="FFFFFF"/>
              </a:highlight>
              <a:latin typeface="+mj-lt"/>
            </a:endParaRPr>
          </a:p>
          <a:p>
            <a:pPr>
              <a:buFontTx/>
              <a:buChar char="-"/>
            </a:pPr>
            <a:r>
              <a:rPr lang="en-US" sz="2000" b="1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Approach: </a:t>
            </a:r>
            <a:r>
              <a:rPr lang="en-US" sz="2000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Infuse Vaseline with bird </a:t>
            </a:r>
            <a:r>
              <a:rPr lang="en-US" sz="2000" dirty="0" err="1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odour</a:t>
            </a:r>
            <a:r>
              <a:rPr lang="en-US" sz="2000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 at nest sites 5 weeks before birds arrived and 8 weeks after</a:t>
            </a:r>
          </a:p>
          <a:p>
            <a:pPr>
              <a:buFontTx/>
              <a:buChar char="-"/>
            </a:pPr>
            <a:endParaRPr lang="en-US" sz="2000" dirty="0">
              <a:solidFill>
                <a:srgbClr val="111111"/>
              </a:solidFill>
              <a:highlight>
                <a:srgbClr val="FFFFFF"/>
              </a:highlight>
              <a:latin typeface="+mj-lt"/>
            </a:endParaRPr>
          </a:p>
          <a:p>
            <a:pPr>
              <a:buFontTx/>
              <a:buChar char="-"/>
            </a:pPr>
            <a:r>
              <a:rPr lang="en-US" sz="2000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Teaches predators to ignore scent as a reliable indicator of food</a:t>
            </a:r>
          </a:p>
          <a:p>
            <a:pPr>
              <a:buFontTx/>
              <a:buChar char="-"/>
            </a:pPr>
            <a:endParaRPr lang="en-US" sz="2000" dirty="0">
              <a:solidFill>
                <a:srgbClr val="111111"/>
              </a:solidFill>
              <a:highlight>
                <a:srgbClr val="FFFFFF"/>
              </a:highlight>
              <a:latin typeface="+mj-lt"/>
            </a:endParaRPr>
          </a:p>
          <a:p>
            <a:pPr>
              <a:buFontTx/>
              <a:buChar char="-"/>
            </a:pPr>
            <a:r>
              <a:rPr lang="en-US" sz="2000" b="1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Outcome: </a:t>
            </a:r>
            <a:r>
              <a:rPr lang="en-US" sz="2000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Chick production increased 1.7 fold at </a:t>
            </a:r>
            <a:r>
              <a:rPr lang="en-US" sz="2000" dirty="0" err="1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odour</a:t>
            </a:r>
            <a:r>
              <a:rPr lang="en-US" sz="2000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 treated sites</a:t>
            </a:r>
          </a:p>
          <a:p>
            <a:endParaRPr lang="en-AU" sz="2000" dirty="0"/>
          </a:p>
          <a:p>
            <a:pPr>
              <a:buFontTx/>
              <a:buChar char="-"/>
            </a:pPr>
            <a:endParaRPr lang="en-AU" sz="200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6E30A18-9024-9C68-66EF-9F4938FBF076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175707" y="1484784"/>
            <a:ext cx="4968293" cy="396044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C829A91-2895-0E9D-C1F4-828F9A02B60E}"/>
              </a:ext>
            </a:extLst>
          </p:cNvPr>
          <p:cNvSpPr txBox="1"/>
          <p:nvPr/>
        </p:nvSpPr>
        <p:spPr>
          <a:xfrm>
            <a:off x="4308632" y="6050193"/>
            <a:ext cx="47024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buFontTx/>
              <a:buChar char="-"/>
            </a:pPr>
            <a:r>
              <a:rPr lang="en-AU" sz="1200" b="0" i="0" dirty="0">
                <a:solidFill>
                  <a:srgbClr val="222222"/>
                </a:solidFill>
                <a:effectLst/>
                <a:highlight>
                  <a:srgbClr val="FFFFFF"/>
                </a:highlight>
              </a:rPr>
              <a:t>REF:  Grant et al (2021). "Misinformation tactics protect rare birds from </a:t>
            </a:r>
          </a:p>
          <a:p>
            <a:pPr>
              <a:buFontTx/>
              <a:buChar char="-"/>
            </a:pPr>
            <a:r>
              <a:rPr lang="en-AU" sz="1200" b="0" i="0" dirty="0">
                <a:solidFill>
                  <a:srgbClr val="222222"/>
                </a:solidFill>
                <a:effectLst/>
                <a:highlight>
                  <a:srgbClr val="FFFFFF"/>
                </a:highlight>
              </a:rPr>
              <a:t>problem predators." </a:t>
            </a:r>
            <a:r>
              <a:rPr lang="en-AU" sz="1200" b="0" i="1" dirty="0">
                <a:solidFill>
                  <a:srgbClr val="222222"/>
                </a:solidFill>
                <a:effectLst/>
                <a:highlight>
                  <a:srgbClr val="FFFFFF"/>
                </a:highlight>
              </a:rPr>
              <a:t>Science Advances</a:t>
            </a:r>
            <a:r>
              <a:rPr lang="en-AU" sz="1200" b="0" i="0" dirty="0">
                <a:solidFill>
                  <a:srgbClr val="222222"/>
                </a:solidFill>
                <a:effectLst/>
                <a:highlight>
                  <a:srgbClr val="FFFFFF"/>
                </a:highlight>
              </a:rPr>
              <a:t> 7, no. 11 (2021):  </a:t>
            </a:r>
            <a:endParaRPr lang="en-AU" sz="1200" dirty="0"/>
          </a:p>
        </p:txBody>
      </p:sp>
    </p:spTree>
    <p:extLst>
      <p:ext uri="{BB962C8B-B14F-4D97-AF65-F5344CB8AC3E}">
        <p14:creationId xmlns:p14="http://schemas.microsoft.com/office/powerpoint/2010/main" val="332838075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0" y="-346356"/>
            <a:ext cx="9144000" cy="1200329"/>
          </a:xfrm>
          <a:prstGeom prst="rect">
            <a:avLst/>
          </a:prstGeom>
          <a:solidFill>
            <a:srgbClr val="00B050"/>
          </a:solidFill>
        </p:spPr>
        <p:txBody>
          <a:bodyPr wrap="square">
            <a:spAutoFit/>
          </a:bodyPr>
          <a:lstStyle/>
          <a:p>
            <a:r>
              <a:rPr lang="en-AU" sz="3600" b="1" dirty="0"/>
              <a:t>Theme 2. Anthropogenic impacts on animal behaviour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391C667-AFF0-4848-4C28-5F28990C5AAF}"/>
              </a:ext>
            </a:extLst>
          </p:cNvPr>
          <p:cNvSpPr txBox="1"/>
          <p:nvPr/>
        </p:nvSpPr>
        <p:spPr>
          <a:xfrm>
            <a:off x="21608" y="930586"/>
            <a:ext cx="3960440" cy="59400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Tx/>
              <a:buChar char="-"/>
            </a:pPr>
            <a:r>
              <a:rPr lang="en-US" sz="2000" b="1" i="0" dirty="0">
                <a:solidFill>
                  <a:srgbClr val="111111"/>
                </a:solidFill>
                <a:effectLst/>
                <a:highlight>
                  <a:srgbClr val="FFFFFF"/>
                </a:highlight>
                <a:latin typeface="+mj-lt"/>
              </a:rPr>
              <a:t> Concept: </a:t>
            </a:r>
            <a:r>
              <a:rPr lang="en-US" sz="2000" b="0" i="0" dirty="0" err="1">
                <a:solidFill>
                  <a:srgbClr val="111111"/>
                </a:solidFill>
                <a:effectLst/>
                <a:highlight>
                  <a:srgbClr val="FFFFFF"/>
                </a:highlight>
                <a:latin typeface="+mj-lt"/>
              </a:rPr>
              <a:t>Behavioural</a:t>
            </a:r>
            <a:r>
              <a:rPr lang="en-US" sz="2000" b="0" i="0" dirty="0">
                <a:solidFill>
                  <a:srgbClr val="111111"/>
                </a:solidFill>
                <a:effectLst/>
                <a:highlight>
                  <a:srgbClr val="FFFFFF"/>
                </a:highlight>
                <a:latin typeface="+mj-lt"/>
              </a:rPr>
              <a:t> </a:t>
            </a:r>
            <a:r>
              <a:rPr lang="en-AU" sz="2000" b="0" i="0" dirty="0">
                <a:solidFill>
                  <a:srgbClr val="111111"/>
                </a:solidFill>
                <a:effectLst/>
                <a:highlight>
                  <a:srgbClr val="FFFFFF"/>
                </a:highlight>
                <a:latin typeface="+mj-lt"/>
              </a:rPr>
              <a:t>plasticity </a:t>
            </a:r>
            <a:r>
              <a:rPr lang="en-AU" sz="2000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causes fitness problems.</a:t>
            </a:r>
          </a:p>
          <a:p>
            <a:pPr>
              <a:buFontTx/>
              <a:buChar char="-"/>
            </a:pPr>
            <a:endParaRPr lang="en-AU" sz="2000" dirty="0">
              <a:solidFill>
                <a:srgbClr val="111111"/>
              </a:solidFill>
              <a:highlight>
                <a:srgbClr val="FFFFFF"/>
              </a:highlight>
              <a:latin typeface="+mj-lt"/>
            </a:endParaRPr>
          </a:p>
          <a:p>
            <a:pPr>
              <a:buFontTx/>
              <a:buChar char="-"/>
            </a:pPr>
            <a:r>
              <a:rPr lang="en-AU" sz="2000" b="1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 Example: </a:t>
            </a:r>
            <a:r>
              <a:rPr lang="en-AU" sz="2000" u="sng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Foraging behaviour </a:t>
            </a:r>
            <a:r>
              <a:rPr lang="en-AU" sz="2000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in Sulphur-crested cockatoos.</a:t>
            </a:r>
          </a:p>
          <a:p>
            <a:pPr>
              <a:buFontTx/>
              <a:buChar char="-"/>
            </a:pPr>
            <a:endParaRPr lang="en-AU" sz="2000" dirty="0">
              <a:solidFill>
                <a:srgbClr val="111111"/>
              </a:solidFill>
              <a:highlight>
                <a:srgbClr val="FFFFFF"/>
              </a:highlight>
              <a:latin typeface="+mj-lt"/>
            </a:endParaRPr>
          </a:p>
          <a:p>
            <a:pPr>
              <a:buFontTx/>
              <a:buChar char="-"/>
            </a:pPr>
            <a:r>
              <a:rPr lang="en-AU" sz="2000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 Birds learning from each other to open lids.</a:t>
            </a:r>
          </a:p>
          <a:p>
            <a:pPr>
              <a:buFontTx/>
              <a:buChar char="-"/>
            </a:pPr>
            <a:endParaRPr lang="en-AU" sz="2000" dirty="0">
              <a:solidFill>
                <a:srgbClr val="111111"/>
              </a:solidFill>
              <a:highlight>
                <a:srgbClr val="FFFFFF"/>
              </a:highlight>
              <a:latin typeface="+mj-lt"/>
            </a:endParaRPr>
          </a:p>
          <a:p>
            <a:pPr>
              <a:buFontTx/>
              <a:buChar char="-"/>
            </a:pPr>
            <a:r>
              <a:rPr lang="en-AU" sz="2000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 Cultural transmission of knowledge</a:t>
            </a:r>
          </a:p>
          <a:p>
            <a:pPr>
              <a:buFontTx/>
              <a:buChar char="-"/>
            </a:pPr>
            <a:endParaRPr lang="en-AU" sz="2000" dirty="0">
              <a:solidFill>
                <a:srgbClr val="111111"/>
              </a:solidFill>
              <a:highlight>
                <a:srgbClr val="FFFFFF"/>
              </a:highlight>
              <a:latin typeface="+mj-lt"/>
            </a:endParaRPr>
          </a:p>
          <a:p>
            <a:pPr>
              <a:buFontTx/>
              <a:buChar char="-"/>
            </a:pPr>
            <a:r>
              <a:rPr lang="en-AU" sz="2000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 Before 2018, bin opening only observed in 3 Sydney suburbs.</a:t>
            </a:r>
          </a:p>
          <a:p>
            <a:pPr>
              <a:buFontTx/>
              <a:buChar char="-"/>
            </a:pPr>
            <a:endParaRPr lang="en-AU" sz="2000" dirty="0">
              <a:solidFill>
                <a:srgbClr val="111111"/>
              </a:solidFill>
              <a:highlight>
                <a:srgbClr val="FFFFFF"/>
              </a:highlight>
              <a:latin typeface="+mj-lt"/>
            </a:endParaRPr>
          </a:p>
          <a:p>
            <a:pPr>
              <a:buFontTx/>
              <a:buChar char="-"/>
            </a:pPr>
            <a:r>
              <a:rPr lang="en-AU" sz="2000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 Now spread to 44 suburbs.</a:t>
            </a:r>
          </a:p>
          <a:p>
            <a:pPr>
              <a:buFontTx/>
              <a:buChar char="-"/>
            </a:pPr>
            <a:endParaRPr lang="en-AU" sz="2000" dirty="0">
              <a:solidFill>
                <a:srgbClr val="111111"/>
              </a:solidFill>
              <a:highlight>
                <a:srgbClr val="FFFFFF"/>
              </a:highlight>
              <a:latin typeface="+mj-lt"/>
            </a:endParaRPr>
          </a:p>
          <a:p>
            <a:pPr>
              <a:buFontTx/>
              <a:buChar char="-"/>
            </a:pPr>
            <a:r>
              <a:rPr lang="en-AU" sz="2000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 </a:t>
            </a:r>
            <a:r>
              <a:rPr lang="en-AU" sz="2000" b="1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Problem: </a:t>
            </a:r>
            <a:r>
              <a:rPr lang="en-AU" sz="2000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Sub optimal nutrition compromising  bird health.</a:t>
            </a:r>
            <a:endParaRPr lang="en-AU" sz="2000" dirty="0">
              <a:latin typeface="+mj-lt"/>
            </a:endParaRPr>
          </a:p>
          <a:p>
            <a:pPr>
              <a:buFontTx/>
              <a:buChar char="-"/>
            </a:pPr>
            <a:endParaRPr lang="en-AU" sz="2000" dirty="0"/>
          </a:p>
        </p:txBody>
      </p:sp>
      <p:pic>
        <p:nvPicPr>
          <p:cNvPr id="1026" name="Picture 2" descr="A group of sulphur-crested cockatoos wait for one of them to pry open a bin before sharing in the spoils.">
            <a:extLst>
              <a:ext uri="{FF2B5EF4-FFF2-40B4-BE49-F238E27FC236}">
                <a16:creationId xmlns:a16="http://schemas.microsoft.com/office/drawing/2014/main" id="{68813CE3-6D33-4220-1DED-16A5B9098C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337864" y="3734748"/>
            <a:ext cx="4572000" cy="274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Researchers found the birds seem to differentiate between red-lidded general waste bins and yellow-lidded recycling bins.">
            <a:extLst>
              <a:ext uri="{FF2B5EF4-FFF2-40B4-BE49-F238E27FC236}">
                <a16:creationId xmlns:a16="http://schemas.microsoft.com/office/drawing/2014/main" id="{7A51FAA9-2181-C05B-4380-CC7D519D1C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337864" y="860053"/>
            <a:ext cx="4572000" cy="274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3376698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0" y="-69357"/>
            <a:ext cx="9144000" cy="646331"/>
          </a:xfrm>
          <a:prstGeom prst="rect">
            <a:avLst/>
          </a:prstGeom>
          <a:solidFill>
            <a:srgbClr val="00B050"/>
          </a:solidFill>
        </p:spPr>
        <p:txBody>
          <a:bodyPr wrap="square">
            <a:spAutoFit/>
          </a:bodyPr>
          <a:lstStyle/>
          <a:p>
            <a:r>
              <a:rPr lang="en-AU" sz="3600" b="1" dirty="0"/>
              <a:t>Theme 3. Behavioural indicators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391C667-AFF0-4848-4C28-5F28990C5AAF}"/>
              </a:ext>
            </a:extLst>
          </p:cNvPr>
          <p:cNvSpPr txBox="1"/>
          <p:nvPr/>
        </p:nvSpPr>
        <p:spPr>
          <a:xfrm>
            <a:off x="139599" y="1052736"/>
            <a:ext cx="3960440" cy="53245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Tx/>
              <a:buChar char="-"/>
            </a:pPr>
            <a:r>
              <a:rPr lang="en-US" sz="2000" b="1" i="0" dirty="0">
                <a:solidFill>
                  <a:srgbClr val="111111"/>
                </a:solidFill>
                <a:effectLst/>
                <a:highlight>
                  <a:srgbClr val="FFFFFF"/>
                </a:highlight>
                <a:latin typeface="+mj-lt"/>
              </a:rPr>
              <a:t>Concept: </a:t>
            </a:r>
            <a:r>
              <a:rPr lang="en-US" sz="2000" b="0" i="0" dirty="0">
                <a:solidFill>
                  <a:srgbClr val="111111"/>
                </a:solidFill>
                <a:effectLst/>
                <a:highlight>
                  <a:srgbClr val="FFFFFF"/>
                </a:highlight>
                <a:latin typeface="+mj-lt"/>
              </a:rPr>
              <a:t>monitoring </a:t>
            </a:r>
            <a:r>
              <a:rPr lang="en-US" sz="2000" b="0" i="0" dirty="0" err="1">
                <a:solidFill>
                  <a:srgbClr val="111111"/>
                </a:solidFill>
                <a:effectLst/>
                <a:highlight>
                  <a:srgbClr val="FFFFFF"/>
                </a:highlight>
                <a:latin typeface="+mj-lt"/>
              </a:rPr>
              <a:t>behaviour</a:t>
            </a:r>
            <a:r>
              <a:rPr lang="en-US" sz="2000" b="0" i="0" dirty="0">
                <a:solidFill>
                  <a:srgbClr val="111111"/>
                </a:solidFill>
                <a:effectLst/>
                <a:highlight>
                  <a:srgbClr val="FFFFFF"/>
                </a:highlight>
                <a:latin typeface="+mj-lt"/>
              </a:rPr>
              <a:t> can indicate success of a conservation action.</a:t>
            </a:r>
          </a:p>
          <a:p>
            <a:pPr>
              <a:buFontTx/>
              <a:buChar char="-"/>
            </a:pPr>
            <a:endParaRPr lang="en-US" sz="2000" dirty="0">
              <a:solidFill>
                <a:srgbClr val="111111"/>
              </a:solidFill>
              <a:highlight>
                <a:srgbClr val="FFFFFF"/>
              </a:highlight>
              <a:latin typeface="+mj-lt"/>
            </a:endParaRPr>
          </a:p>
          <a:p>
            <a:pPr>
              <a:buFontTx/>
              <a:buChar char="-"/>
            </a:pPr>
            <a:r>
              <a:rPr lang="en-US" sz="2000" b="1" i="0" dirty="0">
                <a:solidFill>
                  <a:srgbClr val="111111"/>
                </a:solidFill>
                <a:effectLst/>
                <a:highlight>
                  <a:srgbClr val="FFFFFF"/>
                </a:highlight>
                <a:latin typeface="+mj-lt"/>
              </a:rPr>
              <a:t>Example: </a:t>
            </a:r>
            <a:r>
              <a:rPr lang="en-US" sz="2000" b="0" i="0" dirty="0">
                <a:solidFill>
                  <a:srgbClr val="111111"/>
                </a:solidFill>
                <a:effectLst/>
                <a:highlight>
                  <a:srgbClr val="FFFFFF"/>
                </a:highlight>
                <a:latin typeface="+mj-lt"/>
              </a:rPr>
              <a:t>Black Rhino re-introduction in Zimbabwe.</a:t>
            </a:r>
          </a:p>
          <a:p>
            <a:pPr>
              <a:buFontTx/>
              <a:buChar char="-"/>
            </a:pPr>
            <a:endParaRPr lang="en-US" sz="2000" dirty="0">
              <a:solidFill>
                <a:srgbClr val="111111"/>
              </a:solidFill>
              <a:highlight>
                <a:srgbClr val="FFFFFF"/>
              </a:highlight>
              <a:latin typeface="+mj-lt"/>
            </a:endParaRPr>
          </a:p>
          <a:p>
            <a:pPr>
              <a:buFontTx/>
              <a:buChar char="-"/>
            </a:pPr>
            <a:r>
              <a:rPr lang="en-US" sz="2000" b="0" i="0" dirty="0">
                <a:solidFill>
                  <a:srgbClr val="1F1F1F"/>
                </a:solidFill>
                <a:effectLst/>
                <a:latin typeface="+mj-lt"/>
              </a:rPr>
              <a:t>Rhinos showed progressive and consistent changes in movement patterns and habitat selection.</a:t>
            </a:r>
          </a:p>
          <a:p>
            <a:pPr>
              <a:buFontTx/>
              <a:buChar char="-"/>
            </a:pPr>
            <a:endParaRPr lang="en-US" sz="2000" dirty="0">
              <a:solidFill>
                <a:srgbClr val="1F1F1F"/>
              </a:solidFill>
              <a:latin typeface="+mj-lt"/>
            </a:endParaRPr>
          </a:p>
          <a:p>
            <a:pPr>
              <a:buFontTx/>
              <a:buChar char="-"/>
            </a:pPr>
            <a:r>
              <a:rPr lang="en-US" sz="2000" b="0" i="0" dirty="0">
                <a:solidFill>
                  <a:srgbClr val="1F1F1F"/>
                </a:solidFill>
                <a:effectLst/>
                <a:latin typeface="+mj-lt"/>
              </a:rPr>
              <a:t> </a:t>
            </a:r>
            <a:r>
              <a:rPr lang="en-US" sz="2000" dirty="0">
                <a:solidFill>
                  <a:srgbClr val="1F1F1F"/>
                </a:solidFill>
                <a:latin typeface="+mj-lt"/>
              </a:rPr>
              <a:t>S</a:t>
            </a:r>
            <a:r>
              <a:rPr lang="en-US" sz="2000" b="0" i="0" dirty="0">
                <a:solidFill>
                  <a:srgbClr val="1F1F1F"/>
                </a:solidFill>
                <a:effectLst/>
                <a:latin typeface="+mj-lt"/>
              </a:rPr>
              <a:t>hifted from large-scale movements during the early stages of release to smaller-scale movements after home ranges were established</a:t>
            </a:r>
            <a:r>
              <a:rPr lang="en-AU" sz="2000" b="0" i="0" dirty="0">
                <a:solidFill>
                  <a:srgbClr val="111111"/>
                </a:solidFill>
                <a:effectLst/>
                <a:highlight>
                  <a:srgbClr val="FFFFFF"/>
                </a:highlight>
                <a:latin typeface="+mj-lt"/>
              </a:rPr>
              <a:t> </a:t>
            </a:r>
            <a:r>
              <a:rPr lang="en-AU" sz="2000" dirty="0">
                <a:latin typeface="+mj-lt"/>
              </a:rPr>
              <a:t> </a:t>
            </a:r>
          </a:p>
          <a:p>
            <a:pPr>
              <a:buFontTx/>
              <a:buChar char="-"/>
            </a:pPr>
            <a:endParaRPr lang="en-AU" sz="200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A654741-EA05-961D-0947-735B11472655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144116" y="1556792"/>
            <a:ext cx="4896036" cy="326402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B02E3AD-8F0D-6847-A5AF-B3607427AF2B}"/>
              </a:ext>
            </a:extLst>
          </p:cNvPr>
          <p:cNvSpPr txBox="1"/>
          <p:nvPr/>
        </p:nvSpPr>
        <p:spPr>
          <a:xfrm>
            <a:off x="5043962" y="5589240"/>
            <a:ext cx="30963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Tx/>
              <a:buChar char="-"/>
            </a:pPr>
            <a:r>
              <a:rPr lang="en-AU" sz="1200" dirty="0">
                <a:latin typeface="+mj-lt"/>
              </a:rPr>
              <a:t>REF: </a:t>
            </a:r>
            <a:r>
              <a:rPr lang="en-AU" sz="1200" b="0" i="0" dirty="0" err="1">
                <a:solidFill>
                  <a:srgbClr val="222222"/>
                </a:solidFill>
                <a:effectLst/>
                <a:highlight>
                  <a:srgbClr val="FFFFFF"/>
                </a:highlight>
                <a:latin typeface="+mj-lt"/>
              </a:rPr>
              <a:t>Wielgus</a:t>
            </a:r>
            <a:r>
              <a:rPr lang="en-AU" sz="1200" b="0" i="0" dirty="0">
                <a:solidFill>
                  <a:srgbClr val="222222"/>
                </a:solidFill>
                <a:effectLst/>
                <a:highlight>
                  <a:srgbClr val="FFFFFF"/>
                </a:highlight>
                <a:latin typeface="+mj-lt"/>
              </a:rPr>
              <a:t>, et al (2023). "Bringing the Black rhino back: Key factors for reintroduction success." </a:t>
            </a:r>
            <a:r>
              <a:rPr lang="en-AU" sz="1200" b="0" i="1" dirty="0">
                <a:solidFill>
                  <a:srgbClr val="222222"/>
                </a:solidFill>
                <a:effectLst/>
                <a:highlight>
                  <a:srgbClr val="FFFFFF"/>
                </a:highlight>
                <a:latin typeface="+mj-lt"/>
              </a:rPr>
              <a:t>Global Ecology and Conservation</a:t>
            </a:r>
            <a:r>
              <a:rPr lang="en-AU" sz="1200" b="0" i="0" dirty="0">
                <a:solidFill>
                  <a:srgbClr val="222222"/>
                </a:solidFill>
                <a:effectLst/>
                <a:highlight>
                  <a:srgbClr val="FFFFFF"/>
                </a:highlight>
                <a:latin typeface="+mj-lt"/>
              </a:rPr>
              <a:t> 48 (2023): e02756.</a:t>
            </a:r>
            <a:endParaRPr lang="en-AU" sz="12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13480767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0" y="-346356"/>
            <a:ext cx="9144000" cy="1200329"/>
          </a:xfrm>
          <a:prstGeom prst="rect">
            <a:avLst/>
          </a:prstGeom>
          <a:solidFill>
            <a:srgbClr val="00B050"/>
          </a:solidFill>
        </p:spPr>
        <p:txBody>
          <a:bodyPr wrap="square">
            <a:spAutoFit/>
          </a:bodyPr>
          <a:lstStyle/>
          <a:p>
            <a:r>
              <a:rPr lang="en-AU" sz="3600" b="1" dirty="0"/>
              <a:t>Conservation behaviour valuable for resolving Human-wildlife conflict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391C667-AFF0-4848-4C28-5F28990C5AAF}"/>
              </a:ext>
            </a:extLst>
          </p:cNvPr>
          <p:cNvSpPr txBox="1"/>
          <p:nvPr/>
        </p:nvSpPr>
        <p:spPr>
          <a:xfrm>
            <a:off x="68971" y="1027349"/>
            <a:ext cx="3600400" cy="59400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Tx/>
              <a:buChar char="-"/>
            </a:pPr>
            <a:r>
              <a:rPr lang="en-US" sz="2000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 </a:t>
            </a:r>
            <a:r>
              <a:rPr lang="en-US" sz="2000" b="1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Human-wildlife conflict: </a:t>
            </a:r>
            <a:r>
              <a:rPr lang="en-US" sz="2000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when encounters between humans and wildlife lead to negative impacts. </a:t>
            </a:r>
          </a:p>
          <a:p>
            <a:pPr>
              <a:buFontTx/>
              <a:buChar char="-"/>
            </a:pPr>
            <a:endParaRPr lang="en-US" sz="2000" b="0" i="0" dirty="0">
              <a:solidFill>
                <a:srgbClr val="111111"/>
              </a:solidFill>
              <a:effectLst/>
              <a:highlight>
                <a:srgbClr val="FFFFFF"/>
              </a:highlight>
              <a:latin typeface="+mj-lt"/>
            </a:endParaRPr>
          </a:p>
          <a:p>
            <a:pPr>
              <a:buFontTx/>
              <a:buChar char="-"/>
            </a:pPr>
            <a:r>
              <a:rPr lang="en-US" sz="2000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 Conservation </a:t>
            </a:r>
            <a:r>
              <a:rPr lang="en-US" sz="2000" dirty="0" err="1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behaviour</a:t>
            </a:r>
            <a:r>
              <a:rPr lang="en-US" sz="2000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 provides a potential solution to many conflicts.</a:t>
            </a:r>
          </a:p>
          <a:p>
            <a:pPr>
              <a:buFontTx/>
              <a:buChar char="-"/>
            </a:pPr>
            <a:endParaRPr lang="en-US" sz="2000" b="0" i="0" dirty="0">
              <a:solidFill>
                <a:srgbClr val="111111"/>
              </a:solidFill>
              <a:effectLst/>
              <a:highlight>
                <a:srgbClr val="FFFFFF"/>
              </a:highlight>
              <a:latin typeface="+mj-lt"/>
            </a:endParaRPr>
          </a:p>
          <a:p>
            <a:pPr>
              <a:buFontTx/>
              <a:buChar char="-"/>
            </a:pPr>
            <a:endParaRPr lang="en-US" sz="2000" dirty="0">
              <a:solidFill>
                <a:srgbClr val="111111"/>
              </a:solidFill>
              <a:highlight>
                <a:srgbClr val="FFFFFF"/>
              </a:highlight>
              <a:latin typeface="+mj-lt"/>
            </a:endParaRPr>
          </a:p>
          <a:p>
            <a:r>
              <a:rPr lang="en-AU" sz="2000" b="0" i="0" dirty="0">
                <a:solidFill>
                  <a:srgbClr val="111111"/>
                </a:solidFill>
                <a:effectLst/>
                <a:highlight>
                  <a:srgbClr val="FFFFFF"/>
                </a:highlight>
                <a:latin typeface="+mj-lt"/>
              </a:rPr>
              <a:t>- </a:t>
            </a:r>
            <a:r>
              <a:rPr lang="en-AU" sz="2000" b="1" i="0" dirty="0">
                <a:solidFill>
                  <a:srgbClr val="111111"/>
                </a:solidFill>
                <a:effectLst/>
                <a:highlight>
                  <a:srgbClr val="FFFFFF"/>
                </a:highlight>
                <a:latin typeface="+mj-lt"/>
              </a:rPr>
              <a:t>Example: </a:t>
            </a:r>
            <a:r>
              <a:rPr lang="en-AU" sz="2000" b="0" i="0" dirty="0">
                <a:solidFill>
                  <a:srgbClr val="111111"/>
                </a:solidFill>
                <a:effectLst/>
                <a:highlight>
                  <a:srgbClr val="FFFFFF"/>
                </a:highlight>
                <a:latin typeface="+mj-lt"/>
              </a:rPr>
              <a:t>Olfactory control of elephant movement behaviour and crop damage in Kenya using repulsive odour from local ingredients.</a:t>
            </a:r>
          </a:p>
          <a:p>
            <a:endParaRPr lang="en-AU" sz="2000" dirty="0">
              <a:solidFill>
                <a:srgbClr val="111111"/>
              </a:solidFill>
              <a:highlight>
                <a:srgbClr val="FFFFFF"/>
              </a:highlight>
              <a:latin typeface="+mj-lt"/>
            </a:endParaRPr>
          </a:p>
          <a:p>
            <a:r>
              <a:rPr lang="en-AU" sz="2000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- Elephants have 2000 olfactory receptors (5 x humans)</a:t>
            </a:r>
            <a:r>
              <a:rPr lang="en-AU" sz="2000" dirty="0">
                <a:latin typeface="+mj-lt"/>
              </a:rPr>
              <a:t> </a:t>
            </a:r>
          </a:p>
          <a:p>
            <a:pPr>
              <a:buFontTx/>
              <a:buChar char="-"/>
            </a:pPr>
            <a:endParaRPr lang="en-AU" sz="2000" dirty="0"/>
          </a:p>
        </p:txBody>
      </p:sp>
      <p:sp>
        <p:nvSpPr>
          <p:cNvPr id="2" name="AutoShape 2" descr="Man-Animal Conflict - Biggest Challenge Before Mankind - The Pamphlet">
            <a:extLst>
              <a:ext uri="{FF2B5EF4-FFF2-40B4-BE49-F238E27FC236}">
                <a16:creationId xmlns:a16="http://schemas.microsoft.com/office/drawing/2014/main" id="{E5403E72-AB29-3333-D616-E396865764A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D6F73761-D847-93B5-8303-0EE14E7722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067944" y="1101890"/>
            <a:ext cx="4800480" cy="27002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6B16D4F0-5921-5E09-8483-98E93DCEE3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355976" y="3802160"/>
            <a:ext cx="3810000" cy="2857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690738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0" y="-69357"/>
            <a:ext cx="9144000" cy="646331"/>
          </a:xfrm>
          <a:prstGeom prst="rect">
            <a:avLst/>
          </a:prstGeom>
          <a:solidFill>
            <a:srgbClr val="00B050"/>
          </a:solidFill>
        </p:spPr>
        <p:txBody>
          <a:bodyPr wrap="square">
            <a:spAutoFit/>
          </a:bodyPr>
          <a:lstStyle/>
          <a:p>
            <a:r>
              <a:rPr lang="en-AU" sz="3600" b="1" dirty="0"/>
              <a:t>A global example of conflict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391C667-AFF0-4848-4C28-5F28990C5AAF}"/>
              </a:ext>
            </a:extLst>
          </p:cNvPr>
          <p:cNvSpPr txBox="1"/>
          <p:nvPr/>
        </p:nvSpPr>
        <p:spPr>
          <a:xfrm>
            <a:off x="68970" y="1027349"/>
            <a:ext cx="4214997" cy="6494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2400" b="0" i="0" dirty="0">
              <a:solidFill>
                <a:srgbClr val="111111"/>
              </a:solidFill>
              <a:effectLst/>
              <a:highlight>
                <a:srgbClr val="FFFFFF"/>
              </a:highlight>
              <a:latin typeface="+mj-lt"/>
            </a:endParaRPr>
          </a:p>
          <a:p>
            <a:pPr>
              <a:buFontTx/>
              <a:buChar char="-"/>
            </a:pPr>
            <a:endParaRPr lang="en-US" sz="2400" dirty="0">
              <a:solidFill>
                <a:srgbClr val="111111"/>
              </a:solidFill>
              <a:highlight>
                <a:srgbClr val="FFFFFF"/>
              </a:highlight>
              <a:latin typeface="+mj-lt"/>
            </a:endParaRPr>
          </a:p>
          <a:p>
            <a:pPr marL="342900" indent="-342900">
              <a:buFontTx/>
              <a:buChar char="-"/>
            </a:pPr>
            <a:r>
              <a:rPr lang="en-AU" sz="2400" b="0" i="0" dirty="0">
                <a:solidFill>
                  <a:srgbClr val="111111"/>
                </a:solidFill>
                <a:effectLst/>
                <a:highlight>
                  <a:srgbClr val="FFFFFF"/>
                </a:highlight>
                <a:latin typeface="+mj-lt"/>
              </a:rPr>
              <a:t>Encounters with dangerous species</a:t>
            </a:r>
          </a:p>
          <a:p>
            <a:pPr marL="342900" indent="-342900">
              <a:buFontTx/>
              <a:buChar char="-"/>
            </a:pPr>
            <a:endParaRPr lang="en-AU" sz="2400" dirty="0">
              <a:solidFill>
                <a:srgbClr val="111111"/>
              </a:solidFill>
              <a:highlight>
                <a:srgbClr val="FFFFFF"/>
              </a:highlight>
              <a:latin typeface="+mj-lt"/>
            </a:endParaRPr>
          </a:p>
          <a:p>
            <a:pPr marL="342900" indent="-342900">
              <a:buFontTx/>
              <a:buChar char="-"/>
            </a:pPr>
            <a:r>
              <a:rPr lang="en-AU" sz="2400" b="1" i="0" dirty="0">
                <a:solidFill>
                  <a:srgbClr val="111111"/>
                </a:solidFill>
                <a:effectLst/>
                <a:highlight>
                  <a:srgbClr val="FFFFFF"/>
                </a:highlight>
                <a:latin typeface="+mj-lt"/>
              </a:rPr>
              <a:t>Example: </a:t>
            </a:r>
            <a:r>
              <a:rPr lang="en-AU" sz="2400" b="0" i="0" dirty="0">
                <a:solidFill>
                  <a:srgbClr val="111111"/>
                </a:solidFill>
                <a:effectLst/>
                <a:highlight>
                  <a:srgbClr val="FFFFFF"/>
                </a:highlight>
                <a:latin typeface="+mj-lt"/>
              </a:rPr>
              <a:t>Shark deterrents</a:t>
            </a:r>
          </a:p>
          <a:p>
            <a:pPr marL="342900" indent="-342900">
              <a:buFontTx/>
              <a:buChar char="-"/>
            </a:pPr>
            <a:endParaRPr lang="en-AU" sz="2400" dirty="0">
              <a:solidFill>
                <a:srgbClr val="111111"/>
              </a:solidFill>
              <a:highlight>
                <a:srgbClr val="FFFFFF"/>
              </a:highlight>
              <a:latin typeface="+mj-lt"/>
            </a:endParaRPr>
          </a:p>
          <a:p>
            <a:pPr marL="342900" indent="-342900">
              <a:buFontTx/>
              <a:buChar char="-"/>
            </a:pPr>
            <a:r>
              <a:rPr lang="en-AU" sz="2400" b="0" i="0" dirty="0">
                <a:solidFill>
                  <a:srgbClr val="111111"/>
                </a:solidFill>
                <a:effectLst/>
                <a:highlight>
                  <a:srgbClr val="FFFFFF"/>
                </a:highlight>
                <a:latin typeface="+mj-lt"/>
              </a:rPr>
              <a:t>Sharks use electric signals in communication and prey detection</a:t>
            </a:r>
          </a:p>
          <a:p>
            <a:pPr marL="342900" indent="-342900">
              <a:buFontTx/>
              <a:buChar char="-"/>
            </a:pPr>
            <a:endParaRPr lang="en-AU" sz="2400" dirty="0">
              <a:solidFill>
                <a:srgbClr val="111111"/>
              </a:solidFill>
              <a:highlight>
                <a:srgbClr val="FFFFFF"/>
              </a:highlight>
              <a:latin typeface="+mj-lt"/>
            </a:endParaRPr>
          </a:p>
          <a:p>
            <a:pPr marL="342900" indent="-342900">
              <a:buFontTx/>
              <a:buChar char="-"/>
            </a:pPr>
            <a:r>
              <a:rPr lang="en-AU" sz="2400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Research into electromagnetic shields used by ocean users</a:t>
            </a:r>
          </a:p>
          <a:p>
            <a:pPr marL="342900" indent="-342900">
              <a:buFontTx/>
              <a:buChar char="-"/>
            </a:pPr>
            <a:endParaRPr lang="en-AU" sz="2000" b="0" i="0" dirty="0">
              <a:solidFill>
                <a:srgbClr val="111111"/>
              </a:solidFill>
              <a:effectLst/>
              <a:highlight>
                <a:srgbClr val="FFFFFF"/>
              </a:highlight>
              <a:latin typeface="+mj-lt"/>
            </a:endParaRPr>
          </a:p>
          <a:p>
            <a:endParaRPr lang="en-AU" sz="2000" dirty="0">
              <a:solidFill>
                <a:srgbClr val="111111"/>
              </a:solidFill>
              <a:highlight>
                <a:srgbClr val="FFFFFF"/>
              </a:highlight>
              <a:latin typeface="+mj-lt"/>
            </a:endParaRPr>
          </a:p>
          <a:p>
            <a:r>
              <a:rPr lang="en-AU" sz="2000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 </a:t>
            </a:r>
            <a:endParaRPr lang="en-AU" sz="2000" dirty="0"/>
          </a:p>
          <a:p>
            <a:pPr>
              <a:buFontTx/>
              <a:buChar char="-"/>
            </a:pPr>
            <a:endParaRPr lang="en-AU" sz="2000" dirty="0"/>
          </a:p>
        </p:txBody>
      </p:sp>
      <p:sp>
        <p:nvSpPr>
          <p:cNvPr id="2" name="AutoShape 2" descr="Man-Animal Conflict - Biggest Challenge Before Mankind - The Pamphlet">
            <a:extLst>
              <a:ext uri="{FF2B5EF4-FFF2-40B4-BE49-F238E27FC236}">
                <a16:creationId xmlns:a16="http://schemas.microsoft.com/office/drawing/2014/main" id="{E5403E72-AB29-3333-D616-E396865764A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3283193-8F0F-144A-9E60-73557DFBE967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419600" y="1027349"/>
            <a:ext cx="4474789" cy="331465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A4B0082-3E82-8D38-0A70-E75885C7AF02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64088" y="4515383"/>
            <a:ext cx="2276872" cy="2276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798328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0" y="-69357"/>
            <a:ext cx="9144000" cy="646331"/>
          </a:xfrm>
          <a:prstGeom prst="rect">
            <a:avLst/>
          </a:prstGeom>
          <a:solidFill>
            <a:srgbClr val="00B050"/>
          </a:solidFill>
        </p:spPr>
        <p:txBody>
          <a:bodyPr wrap="square">
            <a:spAutoFit/>
          </a:bodyPr>
          <a:lstStyle/>
          <a:p>
            <a:r>
              <a:rPr lang="en-AU" sz="3600" b="1" dirty="0"/>
              <a:t>Some examples of local conflict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391C667-AFF0-4848-4C28-5F28990C5AAF}"/>
              </a:ext>
            </a:extLst>
          </p:cNvPr>
          <p:cNvSpPr txBox="1"/>
          <p:nvPr/>
        </p:nvSpPr>
        <p:spPr>
          <a:xfrm>
            <a:off x="19547" y="1347348"/>
            <a:ext cx="3960440" cy="61863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Tx/>
              <a:buChar char="-"/>
            </a:pPr>
            <a:r>
              <a:rPr lang="en-US" sz="2400" b="1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 1. Magpie aggression</a:t>
            </a:r>
          </a:p>
          <a:p>
            <a:pPr>
              <a:buFontTx/>
              <a:buChar char="-"/>
            </a:pPr>
            <a:endParaRPr lang="en-US" sz="2400" b="0" i="0" dirty="0">
              <a:solidFill>
                <a:srgbClr val="111111"/>
              </a:solidFill>
              <a:effectLst/>
              <a:highlight>
                <a:srgbClr val="FFFFFF"/>
              </a:highlight>
              <a:latin typeface="+mj-lt"/>
            </a:endParaRPr>
          </a:p>
          <a:p>
            <a:pPr>
              <a:buFontTx/>
              <a:buChar char="-"/>
            </a:pPr>
            <a:r>
              <a:rPr lang="en-US" sz="2400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 Magpies become aggressive during nesting season</a:t>
            </a:r>
          </a:p>
          <a:p>
            <a:pPr>
              <a:buFontTx/>
              <a:buChar char="-"/>
            </a:pPr>
            <a:endParaRPr lang="en-US" sz="2400" b="0" i="0" dirty="0">
              <a:solidFill>
                <a:srgbClr val="111111"/>
              </a:solidFill>
              <a:effectLst/>
              <a:highlight>
                <a:srgbClr val="FFFFFF"/>
              </a:highlight>
              <a:latin typeface="+mj-lt"/>
            </a:endParaRPr>
          </a:p>
          <a:p>
            <a:pPr>
              <a:buFontTx/>
              <a:buChar char="-"/>
            </a:pPr>
            <a:r>
              <a:rPr lang="en-AU" sz="2400" b="0" i="0" dirty="0">
                <a:solidFill>
                  <a:srgbClr val="111111"/>
                </a:solidFill>
                <a:effectLst/>
                <a:highlight>
                  <a:srgbClr val="FFFFFF"/>
                </a:highlight>
                <a:latin typeface="+mj-lt"/>
              </a:rPr>
              <a:t> </a:t>
            </a:r>
            <a:r>
              <a:rPr lang="en-AU" sz="2400" b="1" i="0" dirty="0">
                <a:solidFill>
                  <a:srgbClr val="111111"/>
                </a:solidFill>
                <a:effectLst/>
                <a:highlight>
                  <a:srgbClr val="FFFFFF"/>
                </a:highlight>
                <a:latin typeface="+mj-lt"/>
              </a:rPr>
              <a:t>Problem: </a:t>
            </a:r>
            <a:r>
              <a:rPr lang="en-AU" sz="2400" b="0" i="0" dirty="0">
                <a:solidFill>
                  <a:srgbClr val="111111"/>
                </a:solidFill>
                <a:effectLst/>
                <a:highlight>
                  <a:srgbClr val="FFFFFF"/>
                </a:highlight>
                <a:latin typeface="+mj-lt"/>
              </a:rPr>
              <a:t>attack people</a:t>
            </a:r>
          </a:p>
          <a:p>
            <a:pPr>
              <a:buFontTx/>
              <a:buChar char="-"/>
            </a:pPr>
            <a:endParaRPr lang="en-AU" sz="2400" dirty="0">
              <a:solidFill>
                <a:srgbClr val="111111"/>
              </a:solidFill>
              <a:highlight>
                <a:srgbClr val="FFFFFF"/>
              </a:highlight>
              <a:latin typeface="+mj-lt"/>
            </a:endParaRPr>
          </a:p>
          <a:p>
            <a:pPr>
              <a:buFontTx/>
              <a:buChar char="-"/>
            </a:pPr>
            <a:r>
              <a:rPr lang="en-AU" sz="2400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 </a:t>
            </a:r>
            <a:r>
              <a:rPr lang="en-AU" sz="2400" b="1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Outcome: </a:t>
            </a:r>
            <a:r>
              <a:rPr lang="en-AU" sz="2400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People killing magpies (biodiversity loss issue)</a:t>
            </a:r>
          </a:p>
          <a:p>
            <a:pPr>
              <a:buFontTx/>
              <a:buChar char="-"/>
            </a:pPr>
            <a:endParaRPr lang="en-AU" sz="2400" dirty="0">
              <a:solidFill>
                <a:srgbClr val="111111"/>
              </a:solidFill>
              <a:highlight>
                <a:srgbClr val="FFFFFF"/>
              </a:highlight>
              <a:latin typeface="+mj-lt"/>
            </a:endParaRPr>
          </a:p>
          <a:p>
            <a:pPr>
              <a:buFontTx/>
              <a:buChar char="-"/>
            </a:pPr>
            <a:r>
              <a:rPr lang="en-AU" sz="2400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 Cable tie deterrent makes no difference to incidence of attack</a:t>
            </a:r>
            <a:endParaRPr lang="en-AU" sz="2400" dirty="0">
              <a:latin typeface="+mj-lt"/>
            </a:endParaRPr>
          </a:p>
          <a:p>
            <a:pPr>
              <a:buFontTx/>
              <a:buChar char="-"/>
            </a:pPr>
            <a:endParaRPr lang="en-AU" sz="2000" dirty="0"/>
          </a:p>
          <a:p>
            <a:pPr>
              <a:buFontTx/>
              <a:buChar char="-"/>
            </a:pPr>
            <a:endParaRPr lang="en-AU" sz="2000" dirty="0"/>
          </a:p>
          <a:p>
            <a:pPr>
              <a:buFontTx/>
              <a:buChar char="-"/>
            </a:pPr>
            <a:endParaRPr lang="en-AU" sz="2000" dirty="0"/>
          </a:p>
        </p:txBody>
      </p:sp>
      <p:pic>
        <p:nvPicPr>
          <p:cNvPr id="3074" name="Picture 2" descr="Nation Warned Of Increase In Videos Of Magpies Swooping People This Spring  — The Betoota Advocate">
            <a:extLst>
              <a:ext uri="{FF2B5EF4-FFF2-40B4-BE49-F238E27FC236}">
                <a16:creationId xmlns:a16="http://schemas.microsoft.com/office/drawing/2014/main" id="{7B57FE08-A2CB-84DF-12D2-E27C9E06DC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067944" y="801671"/>
            <a:ext cx="4572000" cy="2857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05487878-E082-9EA2-6E58-7F6710CBA0A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427984" y="3887930"/>
            <a:ext cx="3851920" cy="2168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448182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0" y="-69357"/>
            <a:ext cx="9144000" cy="646331"/>
          </a:xfrm>
          <a:prstGeom prst="rect">
            <a:avLst/>
          </a:prstGeom>
          <a:solidFill>
            <a:srgbClr val="00B050"/>
          </a:solidFill>
        </p:spPr>
        <p:txBody>
          <a:bodyPr wrap="square">
            <a:spAutoFit/>
          </a:bodyPr>
          <a:lstStyle/>
          <a:p>
            <a:r>
              <a:rPr lang="en-AU" sz="3600" b="1" dirty="0"/>
              <a:t>Some examples of local conflict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391C667-AFF0-4848-4C28-5F28990C5AAF}"/>
              </a:ext>
            </a:extLst>
          </p:cNvPr>
          <p:cNvSpPr txBox="1"/>
          <p:nvPr/>
        </p:nvSpPr>
        <p:spPr>
          <a:xfrm>
            <a:off x="467544" y="1556792"/>
            <a:ext cx="3960440" cy="49552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Tx/>
              <a:buChar char="-"/>
            </a:pPr>
            <a:r>
              <a:rPr lang="en-US" sz="2400" b="1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 2. Feral deer aggression</a:t>
            </a:r>
          </a:p>
          <a:p>
            <a:pPr>
              <a:buFontTx/>
              <a:buChar char="-"/>
            </a:pPr>
            <a:endParaRPr lang="en-US" sz="2400" b="0" i="0" dirty="0">
              <a:solidFill>
                <a:srgbClr val="111111"/>
              </a:solidFill>
              <a:effectLst/>
              <a:highlight>
                <a:srgbClr val="FFFFFF"/>
              </a:highlight>
              <a:latin typeface="+mj-lt"/>
            </a:endParaRPr>
          </a:p>
          <a:p>
            <a:pPr>
              <a:buFontTx/>
              <a:buChar char="-"/>
            </a:pPr>
            <a:r>
              <a:rPr lang="en-US" sz="2400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 During breeding season males become aggressive</a:t>
            </a:r>
          </a:p>
          <a:p>
            <a:pPr>
              <a:buFontTx/>
              <a:buChar char="-"/>
            </a:pPr>
            <a:endParaRPr lang="en-US" sz="2400" b="0" i="0" dirty="0">
              <a:solidFill>
                <a:srgbClr val="111111"/>
              </a:solidFill>
              <a:effectLst/>
              <a:highlight>
                <a:srgbClr val="FFFFFF"/>
              </a:highlight>
              <a:latin typeface="+mj-lt"/>
            </a:endParaRPr>
          </a:p>
          <a:p>
            <a:pPr>
              <a:buFontTx/>
              <a:buChar char="-"/>
            </a:pPr>
            <a:r>
              <a:rPr lang="en-AU" sz="2400" b="0" i="0" dirty="0">
                <a:solidFill>
                  <a:srgbClr val="111111"/>
                </a:solidFill>
                <a:effectLst/>
                <a:highlight>
                  <a:srgbClr val="FFFFFF"/>
                </a:highlight>
                <a:latin typeface="+mj-lt"/>
              </a:rPr>
              <a:t> </a:t>
            </a:r>
            <a:r>
              <a:rPr lang="en-AU" sz="2400" b="1" i="0" dirty="0">
                <a:solidFill>
                  <a:srgbClr val="111111"/>
                </a:solidFill>
                <a:effectLst/>
                <a:highlight>
                  <a:srgbClr val="FFFFFF"/>
                </a:highlight>
                <a:latin typeface="+mj-lt"/>
              </a:rPr>
              <a:t>Problem: </a:t>
            </a:r>
            <a:r>
              <a:rPr lang="en-US" sz="2400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damage property</a:t>
            </a:r>
          </a:p>
          <a:p>
            <a:pPr>
              <a:buFontTx/>
              <a:buChar char="-"/>
            </a:pPr>
            <a:endParaRPr lang="en-US" sz="2400" dirty="0">
              <a:solidFill>
                <a:srgbClr val="111111"/>
              </a:solidFill>
              <a:highlight>
                <a:srgbClr val="FFFFFF"/>
              </a:highlight>
              <a:latin typeface="+mj-lt"/>
            </a:endParaRPr>
          </a:p>
          <a:p>
            <a:pPr>
              <a:buFontTx/>
              <a:buChar char="-"/>
            </a:pPr>
            <a:r>
              <a:rPr lang="en-AU" sz="2400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 </a:t>
            </a:r>
            <a:r>
              <a:rPr lang="en-AU" sz="2400" b="1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Outcome</a:t>
            </a:r>
            <a:r>
              <a:rPr lang="en-AU" sz="2400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: People killing deer (animal ethics issue)</a:t>
            </a:r>
            <a:endParaRPr lang="en-AU" sz="2400" dirty="0">
              <a:latin typeface="+mj-lt"/>
            </a:endParaRPr>
          </a:p>
          <a:p>
            <a:endParaRPr lang="en-US" sz="2000" dirty="0">
              <a:solidFill>
                <a:srgbClr val="111111"/>
              </a:solidFill>
              <a:highlight>
                <a:srgbClr val="FFFFFF"/>
              </a:highlight>
              <a:latin typeface="+mj-lt"/>
            </a:endParaRPr>
          </a:p>
          <a:p>
            <a:pPr>
              <a:buFontTx/>
              <a:buChar char="-"/>
            </a:pPr>
            <a:endParaRPr lang="en-AU" sz="2000" dirty="0">
              <a:latin typeface="+mj-lt"/>
            </a:endParaRPr>
          </a:p>
          <a:p>
            <a:pPr>
              <a:buFontTx/>
              <a:buChar char="-"/>
            </a:pPr>
            <a:endParaRPr lang="en-AU" sz="2000" dirty="0"/>
          </a:p>
          <a:p>
            <a:pPr>
              <a:buFontTx/>
              <a:buChar char="-"/>
            </a:pPr>
            <a:endParaRPr lang="en-AU" sz="2000" dirty="0"/>
          </a:p>
          <a:p>
            <a:pPr>
              <a:buFontTx/>
              <a:buChar char="-"/>
            </a:pPr>
            <a:endParaRPr lang="en-AU" sz="200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896BBC0-E0F1-64BB-FEE5-3B4C6972F2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2561" y="1412776"/>
            <a:ext cx="3660229" cy="4886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942132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0" y="-69357"/>
            <a:ext cx="9144000" cy="646331"/>
          </a:xfrm>
          <a:prstGeom prst="rect">
            <a:avLst/>
          </a:prstGeom>
          <a:solidFill>
            <a:srgbClr val="00B050"/>
          </a:solidFill>
        </p:spPr>
        <p:txBody>
          <a:bodyPr wrap="square">
            <a:spAutoFit/>
          </a:bodyPr>
          <a:lstStyle/>
          <a:p>
            <a:r>
              <a:rPr lang="en-AU" sz="3600" b="1" dirty="0"/>
              <a:t>Some examples of local conflict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391C667-AFF0-4848-4C28-5F28990C5AAF}"/>
              </a:ext>
            </a:extLst>
          </p:cNvPr>
          <p:cNvSpPr txBox="1"/>
          <p:nvPr/>
        </p:nvSpPr>
        <p:spPr>
          <a:xfrm>
            <a:off x="107504" y="1196752"/>
            <a:ext cx="3960440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Tx/>
              <a:buChar char="-"/>
            </a:pPr>
            <a:r>
              <a:rPr lang="en-US" sz="2000" b="1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 3. Flying foxes</a:t>
            </a:r>
          </a:p>
          <a:p>
            <a:pPr>
              <a:buFontTx/>
              <a:buChar char="-"/>
            </a:pPr>
            <a:endParaRPr lang="en-US" sz="2000" dirty="0">
              <a:solidFill>
                <a:srgbClr val="111111"/>
              </a:solidFill>
              <a:highlight>
                <a:srgbClr val="FFFFFF"/>
              </a:highlight>
              <a:latin typeface="+mj-lt"/>
            </a:endParaRPr>
          </a:p>
          <a:p>
            <a:pPr>
              <a:buFontTx/>
              <a:buChar char="-"/>
            </a:pPr>
            <a:r>
              <a:rPr lang="en-US" sz="2000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 </a:t>
            </a:r>
            <a:r>
              <a:rPr lang="en-US" sz="2000" u="sng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Communal roosting </a:t>
            </a:r>
            <a:r>
              <a:rPr lang="en-US" sz="2000" u="sng" dirty="0" err="1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beahviour</a:t>
            </a:r>
            <a:r>
              <a:rPr lang="en-US" sz="2000" u="sng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. </a:t>
            </a:r>
            <a:r>
              <a:rPr lang="en-US" sz="2000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Roost in large camps (up to 60, 000 bats)</a:t>
            </a:r>
          </a:p>
          <a:p>
            <a:pPr>
              <a:buFontTx/>
              <a:buChar char="-"/>
            </a:pPr>
            <a:endParaRPr lang="en-US" sz="2000" b="0" i="0" dirty="0">
              <a:solidFill>
                <a:srgbClr val="111111"/>
              </a:solidFill>
              <a:effectLst/>
              <a:highlight>
                <a:srgbClr val="FFFFFF"/>
              </a:highlight>
              <a:latin typeface="+mj-lt"/>
            </a:endParaRPr>
          </a:p>
          <a:p>
            <a:pPr>
              <a:buFontTx/>
              <a:buChar char="-"/>
            </a:pPr>
            <a:r>
              <a:rPr lang="en-AU" sz="2000" b="0" i="0" dirty="0">
                <a:solidFill>
                  <a:srgbClr val="111111"/>
                </a:solidFill>
                <a:effectLst/>
                <a:highlight>
                  <a:srgbClr val="FFFFFF"/>
                </a:highlight>
                <a:latin typeface="+mj-lt"/>
              </a:rPr>
              <a:t> </a:t>
            </a:r>
            <a:r>
              <a:rPr lang="en-AU" sz="2000" b="1" i="0" dirty="0">
                <a:solidFill>
                  <a:srgbClr val="111111"/>
                </a:solidFill>
                <a:effectLst/>
                <a:highlight>
                  <a:srgbClr val="FFFFFF"/>
                </a:highlight>
                <a:latin typeface="+mj-lt"/>
              </a:rPr>
              <a:t>Problem: </a:t>
            </a:r>
            <a:r>
              <a:rPr lang="en-AU" sz="2000" i="0" dirty="0">
                <a:solidFill>
                  <a:srgbClr val="111111"/>
                </a:solidFill>
                <a:effectLst/>
                <a:highlight>
                  <a:srgbClr val="FFFFFF"/>
                </a:highlight>
                <a:latin typeface="+mj-lt"/>
              </a:rPr>
              <a:t>Nuisance species. </a:t>
            </a:r>
            <a:r>
              <a:rPr lang="en-US" sz="2000" i="0" dirty="0">
                <a:solidFill>
                  <a:srgbClr val="111111"/>
                </a:solidFill>
                <a:effectLst/>
                <a:highlight>
                  <a:srgbClr val="FFFFFF"/>
                </a:highlight>
                <a:latin typeface="+mj-lt"/>
              </a:rPr>
              <a:t>Noise and smell disturbs residents</a:t>
            </a:r>
            <a:endParaRPr lang="en-US" sz="2000" dirty="0">
              <a:solidFill>
                <a:srgbClr val="111111"/>
              </a:solidFill>
              <a:highlight>
                <a:srgbClr val="FFFFFF"/>
              </a:highlight>
              <a:latin typeface="+mj-lt"/>
            </a:endParaRPr>
          </a:p>
          <a:p>
            <a:pPr>
              <a:buFontTx/>
              <a:buChar char="-"/>
            </a:pPr>
            <a:endParaRPr lang="en-US" sz="2000" dirty="0">
              <a:solidFill>
                <a:srgbClr val="111111"/>
              </a:solidFill>
              <a:highlight>
                <a:srgbClr val="FFFFFF"/>
              </a:highlight>
              <a:latin typeface="+mj-lt"/>
            </a:endParaRPr>
          </a:p>
          <a:p>
            <a:pPr>
              <a:buFontTx/>
              <a:buChar char="-"/>
            </a:pPr>
            <a:r>
              <a:rPr lang="en-AU" sz="2000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 </a:t>
            </a:r>
            <a:r>
              <a:rPr lang="en-AU" sz="2000" b="1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Outcome</a:t>
            </a:r>
            <a:r>
              <a:rPr lang="en-AU" sz="2000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: People killing bats (biodiversity issue)</a:t>
            </a:r>
          </a:p>
          <a:p>
            <a:pPr>
              <a:buFontTx/>
              <a:buChar char="-"/>
            </a:pPr>
            <a:endParaRPr lang="en-AU" sz="2000" dirty="0">
              <a:solidFill>
                <a:srgbClr val="111111"/>
              </a:solidFill>
              <a:highlight>
                <a:srgbClr val="FFFFFF"/>
              </a:highlight>
              <a:latin typeface="+mj-lt"/>
            </a:endParaRPr>
          </a:p>
          <a:p>
            <a:pPr>
              <a:buFontTx/>
              <a:buChar char="-"/>
            </a:pPr>
            <a:r>
              <a:rPr lang="en-AU" sz="2000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Bats are an important pollinator species</a:t>
            </a:r>
            <a:r>
              <a:rPr lang="en-AU" sz="2000" dirty="0">
                <a:latin typeface="+mj-lt"/>
              </a:rPr>
              <a:t> </a:t>
            </a:r>
          </a:p>
          <a:p>
            <a:pPr>
              <a:buFontTx/>
              <a:buChar char="-"/>
            </a:pPr>
            <a:endParaRPr lang="en-AU" sz="2000" dirty="0">
              <a:latin typeface="+mj-lt"/>
            </a:endParaRPr>
          </a:p>
          <a:p>
            <a:pPr>
              <a:buFontTx/>
              <a:buChar char="-"/>
            </a:pPr>
            <a:r>
              <a:rPr lang="en-AU" sz="2000" dirty="0">
                <a:latin typeface="+mj-lt"/>
              </a:rPr>
              <a:t>Councils using scare guns, smoke machines and sprinklers</a:t>
            </a:r>
          </a:p>
          <a:p>
            <a:pPr>
              <a:buFontTx/>
              <a:buChar char="-"/>
            </a:pPr>
            <a:endParaRPr lang="en-AU" sz="200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F5B0CE8-7413-7CE2-AD83-8DF77E3703E1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108078" y="1412776"/>
            <a:ext cx="4898320" cy="216179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38410F0-063E-BD15-DA56-59A4CD02EB1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499992" y="3717032"/>
            <a:ext cx="4067942" cy="2711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021376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0" y="-69357"/>
            <a:ext cx="9144000" cy="646331"/>
          </a:xfrm>
          <a:prstGeom prst="rect">
            <a:avLst/>
          </a:prstGeom>
          <a:solidFill>
            <a:srgbClr val="00B050"/>
          </a:solidFill>
        </p:spPr>
        <p:txBody>
          <a:bodyPr wrap="square">
            <a:spAutoFit/>
          </a:bodyPr>
          <a:lstStyle/>
          <a:p>
            <a:r>
              <a:rPr lang="en-AU" sz="3600" b="1" dirty="0"/>
              <a:t>What will you be doing?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391C667-AFF0-4848-4C28-5F28990C5AAF}"/>
              </a:ext>
            </a:extLst>
          </p:cNvPr>
          <p:cNvSpPr txBox="1"/>
          <p:nvPr/>
        </p:nvSpPr>
        <p:spPr>
          <a:xfrm>
            <a:off x="251520" y="1375838"/>
            <a:ext cx="3960440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Tx/>
              <a:buChar char="-"/>
            </a:pPr>
            <a:r>
              <a:rPr lang="en-US" sz="2000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 1</a:t>
            </a:r>
            <a:r>
              <a:rPr lang="en-AU" sz="2000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. </a:t>
            </a:r>
            <a:r>
              <a:rPr lang="en-AU" sz="2000" b="1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Activity: </a:t>
            </a:r>
            <a:r>
              <a:rPr lang="en-AU" sz="2000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Spend 1-2 </a:t>
            </a:r>
            <a:r>
              <a:rPr lang="en-AU" sz="2000" dirty="0" err="1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prac</a:t>
            </a:r>
            <a:r>
              <a:rPr lang="en-AU" sz="2000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 classes wandering the campus, botanic gardens or local green space.</a:t>
            </a:r>
          </a:p>
          <a:p>
            <a:pPr>
              <a:buFontTx/>
              <a:buChar char="-"/>
            </a:pPr>
            <a:endParaRPr lang="en-AU" sz="2000" dirty="0">
              <a:solidFill>
                <a:srgbClr val="111111"/>
              </a:solidFill>
              <a:highlight>
                <a:srgbClr val="FFFFFF"/>
              </a:highlight>
              <a:latin typeface="+mj-lt"/>
            </a:endParaRPr>
          </a:p>
          <a:p>
            <a:pPr>
              <a:buFontTx/>
              <a:buChar char="-"/>
            </a:pPr>
            <a:r>
              <a:rPr lang="en-AU" sz="2000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2. </a:t>
            </a:r>
            <a:r>
              <a:rPr lang="en-AU" sz="2000" b="1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Aim: </a:t>
            </a:r>
            <a:r>
              <a:rPr lang="en-AU" sz="2000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to observe interactions between humans and wildlife and document a human-wildlife conflict.</a:t>
            </a:r>
          </a:p>
          <a:p>
            <a:pPr>
              <a:buFontTx/>
              <a:buChar char="-"/>
            </a:pPr>
            <a:endParaRPr lang="en-AU" sz="2000" dirty="0">
              <a:solidFill>
                <a:srgbClr val="111111"/>
              </a:solidFill>
              <a:highlight>
                <a:srgbClr val="FFFFFF"/>
              </a:highlight>
              <a:latin typeface="+mj-lt"/>
            </a:endParaRPr>
          </a:p>
          <a:p>
            <a:r>
              <a:rPr lang="en-AU" sz="2000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-3 </a:t>
            </a:r>
            <a:r>
              <a:rPr lang="en-AU" sz="2000" b="1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Assessment: </a:t>
            </a:r>
            <a:r>
              <a:rPr lang="en-AU" sz="2000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Present a 5 minute ‘Elevator pitch’ to the class where you draw on </a:t>
            </a:r>
            <a:r>
              <a:rPr lang="en-AU" sz="2000" u="sng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principles of evolution </a:t>
            </a:r>
            <a:r>
              <a:rPr lang="en-AU" sz="2000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and </a:t>
            </a:r>
            <a:r>
              <a:rPr lang="en-AU" sz="2000" u="sng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behavioural ecology </a:t>
            </a:r>
            <a:r>
              <a:rPr lang="en-AU" sz="2000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to pitch a ‘solution focussed project’ to a funding body (e.g. Wollongong City Council, UOW).</a:t>
            </a:r>
            <a:endParaRPr lang="en-AU" sz="200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86FE22F-ED8C-6BA6-FB19-86DBBACA288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362917" y="701145"/>
            <a:ext cx="3960440" cy="302918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F438A76-C442-16BA-7A86-B4B192A7561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88024" y="3854500"/>
            <a:ext cx="3254243" cy="27807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050123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0" y="-69357"/>
            <a:ext cx="9144000" cy="646331"/>
          </a:xfrm>
          <a:prstGeom prst="rect">
            <a:avLst/>
          </a:prstGeom>
          <a:solidFill>
            <a:srgbClr val="00B050"/>
          </a:solidFill>
        </p:spPr>
        <p:txBody>
          <a:bodyPr wrap="square">
            <a:spAutoFit/>
          </a:bodyPr>
          <a:lstStyle/>
          <a:p>
            <a:r>
              <a:rPr lang="en-AU" sz="3600" b="1" dirty="0"/>
              <a:t>What is an elevator pitch ?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391C667-AFF0-4848-4C28-5F28990C5AAF}"/>
              </a:ext>
            </a:extLst>
          </p:cNvPr>
          <p:cNvSpPr txBox="1"/>
          <p:nvPr/>
        </p:nvSpPr>
        <p:spPr>
          <a:xfrm>
            <a:off x="179512" y="908444"/>
            <a:ext cx="4536504" cy="52014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Tx/>
              <a:buChar char="-"/>
            </a:pPr>
            <a:r>
              <a:rPr lang="en-AU" sz="2400" kern="1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An elevator pitch is a brief and succinct speech to outline your background, or your idea for a project, with the goal of drawing someone into a collaborative relationship.</a:t>
            </a:r>
          </a:p>
          <a:p>
            <a:pPr>
              <a:buFontTx/>
              <a:buChar char="-"/>
            </a:pPr>
            <a:endParaRPr lang="en-AU" sz="2400" kern="100" dirty="0"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buFontTx/>
              <a:buChar char="-"/>
            </a:pPr>
            <a:r>
              <a:rPr lang="en-AU" sz="2400" kern="1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 It should be delivered in </a:t>
            </a:r>
            <a:r>
              <a:rPr lang="en-AU" sz="2400" u="sng" kern="1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5 minutes</a:t>
            </a:r>
            <a:r>
              <a:rPr lang="en-AU" sz="2400" kern="1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 or less.</a:t>
            </a:r>
          </a:p>
          <a:p>
            <a:pPr>
              <a:buFontTx/>
              <a:buChar char="-"/>
            </a:pPr>
            <a:endParaRPr lang="en-AU" sz="2400" kern="100" dirty="0"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buFontTx/>
              <a:buChar char="-"/>
            </a:pPr>
            <a:r>
              <a:rPr lang="en-AU" sz="2400" kern="1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A breakdown of the components of the pitch and a marking guide are provided in Moodle.</a:t>
            </a:r>
            <a:endParaRPr lang="en-AU" sz="2400" dirty="0">
              <a:latin typeface="+mj-lt"/>
            </a:endParaRPr>
          </a:p>
          <a:p>
            <a:pPr>
              <a:buFontTx/>
              <a:buChar char="-"/>
            </a:pPr>
            <a:endParaRPr lang="en-AU" sz="200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F7EE64D-FA0A-8907-9400-84C31395BBBC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75204" y="1227197"/>
            <a:ext cx="4286250" cy="3143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46036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0" y="-69357"/>
            <a:ext cx="9144000" cy="646331"/>
          </a:xfrm>
          <a:prstGeom prst="rect">
            <a:avLst/>
          </a:prstGeom>
          <a:solidFill>
            <a:srgbClr val="00B050"/>
          </a:solidFill>
        </p:spPr>
        <p:txBody>
          <a:bodyPr wrap="square">
            <a:spAutoFit/>
          </a:bodyPr>
          <a:lstStyle/>
          <a:p>
            <a:r>
              <a:rPr lang="en-AU" sz="3600" b="1" dirty="0"/>
              <a:t>What will we do in each </a:t>
            </a:r>
            <a:r>
              <a:rPr lang="en-AU" sz="3600" b="1" dirty="0" err="1"/>
              <a:t>prac</a:t>
            </a:r>
            <a:r>
              <a:rPr lang="en-AU" sz="3600" b="1" dirty="0"/>
              <a:t> class?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0DFB18B-4374-9BFE-D4DD-46E244F87D02}"/>
              </a:ext>
            </a:extLst>
          </p:cNvPr>
          <p:cNvSpPr txBox="1"/>
          <p:nvPr/>
        </p:nvSpPr>
        <p:spPr>
          <a:xfrm>
            <a:off x="467544" y="1196752"/>
            <a:ext cx="6624736" cy="530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AU" sz="2000" b="1" kern="1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Week 6: </a:t>
            </a:r>
            <a:r>
              <a:rPr lang="en-AU" sz="2000" kern="1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Introduction to the </a:t>
            </a:r>
            <a:r>
              <a:rPr lang="en-AU" sz="2000" kern="100" dirty="0" err="1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prac</a:t>
            </a:r>
            <a:r>
              <a:rPr lang="en-AU" sz="2000" kern="1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 and overview of the assessment and marking guide. Brainstorming session with Phil and peers. Risk assessments.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endParaRPr lang="en-AU" sz="2000" b="1" kern="100" dirty="0"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AU" sz="2000" b="1" kern="1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Week 8: </a:t>
            </a:r>
            <a:r>
              <a:rPr lang="en-AU" sz="2000" kern="1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Field work. Observation of a conflict. Take time to walk around campus, botanic gardens, beach or any local greenspace. Opportunity to meet in class to discuss ideas with Phil.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endParaRPr lang="en-AU" sz="2000" b="1" kern="100" dirty="0"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AU" sz="2000" b="1" kern="1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Week 9: </a:t>
            </a:r>
            <a:r>
              <a:rPr lang="en-AU" sz="2000" kern="1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Fieldwork and/or </a:t>
            </a:r>
            <a:r>
              <a:rPr lang="en-AU" sz="2000" kern="100" dirty="0"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o</a:t>
            </a:r>
            <a:r>
              <a:rPr lang="en-AU" sz="2000" kern="1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pportunity to meet in class to discuss observations with Phil. Opportunity to work on the elevator pitch in class.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endParaRPr lang="en-AU" sz="2000" b="1" kern="100" dirty="0"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AU" sz="2000" b="1" kern="1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Week 10: </a:t>
            </a:r>
            <a:r>
              <a:rPr lang="en-AU" sz="2000" kern="1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Presentation of the elevator pitch to the class.</a:t>
            </a:r>
          </a:p>
        </p:txBody>
      </p:sp>
    </p:spTree>
    <p:extLst>
      <p:ext uri="{BB962C8B-B14F-4D97-AF65-F5344CB8AC3E}">
        <p14:creationId xmlns:p14="http://schemas.microsoft.com/office/powerpoint/2010/main" val="302740589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0" y="-69357"/>
            <a:ext cx="9144000" cy="646331"/>
          </a:xfrm>
          <a:prstGeom prst="rect">
            <a:avLst/>
          </a:prstGeom>
          <a:solidFill>
            <a:srgbClr val="00B050"/>
          </a:solidFill>
        </p:spPr>
        <p:txBody>
          <a:bodyPr wrap="square">
            <a:spAutoFit/>
          </a:bodyPr>
          <a:lstStyle/>
          <a:p>
            <a:r>
              <a:rPr lang="en-AU" sz="3600" b="1" dirty="0"/>
              <a:t>Seminars in weeks 11 and 12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391C667-AFF0-4848-4C28-5F28990C5AAF}"/>
              </a:ext>
            </a:extLst>
          </p:cNvPr>
          <p:cNvSpPr txBox="1"/>
          <p:nvPr/>
        </p:nvSpPr>
        <p:spPr>
          <a:xfrm>
            <a:off x="143825" y="920621"/>
            <a:ext cx="4542087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Tx/>
              <a:buChar char="-"/>
            </a:pPr>
            <a:r>
              <a:rPr lang="en-US" sz="2000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 Seminars on hot topics in ecology and evolution</a:t>
            </a:r>
            <a:r>
              <a:rPr lang="en-AU" sz="2000" b="0" i="0" dirty="0">
                <a:solidFill>
                  <a:srgbClr val="111111"/>
                </a:solidFill>
                <a:effectLst/>
                <a:highlight>
                  <a:srgbClr val="FFFFFF"/>
                </a:highlight>
                <a:latin typeface="+mj-lt"/>
              </a:rPr>
              <a:t> </a:t>
            </a:r>
          </a:p>
          <a:p>
            <a:pPr>
              <a:buFontTx/>
              <a:buChar char="-"/>
            </a:pPr>
            <a:endParaRPr lang="en-AU" sz="2000" dirty="0">
              <a:solidFill>
                <a:srgbClr val="111111"/>
              </a:solidFill>
              <a:highlight>
                <a:srgbClr val="FFFFFF"/>
              </a:highlight>
              <a:latin typeface="+mj-lt"/>
            </a:endParaRPr>
          </a:p>
          <a:p>
            <a:pPr>
              <a:buFontTx/>
              <a:buChar char="-"/>
            </a:pPr>
            <a:r>
              <a:rPr lang="en-AU" sz="2000" b="0" i="0" dirty="0">
                <a:solidFill>
                  <a:srgbClr val="111111"/>
                </a:solidFill>
                <a:effectLst/>
                <a:highlight>
                  <a:srgbClr val="FFFFFF"/>
                </a:highlight>
                <a:latin typeface="+mj-lt"/>
              </a:rPr>
              <a:t>10 minute talk worth 20% </a:t>
            </a:r>
          </a:p>
          <a:p>
            <a:pPr>
              <a:buFontTx/>
              <a:buChar char="-"/>
            </a:pPr>
            <a:endParaRPr lang="en-AU" sz="2000" dirty="0">
              <a:solidFill>
                <a:srgbClr val="111111"/>
              </a:solidFill>
              <a:highlight>
                <a:srgbClr val="FFFFFF"/>
              </a:highlight>
              <a:latin typeface="+mj-lt"/>
            </a:endParaRPr>
          </a:p>
          <a:p>
            <a:pPr>
              <a:buFontTx/>
              <a:buChar char="-"/>
            </a:pPr>
            <a:r>
              <a:rPr lang="en-AU" sz="2000" b="1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 Half the class present in week 11</a:t>
            </a:r>
          </a:p>
          <a:p>
            <a:pPr>
              <a:buFontTx/>
              <a:buChar char="-"/>
            </a:pPr>
            <a:endParaRPr lang="en-AU" sz="2000" dirty="0">
              <a:solidFill>
                <a:srgbClr val="111111"/>
              </a:solidFill>
              <a:highlight>
                <a:srgbClr val="FFFFFF"/>
              </a:highlight>
              <a:latin typeface="+mj-lt"/>
            </a:endParaRPr>
          </a:p>
          <a:p>
            <a:pPr>
              <a:buFontTx/>
              <a:buChar char="-"/>
            </a:pPr>
            <a:r>
              <a:rPr lang="en-AU" sz="2000" b="1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 Half the class present in week 12</a:t>
            </a:r>
          </a:p>
          <a:p>
            <a:pPr>
              <a:buFontTx/>
              <a:buChar char="-"/>
            </a:pPr>
            <a:endParaRPr lang="en-AU" sz="2000" b="1" dirty="0">
              <a:solidFill>
                <a:srgbClr val="111111"/>
              </a:solidFill>
              <a:highlight>
                <a:srgbClr val="FFFFFF"/>
              </a:highlight>
              <a:latin typeface="+mj-lt"/>
            </a:endParaRPr>
          </a:p>
          <a:p>
            <a:pPr marL="342900" indent="-342900">
              <a:buFontTx/>
              <a:buChar char="-"/>
            </a:pPr>
            <a:r>
              <a:rPr lang="en-AU" sz="2000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Topics are on </a:t>
            </a:r>
            <a:r>
              <a:rPr lang="en-AU" sz="2000" dirty="0" err="1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moodle</a:t>
            </a:r>
            <a:endParaRPr lang="en-AU" sz="2000" dirty="0">
              <a:solidFill>
                <a:srgbClr val="111111"/>
              </a:solidFill>
              <a:highlight>
                <a:srgbClr val="FFFFFF"/>
              </a:highlight>
              <a:latin typeface="+mj-lt"/>
            </a:endParaRPr>
          </a:p>
          <a:p>
            <a:endParaRPr lang="en-AU" sz="2000" dirty="0">
              <a:solidFill>
                <a:srgbClr val="111111"/>
              </a:solidFill>
              <a:highlight>
                <a:srgbClr val="FFFFFF"/>
              </a:highlight>
              <a:latin typeface="+mj-lt"/>
            </a:endParaRPr>
          </a:p>
          <a:p>
            <a:r>
              <a:rPr lang="en-AU" sz="2000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- Read the description and put your name next to a topic in today’s class</a:t>
            </a:r>
          </a:p>
          <a:p>
            <a:pPr>
              <a:buFontTx/>
              <a:buChar char="-"/>
            </a:pPr>
            <a:endParaRPr lang="en-AU" sz="2000" dirty="0">
              <a:solidFill>
                <a:srgbClr val="111111"/>
              </a:solidFill>
              <a:highlight>
                <a:srgbClr val="FFFFFF"/>
              </a:highlight>
              <a:latin typeface="+mj-lt"/>
            </a:endParaRPr>
          </a:p>
          <a:p>
            <a:pPr>
              <a:buFontTx/>
              <a:buChar char="-"/>
            </a:pPr>
            <a:r>
              <a:rPr lang="en-AU" sz="2000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 If you want, you can come up with your own topic</a:t>
            </a:r>
            <a:endParaRPr lang="en-AU" sz="200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7C9B708-1409-E0CA-30A0-8680E3E473F0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72000" y="1556792"/>
            <a:ext cx="4443712" cy="27402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938622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0" y="-69357"/>
            <a:ext cx="9144000" cy="646331"/>
          </a:xfrm>
          <a:prstGeom prst="rect">
            <a:avLst/>
          </a:prstGeom>
          <a:solidFill>
            <a:srgbClr val="00B050"/>
          </a:solidFill>
        </p:spPr>
        <p:txBody>
          <a:bodyPr wrap="square">
            <a:spAutoFit/>
          </a:bodyPr>
          <a:lstStyle/>
          <a:p>
            <a:r>
              <a:rPr lang="en-AU" sz="3600" b="1" dirty="0"/>
              <a:t>Attendance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391C667-AFF0-4848-4C28-5F28990C5AAF}"/>
              </a:ext>
            </a:extLst>
          </p:cNvPr>
          <p:cNvSpPr txBox="1"/>
          <p:nvPr/>
        </p:nvSpPr>
        <p:spPr>
          <a:xfrm>
            <a:off x="143825" y="920621"/>
            <a:ext cx="4542087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Tx/>
              <a:buChar char="-"/>
            </a:pPr>
            <a:r>
              <a:rPr lang="en-US" sz="2000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 </a:t>
            </a:r>
            <a:r>
              <a:rPr lang="en-AU" sz="2400" b="1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Lectures: </a:t>
            </a:r>
            <a:r>
              <a:rPr lang="en-AU" sz="2400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Not compulsory (but you stand to benefit by attending)</a:t>
            </a:r>
          </a:p>
          <a:p>
            <a:pPr>
              <a:buFontTx/>
              <a:buChar char="-"/>
            </a:pPr>
            <a:endParaRPr lang="en-AU" sz="2400" dirty="0">
              <a:solidFill>
                <a:srgbClr val="111111"/>
              </a:solidFill>
              <a:highlight>
                <a:srgbClr val="FFFFFF"/>
              </a:highlight>
              <a:latin typeface="+mj-lt"/>
            </a:endParaRPr>
          </a:p>
          <a:p>
            <a:pPr>
              <a:buFontTx/>
              <a:buChar char="-"/>
            </a:pPr>
            <a:r>
              <a:rPr lang="en-AU" sz="2400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 </a:t>
            </a:r>
            <a:r>
              <a:rPr lang="en-AU" sz="2400" b="1" dirty="0" err="1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Pracs</a:t>
            </a:r>
            <a:r>
              <a:rPr lang="en-AU" sz="2400" b="1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: </a:t>
            </a:r>
            <a:r>
              <a:rPr lang="en-AU" sz="2400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Compulsory.</a:t>
            </a:r>
          </a:p>
          <a:p>
            <a:pPr>
              <a:buFontTx/>
              <a:buChar char="-"/>
            </a:pPr>
            <a:endParaRPr lang="en-AU" sz="2400" dirty="0">
              <a:solidFill>
                <a:srgbClr val="111111"/>
              </a:solidFill>
              <a:highlight>
                <a:srgbClr val="FFFFFF"/>
              </a:highlight>
              <a:latin typeface="+mj-lt"/>
            </a:endParaRPr>
          </a:p>
          <a:p>
            <a:pPr>
              <a:buFontTx/>
              <a:buChar char="-"/>
            </a:pPr>
            <a:r>
              <a:rPr lang="en-AU" sz="2400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 AC: if you can’t make a </a:t>
            </a:r>
            <a:r>
              <a:rPr lang="en-AU" sz="2400" dirty="0" err="1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prac</a:t>
            </a:r>
            <a:r>
              <a:rPr lang="en-AU" sz="2400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 you must submit an AC.</a:t>
            </a:r>
          </a:p>
          <a:p>
            <a:pPr>
              <a:buFontTx/>
              <a:buChar char="-"/>
            </a:pPr>
            <a:endParaRPr lang="en-AU" sz="2400" dirty="0">
              <a:solidFill>
                <a:srgbClr val="111111"/>
              </a:solidFill>
              <a:highlight>
                <a:srgbClr val="FFFFFF"/>
              </a:highlight>
              <a:latin typeface="+mj-lt"/>
            </a:endParaRPr>
          </a:p>
          <a:p>
            <a:pPr>
              <a:buFontTx/>
              <a:buChar char="-"/>
            </a:pPr>
            <a:r>
              <a:rPr lang="en-AU" sz="2400" dirty="0">
                <a:latin typeface="+mj-lt"/>
              </a:rPr>
              <a:t> Evidence is needed to support your AC.</a:t>
            </a:r>
          </a:p>
        </p:txBody>
      </p:sp>
    </p:spTree>
    <p:extLst>
      <p:ext uri="{BB962C8B-B14F-4D97-AF65-F5344CB8AC3E}">
        <p14:creationId xmlns:p14="http://schemas.microsoft.com/office/powerpoint/2010/main" val="338730975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-12333" y="0"/>
            <a:ext cx="9144000" cy="646331"/>
          </a:xfrm>
          <a:prstGeom prst="rect">
            <a:avLst/>
          </a:prstGeom>
          <a:solidFill>
            <a:srgbClr val="00B050"/>
          </a:solidFill>
        </p:spPr>
        <p:txBody>
          <a:bodyPr wrap="square">
            <a:spAutoFit/>
          </a:bodyPr>
          <a:lstStyle/>
          <a:p>
            <a:r>
              <a:rPr lang="en-AU" sz="3600" b="1" dirty="0"/>
              <a:t>Reasonable adjustments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391C667-AFF0-4848-4C28-5F28990C5AAF}"/>
              </a:ext>
            </a:extLst>
          </p:cNvPr>
          <p:cNvSpPr txBox="1"/>
          <p:nvPr/>
        </p:nvSpPr>
        <p:spPr>
          <a:xfrm>
            <a:off x="179512" y="1268760"/>
            <a:ext cx="4542087" cy="32932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Tx/>
              <a:buChar char="-"/>
            </a:pPr>
            <a:r>
              <a:rPr lang="en-US" sz="2400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 </a:t>
            </a:r>
            <a:r>
              <a:rPr lang="en-AU" sz="2400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Some students have RAs</a:t>
            </a:r>
          </a:p>
          <a:p>
            <a:pPr>
              <a:buFontTx/>
              <a:buChar char="-"/>
            </a:pPr>
            <a:endParaRPr lang="en-AU" sz="2400" dirty="0">
              <a:solidFill>
                <a:srgbClr val="111111"/>
              </a:solidFill>
              <a:highlight>
                <a:srgbClr val="FFFFFF"/>
              </a:highlight>
              <a:latin typeface="+mj-lt"/>
            </a:endParaRPr>
          </a:p>
          <a:p>
            <a:pPr>
              <a:buFontTx/>
              <a:buChar char="-"/>
            </a:pPr>
            <a:r>
              <a:rPr lang="en-AU" sz="2400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 Please make yourselves known to James and myself</a:t>
            </a:r>
          </a:p>
          <a:p>
            <a:pPr>
              <a:buFontTx/>
              <a:buChar char="-"/>
            </a:pPr>
            <a:endParaRPr lang="en-AU" sz="2400" dirty="0">
              <a:solidFill>
                <a:srgbClr val="111111"/>
              </a:solidFill>
              <a:highlight>
                <a:srgbClr val="FFFFFF"/>
              </a:highlight>
              <a:latin typeface="+mj-lt"/>
            </a:endParaRPr>
          </a:p>
          <a:p>
            <a:pPr>
              <a:buFontTx/>
              <a:buChar char="-"/>
            </a:pPr>
            <a:r>
              <a:rPr lang="en-AU" sz="2400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 We will work closely with you to help you succeed</a:t>
            </a:r>
          </a:p>
          <a:p>
            <a:pPr>
              <a:buFontTx/>
              <a:buChar char="-"/>
            </a:pPr>
            <a:endParaRPr lang="en-AU" sz="2000" dirty="0">
              <a:solidFill>
                <a:srgbClr val="111111"/>
              </a:solidFill>
              <a:highlight>
                <a:srgbClr val="FFFFFF"/>
              </a:highlight>
              <a:latin typeface="+mj-lt"/>
            </a:endParaRPr>
          </a:p>
          <a:p>
            <a:pPr>
              <a:buFontTx/>
              <a:buChar char="-"/>
            </a:pPr>
            <a:endParaRPr lang="en-AU" sz="2000" dirty="0"/>
          </a:p>
        </p:txBody>
      </p:sp>
    </p:spTree>
    <p:extLst>
      <p:ext uri="{BB962C8B-B14F-4D97-AF65-F5344CB8AC3E}">
        <p14:creationId xmlns:p14="http://schemas.microsoft.com/office/powerpoint/2010/main" val="107907639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0" y="-69357"/>
            <a:ext cx="9144000" cy="646331"/>
          </a:xfrm>
          <a:prstGeom prst="rect">
            <a:avLst/>
          </a:prstGeom>
          <a:solidFill>
            <a:srgbClr val="00B050"/>
          </a:solidFill>
        </p:spPr>
        <p:txBody>
          <a:bodyPr wrap="square">
            <a:spAutoFit/>
          </a:bodyPr>
          <a:lstStyle/>
          <a:p>
            <a:r>
              <a:rPr lang="en-AU" sz="3600" b="1" dirty="0"/>
              <a:t>Communication during session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391C667-AFF0-4848-4C28-5F28990C5AAF}"/>
              </a:ext>
            </a:extLst>
          </p:cNvPr>
          <p:cNvSpPr txBox="1"/>
          <p:nvPr/>
        </p:nvSpPr>
        <p:spPr>
          <a:xfrm>
            <a:off x="143825" y="920621"/>
            <a:ext cx="6444399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Tx/>
              <a:buChar char="-"/>
            </a:pPr>
            <a:r>
              <a:rPr lang="en-US" sz="2400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 </a:t>
            </a:r>
            <a:r>
              <a:rPr lang="en-AU" sz="2400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Communication will be made via SOLS message</a:t>
            </a:r>
          </a:p>
          <a:p>
            <a:pPr>
              <a:buFontTx/>
              <a:buChar char="-"/>
            </a:pPr>
            <a:endParaRPr lang="en-AU" sz="2400" dirty="0">
              <a:solidFill>
                <a:srgbClr val="111111"/>
              </a:solidFill>
              <a:highlight>
                <a:srgbClr val="FFFFFF"/>
              </a:highlight>
              <a:latin typeface="+mj-lt"/>
            </a:endParaRPr>
          </a:p>
          <a:p>
            <a:pPr>
              <a:buFontTx/>
              <a:buChar char="-"/>
            </a:pPr>
            <a:r>
              <a:rPr lang="en-AU" sz="2400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 Please check messages regularly (every day)</a:t>
            </a:r>
          </a:p>
          <a:p>
            <a:pPr>
              <a:buFontTx/>
              <a:buChar char="-"/>
            </a:pPr>
            <a:endParaRPr lang="en-AU" sz="2400" dirty="0">
              <a:solidFill>
                <a:srgbClr val="111111"/>
              </a:solidFill>
              <a:highlight>
                <a:srgbClr val="FFFFFF"/>
              </a:highlight>
              <a:latin typeface="+mj-lt"/>
            </a:endParaRPr>
          </a:p>
          <a:p>
            <a:pPr>
              <a:buFontTx/>
              <a:buChar char="-"/>
            </a:pPr>
            <a:r>
              <a:rPr lang="en-AU" sz="2400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 If you have specific questions, you can email James and/or myself.</a:t>
            </a:r>
          </a:p>
          <a:p>
            <a:pPr>
              <a:buFontTx/>
              <a:buChar char="-"/>
            </a:pPr>
            <a:endParaRPr lang="en-AU" sz="2400" dirty="0">
              <a:solidFill>
                <a:srgbClr val="111111"/>
              </a:solidFill>
              <a:highlight>
                <a:srgbClr val="FFFFFF"/>
              </a:highlight>
              <a:latin typeface="+mj-lt"/>
            </a:endParaRPr>
          </a:p>
          <a:p>
            <a:r>
              <a:rPr lang="en-AU" sz="2400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- Please do your best to avoid sending emails after 5pm on a Friday or over the weekends.</a:t>
            </a:r>
          </a:p>
          <a:p>
            <a:pPr marL="342900" indent="-342900">
              <a:buFontTx/>
              <a:buChar char="-"/>
            </a:pPr>
            <a:endParaRPr lang="en-AU" sz="2400" dirty="0">
              <a:solidFill>
                <a:srgbClr val="111111"/>
              </a:solidFill>
              <a:highlight>
                <a:srgbClr val="FFFFFF"/>
              </a:highlight>
              <a:latin typeface="+mj-lt"/>
            </a:endParaRPr>
          </a:p>
          <a:p>
            <a:r>
              <a:rPr lang="en-AU" sz="2400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- If you haven’t received a reply within </a:t>
            </a:r>
            <a:r>
              <a:rPr lang="en-AU" sz="2400" b="1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2 working days</a:t>
            </a:r>
            <a:r>
              <a:rPr lang="en-AU" sz="2400" dirty="0">
                <a:solidFill>
                  <a:srgbClr val="111111"/>
                </a:solidFill>
                <a:highlight>
                  <a:srgbClr val="FFFFFF"/>
                </a:highlight>
                <a:latin typeface="+mj-lt"/>
              </a:rPr>
              <a:t>, please send a follow up email, forwarding the original email.</a:t>
            </a:r>
            <a:endParaRPr lang="en-AU" sz="2400" dirty="0"/>
          </a:p>
        </p:txBody>
      </p:sp>
    </p:spTree>
    <p:extLst>
      <p:ext uri="{BB962C8B-B14F-4D97-AF65-F5344CB8AC3E}">
        <p14:creationId xmlns:p14="http://schemas.microsoft.com/office/powerpoint/2010/main" val="411636938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0" y="-69357"/>
            <a:ext cx="9144000" cy="646331"/>
          </a:xfrm>
          <a:prstGeom prst="rect">
            <a:avLst/>
          </a:prstGeom>
          <a:solidFill>
            <a:srgbClr val="00B050"/>
          </a:solidFill>
        </p:spPr>
        <p:txBody>
          <a:bodyPr wrap="square">
            <a:spAutoFit/>
          </a:bodyPr>
          <a:lstStyle/>
          <a:p>
            <a:r>
              <a:rPr lang="en-AU" sz="3600" b="1" dirty="0"/>
              <a:t>Questions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391C667-AFF0-4848-4C28-5F28990C5AAF}"/>
              </a:ext>
            </a:extLst>
          </p:cNvPr>
          <p:cNvSpPr txBox="1"/>
          <p:nvPr/>
        </p:nvSpPr>
        <p:spPr>
          <a:xfrm>
            <a:off x="107504" y="1196752"/>
            <a:ext cx="396044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AU" sz="2000" dirty="0">
              <a:latin typeface="+mj-lt"/>
            </a:endParaRPr>
          </a:p>
          <a:p>
            <a:pPr>
              <a:buFontTx/>
              <a:buChar char="-"/>
            </a:pPr>
            <a:endParaRPr lang="en-AU" sz="2000" dirty="0"/>
          </a:p>
          <a:p>
            <a:pPr>
              <a:buFontTx/>
              <a:buChar char="-"/>
            </a:pPr>
            <a:endParaRPr lang="en-AU" sz="2000" dirty="0"/>
          </a:p>
          <a:p>
            <a:pPr>
              <a:buFontTx/>
              <a:buChar char="-"/>
            </a:pPr>
            <a:endParaRPr lang="en-AU" sz="2000" dirty="0"/>
          </a:p>
        </p:txBody>
      </p:sp>
    </p:spTree>
    <p:extLst>
      <p:ext uri="{BB962C8B-B14F-4D97-AF65-F5344CB8AC3E}">
        <p14:creationId xmlns:p14="http://schemas.microsoft.com/office/powerpoint/2010/main" val="37303048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hyloTemplate" id="{47EAE3C8-EEF7-B44B-AA90-67D3BA9F8622}" vid="{075996EB-0C29-FE42-AD65-7D372753E312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6644</TotalTime>
  <Words>1522</Words>
  <Application>Microsoft Macintosh PowerPoint</Application>
  <PresentationFormat>On-screen Show (4:3)</PresentationFormat>
  <Paragraphs>314</Paragraphs>
  <Slides>32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32</vt:i4>
      </vt:variant>
    </vt:vector>
  </HeadingPairs>
  <TitlesOfParts>
    <vt:vector size="39" baseType="lpstr">
      <vt:lpstr>Aptos</vt:lpstr>
      <vt:lpstr>Aptos Display</vt:lpstr>
      <vt:lpstr>Arial</vt:lpstr>
      <vt:lpstr>Calibri</vt:lpstr>
      <vt:lpstr>Times New Roman</vt:lpstr>
      <vt:lpstr>Office Theme</vt:lpstr>
      <vt:lpstr>1_Office Theme</vt:lpstr>
      <vt:lpstr>BIOL365: Marine and Terrestrial Ecology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What is Conservation Behaviour?</vt:lpstr>
      <vt:lpstr>Conservation Behaviour Framework</vt:lpstr>
      <vt:lpstr>Theme 1. Behaviour Based management</vt:lpstr>
      <vt:lpstr>Theme 2. Anthropogenic impacts on animal behaviour</vt:lpstr>
      <vt:lpstr>Theme 3. Behavioural indicators</vt:lpstr>
      <vt:lpstr>Conservation behaviour valuable for resolving Human-wildlife conflict</vt:lpstr>
      <vt:lpstr>A global example of conflict</vt:lpstr>
      <vt:lpstr>Some examples of local conflict</vt:lpstr>
      <vt:lpstr>Some examples of local conflict</vt:lpstr>
      <vt:lpstr>Some examples of local conflict</vt:lpstr>
      <vt:lpstr>What will you be doing?</vt:lpstr>
      <vt:lpstr>What is an elevator pitch ?</vt:lpstr>
      <vt:lpstr>What will we do in each prac class?</vt:lpstr>
      <vt:lpstr>Seminars in weeks 11 and 12</vt:lpstr>
      <vt:lpstr>Attendance</vt:lpstr>
      <vt:lpstr>Reasonable adjustments</vt:lpstr>
      <vt:lpstr>Communication during session</vt:lpstr>
      <vt:lpstr>Questions</vt:lpstr>
    </vt:vector>
  </TitlesOfParts>
  <Company>University of Wollongong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pbyrne</dc:creator>
  <cp:lastModifiedBy>James Dorey</cp:lastModifiedBy>
  <cp:revision>755</cp:revision>
  <dcterms:created xsi:type="dcterms:W3CDTF">2011-05-31T01:37:10Z</dcterms:created>
  <dcterms:modified xsi:type="dcterms:W3CDTF">2025-07-30T05:06:08Z</dcterms:modified>
</cp:coreProperties>
</file>